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pic>
        <p:nvPicPr>
          <p:cNvPr id="20" name="Image 0" descr="Image 0"/>
          <p:cNvPicPr>
            <a:picLocks noChangeAspect="1"/>
          </p:cNvPicPr>
          <p:nvPr/>
        </p:nvPicPr>
        <p:blipFill>
          <a:blip r:embed="rId2">
            <a:extLst/>
          </a:blip>
          <a:stretch>
            <a:fillRect/>
          </a:stretch>
        </p:blipFill>
        <p:spPr>
          <a:xfrm>
            <a:off x="731519" y="822960"/>
            <a:ext cx="1005841" cy="1005840"/>
          </a:xfrm>
          <a:prstGeom prst="rect">
            <a:avLst/>
          </a:prstGeom>
          <a:ln w="12700">
            <a:miter lim="400000"/>
          </a:ln>
        </p:spPr>
      </p:pic>
      <p:sp>
        <p:nvSpPr>
          <p:cNvPr id="21" name="Text 0"/>
          <p:cNvSpPr txBox="1"/>
          <p:nvPr/>
        </p:nvSpPr>
        <p:spPr>
          <a:xfrm>
            <a:off x="731519" y="2129790"/>
            <a:ext cx="7315201" cy="12268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000">
                <a:solidFill>
                  <a:srgbClr val="FFFFFF"/>
                </a:solidFill>
                <a:latin typeface="Georgia"/>
                <a:ea typeface="Georgia"/>
                <a:cs typeface="Georgia"/>
                <a:sym typeface="Georgia"/>
              </a:defRPr>
            </a:pPr>
            <a:r>
              <a:t>Protect your return</a:t>
            </a:r>
          </a:p>
          <a:p>
            <a:pPr>
              <a:lnSpc>
                <a:spcPct val="110000"/>
              </a:lnSpc>
              <a:defRPr b="1" sz="4000">
                <a:solidFill>
                  <a:srgbClr val="FFFFFF"/>
                </a:solidFill>
                <a:latin typeface="Georgia"/>
                <a:ea typeface="Georgia"/>
                <a:cs typeface="Georgia"/>
                <a:sym typeface="Georgia"/>
              </a:defRPr>
            </a:pPr>
            <a:r>
              <a:t>on ad spend.</a:t>
            </a:r>
          </a:p>
        </p:txBody>
      </p:sp>
      <p:sp>
        <p:nvSpPr>
          <p:cNvPr id="22" name="Text 1"/>
          <p:cNvSpPr txBox="1"/>
          <p:nvPr/>
        </p:nvSpPr>
        <p:spPr>
          <a:xfrm>
            <a:off x="731519" y="3624336"/>
            <a:ext cx="6858001" cy="7980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single view of all relevant data down to device level.</a:t>
            </a:r>
          </a:p>
          <a:p>
            <a:pPr>
              <a:lnSpc>
                <a:spcPct val="140000"/>
              </a:lnSpc>
              <a:defRPr sz="1400">
                <a:solidFill>
                  <a:srgbClr val="8895A7"/>
                </a:solidFill>
              </a:defRPr>
            </a:pPr>
            <a:r>
              <a:t>AI agents surface growth potential, where you're wasting budget,</a:t>
            </a:r>
          </a:p>
          <a:p>
            <a:pPr>
              <a:lnSpc>
                <a:spcPct val="140000"/>
              </a:lnSpc>
              <a:defRPr sz="1400">
                <a:solidFill>
                  <a:srgbClr val="8895A7"/>
                </a:solidFill>
              </a:defRPr>
            </a:pPr>
            <a:r>
              <a:t>and where to act.</a:t>
            </a:r>
          </a:p>
        </p:txBody>
      </p:sp>
      <p:sp>
        <p:nvSpPr>
          <p:cNvPr id="23" name="Shape 2"/>
          <p:cNvSpPr/>
          <p:nvPr/>
        </p:nvSpPr>
        <p:spPr>
          <a:xfrm>
            <a:off x="0" y="4892040"/>
            <a:ext cx="9144000" cy="251460"/>
          </a:xfrm>
          <a:prstGeom prst="rect">
            <a:avLst/>
          </a:prstGeom>
          <a:solidFill>
            <a:srgbClr val="2A8A8A"/>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25"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2A8A8A"/>
                </a:solidFill>
              </a:defRPr>
            </a:lvl1pPr>
          </a:lstStyle>
          <a:p>
            <a:pPr/>
            <a:r>
              <a:t>THE PROBLEM</a:t>
            </a:r>
          </a:p>
        </p:txBody>
      </p:sp>
      <p:sp>
        <p:nvSpPr>
          <p:cNvPr id="26" name="Text 1"/>
          <p:cNvSpPr txBox="1"/>
          <p:nvPr/>
        </p:nvSpPr>
        <p:spPr>
          <a:xfrm>
            <a:off x="731520" y="79755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1A2332"/>
                </a:solidFill>
                <a:latin typeface="Georgia"/>
                <a:ea typeface="Georgia"/>
                <a:cs typeface="Georgia"/>
                <a:sym typeface="Georgia"/>
              </a:defRPr>
            </a:pPr>
            <a:r>
              <a:t>Every day you can't see where budget</a:t>
            </a:r>
          </a:p>
          <a:p>
            <a:pPr>
              <a:lnSpc>
                <a:spcPct val="115000"/>
              </a:lnSpc>
              <a:defRPr b="1" sz="2800">
                <a:solidFill>
                  <a:srgbClr val="1A2332"/>
                </a:solidFill>
                <a:latin typeface="Georgia"/>
                <a:ea typeface="Georgia"/>
                <a:cs typeface="Georgia"/>
                <a:sym typeface="Georgia"/>
              </a:defRPr>
            </a:pPr>
            <a:r>
              <a:t>is leaking, you're paying for it.</a:t>
            </a:r>
          </a:p>
        </p:txBody>
      </p:sp>
      <p:sp>
        <p:nvSpPr>
          <p:cNvPr id="27" name="Text 2"/>
          <p:cNvSpPr txBox="1"/>
          <p:nvPr/>
        </p:nvSpPr>
        <p:spPr>
          <a:xfrm>
            <a:off x="731520" y="1870318"/>
            <a:ext cx="7680960" cy="7399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3D4F63"/>
                </a:solidFill>
              </a:defRPr>
            </a:lvl1pPr>
          </a:lstStyle>
          <a:p>
            <a:pPr/>
            <a:r>
              <a:t>Mobile growth teams run campaigns across a dozen channels but rarely have a unified view of what's actually working at device level. Attribution data lives in one place, spend data in another, revenue in a third. By the time someone pulls it all together, the waste has already happened.</a:t>
            </a:r>
          </a:p>
        </p:txBody>
      </p:sp>
      <p:sp>
        <p:nvSpPr>
          <p:cNvPr id="28" name="Shape 3"/>
          <p:cNvSpPr/>
          <p:nvPr/>
        </p:nvSpPr>
        <p:spPr>
          <a:xfrm>
            <a:off x="731519" y="2926079"/>
            <a:ext cx="2468882"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29" name="Text 4"/>
          <p:cNvSpPr txBox="1"/>
          <p:nvPr/>
        </p:nvSpPr>
        <p:spPr>
          <a:xfrm>
            <a:off x="731519" y="3122929"/>
            <a:ext cx="2468882"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30%+</a:t>
            </a:r>
          </a:p>
        </p:txBody>
      </p:sp>
      <p:sp>
        <p:nvSpPr>
          <p:cNvPr id="30" name="Text 5"/>
          <p:cNvSpPr txBox="1"/>
          <p:nvPr/>
        </p:nvSpPr>
        <p:spPr>
          <a:xfrm>
            <a:off x="731519" y="3892542"/>
            <a:ext cx="2468882"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of ad budgets spent</a:t>
            </a:r>
          </a:p>
          <a:p>
            <a:pPr algn="ctr">
              <a:lnSpc>
                <a:spcPct val="140000"/>
              </a:lnSpc>
              <a:defRPr sz="1100">
                <a:solidFill>
                  <a:srgbClr val="3D4F63"/>
                </a:solidFill>
              </a:defRPr>
            </a:pPr>
            <a:r>
              <a:t>without clear attribution</a:t>
            </a:r>
          </a:p>
        </p:txBody>
      </p:sp>
      <p:sp>
        <p:nvSpPr>
          <p:cNvPr id="31" name="Shape 6"/>
          <p:cNvSpPr/>
          <p:nvPr/>
        </p:nvSpPr>
        <p:spPr>
          <a:xfrm>
            <a:off x="3474720" y="2926079"/>
            <a:ext cx="2468881"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2" name="Text 7"/>
          <p:cNvSpPr txBox="1"/>
          <p:nvPr/>
        </p:nvSpPr>
        <p:spPr>
          <a:xfrm>
            <a:off x="3474720" y="3122929"/>
            <a:ext cx="246888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6+</a:t>
            </a:r>
          </a:p>
        </p:txBody>
      </p:sp>
      <p:sp>
        <p:nvSpPr>
          <p:cNvPr id="33" name="Text 8"/>
          <p:cNvSpPr txBox="1"/>
          <p:nvPr/>
        </p:nvSpPr>
        <p:spPr>
          <a:xfrm>
            <a:off x="3474720" y="3892542"/>
            <a:ext cx="2468881"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platforms with no unified</a:t>
            </a:r>
          </a:p>
          <a:p>
            <a:pPr algn="ctr">
              <a:lnSpc>
                <a:spcPct val="140000"/>
              </a:lnSpc>
              <a:defRPr sz="1100">
                <a:solidFill>
                  <a:srgbClr val="3D4F63"/>
                </a:solidFill>
              </a:defRPr>
            </a:pPr>
            <a:r>
              <a:t>device-level view</a:t>
            </a:r>
          </a:p>
        </p:txBody>
      </p:sp>
      <p:sp>
        <p:nvSpPr>
          <p:cNvPr id="34" name="Shape 9"/>
          <p:cNvSpPr/>
          <p:nvPr/>
        </p:nvSpPr>
        <p:spPr>
          <a:xfrm>
            <a:off x="6217920" y="2926079"/>
            <a:ext cx="2468881"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5" name="Text 10"/>
          <p:cNvSpPr txBox="1"/>
          <p:nvPr/>
        </p:nvSpPr>
        <p:spPr>
          <a:xfrm>
            <a:off x="6217920" y="3122929"/>
            <a:ext cx="246888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48hrs</a:t>
            </a:r>
          </a:p>
        </p:txBody>
      </p:sp>
      <p:sp>
        <p:nvSpPr>
          <p:cNvPr id="36" name="Text 11"/>
          <p:cNvSpPr txBox="1"/>
          <p:nvPr/>
        </p:nvSpPr>
        <p:spPr>
          <a:xfrm>
            <a:off x="6217920" y="3892542"/>
            <a:ext cx="2468881"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of budget burning before</a:t>
            </a:r>
          </a:p>
          <a:p>
            <a:pPr algn="ctr">
              <a:lnSpc>
                <a:spcPct val="140000"/>
              </a:lnSpc>
              <a:defRPr sz="1100">
                <a:solidFill>
                  <a:srgbClr val="3D4F63"/>
                </a:solidFill>
              </a:defRPr>
            </a:pPr>
            <a:r>
              <a:t>anyone notices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38"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THE SOLUTION</a:t>
            </a:r>
          </a:p>
        </p:txBody>
      </p:sp>
      <p:sp>
        <p:nvSpPr>
          <p:cNvPr id="39" name="Text 1"/>
          <p:cNvSpPr txBox="1"/>
          <p:nvPr/>
        </p:nvSpPr>
        <p:spPr>
          <a:xfrm>
            <a:off x="731520" y="756602"/>
            <a:ext cx="7680960" cy="9556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3000">
                <a:solidFill>
                  <a:srgbClr val="FFFFFF"/>
                </a:solidFill>
                <a:latin typeface="Georgia"/>
                <a:ea typeface="Georgia"/>
                <a:cs typeface="Georgia"/>
                <a:sym typeface="Georgia"/>
              </a:defRPr>
            </a:pPr>
            <a:r>
              <a:t>A context layer for</a:t>
            </a:r>
          </a:p>
          <a:p>
            <a:pPr>
              <a:lnSpc>
                <a:spcPct val="115000"/>
              </a:lnSpc>
              <a:defRPr b="1" sz="3000">
                <a:solidFill>
                  <a:srgbClr val="FFFFFF"/>
                </a:solidFill>
                <a:latin typeface="Georgia"/>
                <a:ea typeface="Georgia"/>
                <a:cs typeface="Georgia"/>
                <a:sym typeface="Georgia"/>
              </a:defRPr>
            </a:pPr>
            <a:r>
              <a:t>mobile marketing teams.</a:t>
            </a:r>
          </a:p>
        </p:txBody>
      </p:sp>
      <p:sp>
        <p:nvSpPr>
          <p:cNvPr id="40" name="Shape 2"/>
          <p:cNvSpPr/>
          <p:nvPr/>
        </p:nvSpPr>
        <p:spPr>
          <a:xfrm>
            <a:off x="457200" y="2011679"/>
            <a:ext cx="2377440" cy="2560321"/>
          </a:xfrm>
          <a:prstGeom prst="rect">
            <a:avLst/>
          </a:prstGeom>
          <a:solidFill>
            <a:srgbClr val="1F2D40"/>
          </a:solidFill>
          <a:ln w="12700">
            <a:miter lim="400000"/>
          </a:ln>
        </p:spPr>
        <p:txBody>
          <a:bodyPr lIns="45719" rIns="45719"/>
          <a:lstStyle/>
          <a:p>
            <a:pPr/>
          </a:p>
        </p:txBody>
      </p:sp>
      <p:sp>
        <p:nvSpPr>
          <p:cNvPr id="41" name="Text 3"/>
          <p:cNvSpPr txBox="1"/>
          <p:nvPr/>
        </p:nvSpPr>
        <p:spPr>
          <a:xfrm>
            <a:off x="457200" y="2194604"/>
            <a:ext cx="23774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3AADAD"/>
                </a:solidFill>
              </a:defRPr>
            </a:lvl1pPr>
          </a:lstStyle>
          <a:p>
            <a:pPr/>
            <a:r>
              <a:t>DATA SOURCES</a:t>
            </a:r>
          </a:p>
        </p:txBody>
      </p:sp>
      <p:sp>
        <p:nvSpPr>
          <p:cNvPr id="42" name="Shape 4"/>
          <p:cNvSpPr/>
          <p:nvPr/>
        </p:nvSpPr>
        <p:spPr>
          <a:xfrm>
            <a:off x="685800" y="2514600"/>
            <a:ext cx="1920240" cy="365761"/>
          </a:xfrm>
          <a:prstGeom prst="rect">
            <a:avLst/>
          </a:prstGeom>
          <a:solidFill>
            <a:srgbClr val="283A52"/>
          </a:solidFill>
          <a:ln w="12700">
            <a:miter lim="400000"/>
          </a:ln>
        </p:spPr>
        <p:txBody>
          <a:bodyPr lIns="45719" rIns="45719"/>
          <a:lstStyle/>
          <a:p>
            <a:pPr/>
          </a:p>
        </p:txBody>
      </p:sp>
      <p:sp>
        <p:nvSpPr>
          <p:cNvPr id="43" name="Text 5"/>
          <p:cNvSpPr txBox="1"/>
          <p:nvPr/>
        </p:nvSpPr>
        <p:spPr>
          <a:xfrm>
            <a:off x="685800" y="2630346"/>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Ad Networks</a:t>
            </a:r>
          </a:p>
        </p:txBody>
      </p:sp>
      <p:sp>
        <p:nvSpPr>
          <p:cNvPr id="44" name="Shape 6"/>
          <p:cNvSpPr/>
          <p:nvPr/>
        </p:nvSpPr>
        <p:spPr>
          <a:xfrm>
            <a:off x="685800" y="2990088"/>
            <a:ext cx="1920240" cy="365761"/>
          </a:xfrm>
          <a:prstGeom prst="rect">
            <a:avLst/>
          </a:prstGeom>
          <a:solidFill>
            <a:srgbClr val="283A52"/>
          </a:solidFill>
          <a:ln w="12700">
            <a:miter lim="400000"/>
          </a:ln>
        </p:spPr>
        <p:txBody>
          <a:bodyPr lIns="45719" rIns="45719"/>
          <a:lstStyle/>
          <a:p>
            <a:pPr/>
          </a:p>
        </p:txBody>
      </p:sp>
      <p:sp>
        <p:nvSpPr>
          <p:cNvPr id="45" name="Text 7"/>
          <p:cNvSpPr txBox="1"/>
          <p:nvPr/>
        </p:nvSpPr>
        <p:spPr>
          <a:xfrm>
            <a:off x="685800" y="3105834"/>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MMPs</a:t>
            </a:r>
          </a:p>
        </p:txBody>
      </p:sp>
      <p:sp>
        <p:nvSpPr>
          <p:cNvPr id="46" name="Shape 8"/>
          <p:cNvSpPr/>
          <p:nvPr/>
        </p:nvSpPr>
        <p:spPr>
          <a:xfrm>
            <a:off x="685800" y="3465576"/>
            <a:ext cx="1920240" cy="365761"/>
          </a:xfrm>
          <a:prstGeom prst="rect">
            <a:avLst/>
          </a:prstGeom>
          <a:solidFill>
            <a:srgbClr val="283A52"/>
          </a:solidFill>
          <a:ln w="12700">
            <a:miter lim="400000"/>
          </a:ln>
        </p:spPr>
        <p:txBody>
          <a:bodyPr lIns="45719" rIns="45719"/>
          <a:lstStyle/>
          <a:p>
            <a:pPr/>
          </a:p>
        </p:txBody>
      </p:sp>
      <p:sp>
        <p:nvSpPr>
          <p:cNvPr id="47" name="Text 9"/>
          <p:cNvSpPr txBox="1"/>
          <p:nvPr/>
        </p:nvSpPr>
        <p:spPr>
          <a:xfrm>
            <a:off x="685800" y="3581322"/>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Revenue Platforms</a:t>
            </a:r>
          </a:p>
        </p:txBody>
      </p:sp>
      <p:sp>
        <p:nvSpPr>
          <p:cNvPr id="48" name="Shape 10"/>
          <p:cNvSpPr/>
          <p:nvPr/>
        </p:nvSpPr>
        <p:spPr>
          <a:xfrm>
            <a:off x="685800" y="3941064"/>
            <a:ext cx="1920240" cy="365761"/>
          </a:xfrm>
          <a:prstGeom prst="rect">
            <a:avLst/>
          </a:prstGeom>
          <a:solidFill>
            <a:srgbClr val="283A52"/>
          </a:solidFill>
          <a:ln w="12700">
            <a:miter lim="400000"/>
          </a:ln>
        </p:spPr>
        <p:txBody>
          <a:bodyPr lIns="45719" rIns="45719"/>
          <a:lstStyle/>
          <a:p>
            <a:pPr/>
          </a:p>
        </p:txBody>
      </p:sp>
      <p:sp>
        <p:nvSpPr>
          <p:cNvPr id="49" name="Text 11"/>
          <p:cNvSpPr txBox="1"/>
          <p:nvPr/>
        </p:nvSpPr>
        <p:spPr>
          <a:xfrm>
            <a:off x="685800" y="4056810"/>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Analytics Tools</a:t>
            </a:r>
          </a:p>
        </p:txBody>
      </p:sp>
      <p:pic>
        <p:nvPicPr>
          <p:cNvPr id="50" name="Image 0" descr="Image 0"/>
          <p:cNvPicPr>
            <a:picLocks noChangeAspect="1"/>
          </p:cNvPicPr>
          <p:nvPr/>
        </p:nvPicPr>
        <p:blipFill>
          <a:blip r:embed="rId2">
            <a:extLst/>
          </a:blip>
          <a:stretch>
            <a:fillRect/>
          </a:stretch>
        </p:blipFill>
        <p:spPr>
          <a:xfrm>
            <a:off x="3017520" y="3017520"/>
            <a:ext cx="365761" cy="365761"/>
          </a:xfrm>
          <a:prstGeom prst="rect">
            <a:avLst/>
          </a:prstGeom>
          <a:ln w="12700">
            <a:miter lim="400000"/>
          </a:ln>
        </p:spPr>
      </p:pic>
      <p:sp>
        <p:nvSpPr>
          <p:cNvPr id="51" name="Shape 12"/>
          <p:cNvSpPr/>
          <p:nvPr/>
        </p:nvSpPr>
        <p:spPr>
          <a:xfrm>
            <a:off x="3566159" y="2011679"/>
            <a:ext cx="2377441" cy="2560321"/>
          </a:xfrm>
          <a:prstGeom prst="rect">
            <a:avLst/>
          </a:prstGeom>
          <a:solidFill>
            <a:srgbClr val="2A8A8A"/>
          </a:solidFill>
          <a:ln w="12700">
            <a:miter lim="400000"/>
          </a:ln>
        </p:spPr>
        <p:txBody>
          <a:bodyPr lIns="45719" rIns="45719"/>
          <a:lstStyle/>
          <a:p>
            <a:pPr/>
          </a:p>
        </p:txBody>
      </p:sp>
      <p:sp>
        <p:nvSpPr>
          <p:cNvPr id="52" name="Text 13"/>
          <p:cNvSpPr txBox="1"/>
          <p:nvPr/>
        </p:nvSpPr>
        <p:spPr>
          <a:xfrm>
            <a:off x="3566159" y="2355850"/>
            <a:ext cx="23774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latin typeface="Georgia"/>
                <a:ea typeface="Georgia"/>
                <a:cs typeface="Georgia"/>
                <a:sym typeface="Georgia"/>
              </a:defRPr>
            </a:lvl1pPr>
          </a:lstStyle>
          <a:p>
            <a:pPr/>
            <a:r>
              <a:t>SSOT</a:t>
            </a:r>
          </a:p>
        </p:txBody>
      </p:sp>
      <p:sp>
        <p:nvSpPr>
          <p:cNvPr id="53" name="Text 14"/>
          <p:cNvSpPr txBox="1"/>
          <p:nvPr/>
        </p:nvSpPr>
        <p:spPr>
          <a:xfrm>
            <a:off x="3566159" y="2813226"/>
            <a:ext cx="23774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defRPr>
            </a:lvl1pPr>
          </a:lstStyle>
          <a:p>
            <a:pPr/>
            <a:r>
              <a:t>Single Source of Truth</a:t>
            </a:r>
          </a:p>
        </p:txBody>
      </p:sp>
      <p:sp>
        <p:nvSpPr>
          <p:cNvPr id="54" name="Shape 15"/>
          <p:cNvSpPr/>
          <p:nvPr/>
        </p:nvSpPr>
        <p:spPr>
          <a:xfrm>
            <a:off x="3794759" y="3200400"/>
            <a:ext cx="1920241" cy="457200"/>
          </a:xfrm>
          <a:prstGeom prst="rect">
            <a:avLst/>
          </a:prstGeom>
          <a:solidFill>
            <a:srgbClr val="238080"/>
          </a:solidFill>
          <a:ln w="12700">
            <a:miter lim="400000"/>
          </a:ln>
        </p:spPr>
        <p:txBody>
          <a:bodyPr lIns="45719" rIns="45719"/>
          <a:lstStyle/>
          <a:p>
            <a:pPr/>
          </a:p>
        </p:txBody>
      </p:sp>
      <p:sp>
        <p:nvSpPr>
          <p:cNvPr id="55" name="Text 16"/>
          <p:cNvSpPr txBox="1"/>
          <p:nvPr/>
        </p:nvSpPr>
        <p:spPr>
          <a:xfrm>
            <a:off x="3794759" y="3350567"/>
            <a:ext cx="19202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Context Agent</a:t>
            </a:r>
          </a:p>
        </p:txBody>
      </p:sp>
      <p:sp>
        <p:nvSpPr>
          <p:cNvPr id="56" name="Text 17"/>
          <p:cNvSpPr txBox="1"/>
          <p:nvPr/>
        </p:nvSpPr>
        <p:spPr>
          <a:xfrm>
            <a:off x="3566159" y="3851714"/>
            <a:ext cx="237744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000">
                <a:solidFill>
                  <a:srgbClr val="D0EFEF"/>
                </a:solidFill>
              </a:defRPr>
            </a:pPr>
            <a:r>
              <a:t>Manages semantic layer,</a:t>
            </a:r>
          </a:p>
          <a:p>
            <a:pPr algn="ctr">
              <a:lnSpc>
                <a:spcPct val="130000"/>
              </a:lnSpc>
              <a:defRPr sz="1000">
                <a:solidFill>
                  <a:srgbClr val="D0EFEF"/>
                </a:solidFill>
              </a:defRPr>
            </a:pPr>
            <a:r>
              <a:t>ensures data quality</a:t>
            </a:r>
          </a:p>
        </p:txBody>
      </p:sp>
      <p:pic>
        <p:nvPicPr>
          <p:cNvPr id="57" name="Image 1" descr="Image 1"/>
          <p:cNvPicPr>
            <a:picLocks noChangeAspect="1"/>
          </p:cNvPicPr>
          <p:nvPr/>
        </p:nvPicPr>
        <p:blipFill>
          <a:blip r:embed="rId2">
            <a:extLst/>
          </a:blip>
          <a:stretch>
            <a:fillRect/>
          </a:stretch>
        </p:blipFill>
        <p:spPr>
          <a:xfrm>
            <a:off x="6126479" y="3017520"/>
            <a:ext cx="365761" cy="365761"/>
          </a:xfrm>
          <a:prstGeom prst="rect">
            <a:avLst/>
          </a:prstGeom>
          <a:ln w="12700">
            <a:miter lim="400000"/>
          </a:ln>
        </p:spPr>
      </p:pic>
      <p:sp>
        <p:nvSpPr>
          <p:cNvPr id="58" name="Shape 18"/>
          <p:cNvSpPr/>
          <p:nvPr/>
        </p:nvSpPr>
        <p:spPr>
          <a:xfrm>
            <a:off x="6675119" y="2011679"/>
            <a:ext cx="2194561" cy="2560321"/>
          </a:xfrm>
          <a:prstGeom prst="rect">
            <a:avLst/>
          </a:prstGeom>
          <a:solidFill>
            <a:srgbClr val="1F2D40"/>
          </a:solidFill>
          <a:ln w="12700">
            <a:miter lim="400000"/>
          </a:ln>
        </p:spPr>
        <p:txBody>
          <a:bodyPr lIns="45719" rIns="45719"/>
          <a:lstStyle/>
          <a:p>
            <a:pPr/>
          </a:p>
        </p:txBody>
      </p:sp>
      <p:sp>
        <p:nvSpPr>
          <p:cNvPr id="59" name="Text 19"/>
          <p:cNvSpPr txBox="1"/>
          <p:nvPr/>
        </p:nvSpPr>
        <p:spPr>
          <a:xfrm>
            <a:off x="6675119" y="2194604"/>
            <a:ext cx="21945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3AADAD"/>
                </a:solidFill>
              </a:defRPr>
            </a:lvl1pPr>
          </a:lstStyle>
          <a:p>
            <a:pPr/>
            <a:r>
              <a:t>FEATURES</a:t>
            </a:r>
          </a:p>
        </p:txBody>
      </p:sp>
      <p:sp>
        <p:nvSpPr>
          <p:cNvPr id="60" name="Shape 20"/>
          <p:cNvSpPr/>
          <p:nvPr/>
        </p:nvSpPr>
        <p:spPr>
          <a:xfrm>
            <a:off x="6858000" y="2514600"/>
            <a:ext cx="1828800" cy="365761"/>
          </a:xfrm>
          <a:prstGeom prst="rect">
            <a:avLst/>
          </a:prstGeom>
          <a:solidFill>
            <a:srgbClr val="283A52"/>
          </a:solidFill>
          <a:ln w="12700">
            <a:miter lim="400000"/>
          </a:ln>
        </p:spPr>
        <p:txBody>
          <a:bodyPr lIns="45719" rIns="45719"/>
          <a:lstStyle/>
          <a:p>
            <a:pPr/>
          </a:p>
        </p:txBody>
      </p:sp>
      <p:sp>
        <p:nvSpPr>
          <p:cNvPr id="61" name="Text 21"/>
          <p:cNvSpPr txBox="1"/>
          <p:nvPr/>
        </p:nvSpPr>
        <p:spPr>
          <a:xfrm>
            <a:off x="6858000" y="2630346"/>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Daily Report</a:t>
            </a:r>
          </a:p>
        </p:txBody>
      </p:sp>
      <p:sp>
        <p:nvSpPr>
          <p:cNvPr id="62" name="Shape 22"/>
          <p:cNvSpPr/>
          <p:nvPr/>
        </p:nvSpPr>
        <p:spPr>
          <a:xfrm>
            <a:off x="6858000" y="2990088"/>
            <a:ext cx="1828800" cy="365761"/>
          </a:xfrm>
          <a:prstGeom prst="rect">
            <a:avLst/>
          </a:prstGeom>
          <a:solidFill>
            <a:srgbClr val="283A52"/>
          </a:solidFill>
          <a:ln w="12700">
            <a:miter lim="400000"/>
          </a:ln>
        </p:spPr>
        <p:txBody>
          <a:bodyPr lIns="45719" rIns="45719"/>
          <a:lstStyle/>
          <a:p>
            <a:pPr/>
          </a:p>
        </p:txBody>
      </p:sp>
      <p:sp>
        <p:nvSpPr>
          <p:cNvPr id="63" name="Text 23"/>
          <p:cNvSpPr txBox="1"/>
          <p:nvPr/>
        </p:nvSpPr>
        <p:spPr>
          <a:xfrm>
            <a:off x="6858000" y="3105834"/>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Weekly Summary</a:t>
            </a:r>
          </a:p>
        </p:txBody>
      </p:sp>
      <p:sp>
        <p:nvSpPr>
          <p:cNvPr id="64" name="Shape 24"/>
          <p:cNvSpPr/>
          <p:nvPr/>
        </p:nvSpPr>
        <p:spPr>
          <a:xfrm>
            <a:off x="6858000" y="3465576"/>
            <a:ext cx="1828800" cy="365761"/>
          </a:xfrm>
          <a:prstGeom prst="rect">
            <a:avLst/>
          </a:prstGeom>
          <a:solidFill>
            <a:srgbClr val="283A52"/>
          </a:solidFill>
          <a:ln w="12700">
            <a:miter lim="400000"/>
          </a:ln>
        </p:spPr>
        <p:txBody>
          <a:bodyPr lIns="45719" rIns="45719"/>
          <a:lstStyle/>
          <a:p>
            <a:pPr/>
          </a:p>
        </p:txBody>
      </p:sp>
      <p:sp>
        <p:nvSpPr>
          <p:cNvPr id="65" name="Text 25"/>
          <p:cNvSpPr txBox="1"/>
          <p:nvPr/>
        </p:nvSpPr>
        <p:spPr>
          <a:xfrm>
            <a:off x="6858000" y="3581322"/>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Explain Feature</a:t>
            </a:r>
          </a:p>
        </p:txBody>
      </p:sp>
      <p:sp>
        <p:nvSpPr>
          <p:cNvPr id="66" name="Shape 26"/>
          <p:cNvSpPr/>
          <p:nvPr/>
        </p:nvSpPr>
        <p:spPr>
          <a:xfrm>
            <a:off x="6858000" y="3941064"/>
            <a:ext cx="1828800" cy="365761"/>
          </a:xfrm>
          <a:prstGeom prst="rect">
            <a:avLst/>
          </a:prstGeom>
          <a:solidFill>
            <a:srgbClr val="283A52"/>
          </a:solidFill>
          <a:ln w="12700">
            <a:miter lim="400000"/>
          </a:ln>
        </p:spPr>
        <p:txBody>
          <a:bodyPr lIns="45719" rIns="45719"/>
          <a:lstStyle/>
          <a:p>
            <a:pPr/>
          </a:p>
        </p:txBody>
      </p:sp>
      <p:sp>
        <p:nvSpPr>
          <p:cNvPr id="67" name="Text 27"/>
          <p:cNvSpPr txBox="1"/>
          <p:nvPr/>
        </p:nvSpPr>
        <p:spPr>
          <a:xfrm>
            <a:off x="6858000" y="4056810"/>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NL Querying</a:t>
            </a:r>
          </a:p>
        </p:txBody>
      </p:sp>
      <p:sp>
        <p:nvSpPr>
          <p:cNvPr id="68" name="Text 28"/>
          <p:cNvSpPr txBox="1"/>
          <p:nvPr/>
        </p:nvSpPr>
        <p:spPr>
          <a:xfrm>
            <a:off x="731520" y="4722167"/>
            <a:ext cx="76809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8895A7"/>
                </a:solidFill>
              </a:defRPr>
            </a:lvl1pPr>
          </a:lstStyle>
          <a:p>
            <a:pPr/>
            <a:r>
              <a:t>Accessible through Slack Bot &amp; Dashboard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7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DAILY MARKETING REPORT</a:t>
            </a:r>
          </a:p>
        </p:txBody>
      </p:sp>
      <p:sp>
        <p:nvSpPr>
          <p:cNvPr id="7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Wake up knowing where</a:t>
            </a:r>
          </a:p>
          <a:p>
            <a:pPr>
              <a:lnSpc>
                <a:spcPct val="115000"/>
              </a:lnSpc>
              <a:defRPr b="1" sz="2000">
                <a:solidFill>
                  <a:srgbClr val="1A2332"/>
                </a:solidFill>
                <a:latin typeface="Georgia"/>
                <a:ea typeface="Georgia"/>
                <a:cs typeface="Georgia"/>
                <a:sym typeface="Georgia"/>
              </a:defRPr>
            </a:pPr>
            <a:r>
              <a:t>you're losing money.</a:t>
            </a:r>
          </a:p>
        </p:txBody>
      </p:sp>
      <p:sp>
        <p:nvSpPr>
          <p:cNvPr id="7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Every morning, Lupe's AI agents analyze your campaigns across every channel and flag where budget is being wasted. You get a prioritized breakdown: which campaigns to pause, which to scale, and where your next dollar works hardest.</a:t>
            </a:r>
          </a:p>
        </p:txBody>
      </p:sp>
      <p:pic>
        <p:nvPicPr>
          <p:cNvPr id="7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7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every morning</a:t>
            </a:r>
          </a:p>
        </p:txBody>
      </p:sp>
      <p:pic>
        <p:nvPicPr>
          <p:cNvPr id="7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7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Full dashboard with drill-down</a:t>
            </a:r>
          </a:p>
        </p:txBody>
      </p:sp>
      <p:sp>
        <p:nvSpPr>
          <p:cNvPr id="7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78" name="daily_feature.png" descr="daily_feature.png"/>
          <p:cNvPicPr>
            <a:picLocks noChangeAspect="1"/>
          </p:cNvPicPr>
          <p:nvPr/>
        </p:nvPicPr>
        <p:blipFill>
          <a:blip r:embed="rId4">
            <a:extLst/>
          </a:blip>
          <a:srcRect l="0" t="4818" r="0" b="0"/>
          <a:stretch>
            <a:fillRect/>
          </a:stretch>
        </p:blipFill>
        <p:spPr>
          <a:xfrm>
            <a:off x="5314959" y="429815"/>
            <a:ext cx="2773251" cy="426466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8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WEEKLY EXECUTIVE SUMMARY</a:t>
            </a:r>
          </a:p>
        </p:txBody>
      </p:sp>
      <p:sp>
        <p:nvSpPr>
          <p:cNvPr id="8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Strategic performance</a:t>
            </a:r>
          </a:p>
          <a:p>
            <a:pPr>
              <a:lnSpc>
                <a:spcPct val="115000"/>
              </a:lnSpc>
              <a:defRPr b="1" sz="2000">
                <a:solidFill>
                  <a:srgbClr val="1A2332"/>
                </a:solidFill>
                <a:latin typeface="Georgia"/>
                <a:ea typeface="Georgia"/>
                <a:cs typeface="Georgia"/>
                <a:sym typeface="Georgia"/>
              </a:defRPr>
            </a:pPr>
            <a:r>
              <a:t>overview, every week.</a:t>
            </a:r>
          </a:p>
        </p:txBody>
      </p:sp>
      <p:sp>
        <p:nvSpPr>
          <p:cNvPr id="8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Revenue, Spend, Installs, ROAS, DAU at a glance. AI-generated insights classify findings as risks or opportunities with confidence scoring. Each summary includes a prioritized action plan with urgency levels.</a:t>
            </a:r>
          </a:p>
        </p:txBody>
      </p:sp>
      <p:pic>
        <p:nvPicPr>
          <p:cNvPr id="8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8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weekly</a:t>
            </a:r>
          </a:p>
        </p:txBody>
      </p:sp>
      <p:pic>
        <p:nvPicPr>
          <p:cNvPr id="8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8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KPI dashboard with trend lines</a:t>
            </a:r>
          </a:p>
        </p:txBody>
      </p:sp>
      <p:sp>
        <p:nvSpPr>
          <p:cNvPr id="8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88" name="pasted-movie.png" descr="pasted-movie.png"/>
          <p:cNvPicPr>
            <a:picLocks noChangeAspect="1"/>
          </p:cNvPicPr>
          <p:nvPr/>
        </p:nvPicPr>
        <p:blipFill>
          <a:blip r:embed="rId4">
            <a:extLst/>
          </a:blip>
          <a:stretch>
            <a:fillRect/>
          </a:stretch>
        </p:blipFill>
        <p:spPr>
          <a:xfrm>
            <a:off x="4862127" y="469900"/>
            <a:ext cx="3910126" cy="36603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9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EXPLAIN FEATURE</a:t>
            </a:r>
          </a:p>
        </p:txBody>
      </p:sp>
      <p:sp>
        <p:nvSpPr>
          <p:cNvPr id="9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Understand why your</a:t>
            </a:r>
          </a:p>
          <a:p>
            <a:pPr>
              <a:lnSpc>
                <a:spcPct val="115000"/>
              </a:lnSpc>
              <a:defRPr b="1" sz="2000">
                <a:solidFill>
                  <a:srgbClr val="1A2332"/>
                </a:solidFill>
                <a:latin typeface="Georgia"/>
                <a:ea typeface="Georgia"/>
                <a:cs typeface="Georgia"/>
                <a:sym typeface="Georgia"/>
              </a:defRPr>
            </a:pPr>
            <a:r>
              <a:t>metrics changed.</a:t>
            </a:r>
          </a:p>
        </p:txBody>
      </p:sp>
      <p:sp>
        <p:nvSpPr>
          <p:cNvPr id="9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"why did spend change?" and get a driver breakdown by channel. Evidence-scored analysis shows exactly which channels drove the shift, with magnitude and direction. Suggested next steps let you investigate further or take action immediately.</a:t>
            </a:r>
          </a:p>
        </p:txBody>
      </p:sp>
      <p:pic>
        <p:nvPicPr>
          <p:cNvPr id="9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9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Driver analysis with evidence scoring</a:t>
            </a:r>
          </a:p>
        </p:txBody>
      </p:sp>
      <p:pic>
        <p:nvPicPr>
          <p:cNvPr id="9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9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9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98" name="image-6-3.png" descr="image-6-3.png"/>
          <p:cNvPicPr>
            <a:picLocks noChangeAspect="1"/>
          </p:cNvPicPr>
          <p:nvPr/>
        </p:nvPicPr>
        <p:blipFill>
          <a:blip r:embed="rId4">
            <a:extLst/>
          </a:blip>
          <a:stretch>
            <a:fillRect/>
          </a:stretch>
        </p:blipFill>
        <p:spPr>
          <a:xfrm>
            <a:off x="4850784" y="755307"/>
            <a:ext cx="3922992" cy="3443457"/>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0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NATURAL LANGUAGE QUERYING</a:t>
            </a:r>
          </a:p>
        </p:txBody>
      </p:sp>
      <p:sp>
        <p:nvSpPr>
          <p:cNvPr id="10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From question to answer</a:t>
            </a:r>
          </a:p>
          <a:p>
            <a:pPr>
              <a:lnSpc>
                <a:spcPct val="115000"/>
              </a:lnSpc>
              <a:defRPr b="1" sz="2000">
                <a:solidFill>
                  <a:srgbClr val="1A2332"/>
                </a:solidFill>
                <a:latin typeface="Georgia"/>
                <a:ea typeface="Georgia"/>
                <a:cs typeface="Georgia"/>
                <a:sym typeface="Georgia"/>
              </a:defRPr>
            </a:pPr>
            <a:r>
              <a:t>in seconds, not days.</a:t>
            </a:r>
          </a:p>
        </p:txBody>
      </p:sp>
      <p:sp>
        <p:nvSpPr>
          <p:cNvPr id="102" name="Text 2"/>
          <p:cNvSpPr txBox="1"/>
          <p:nvPr/>
        </p:nvSpPr>
        <p:spPr>
          <a:xfrm>
            <a:off x="731519" y="1546841"/>
            <a:ext cx="3657601" cy="12954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questions in plain English. "Show me the top 5 campaigns by average D90 ROAS forecast, filtering only campaigns with more than $100 average daily spend for the month of January 2026" Lupe queries your unified data, builds the table, runs the analysis, and explains key observations. No SQL. No analyst bottleneck. Follow-up suggestions keep the conversation going.</a:t>
            </a:r>
          </a:p>
        </p:txBody>
      </p:sp>
      <p:pic>
        <p:nvPicPr>
          <p:cNvPr id="103" name="Image 0" descr="Image 0"/>
          <p:cNvPicPr>
            <a:picLocks noChangeAspect="1"/>
          </p:cNvPicPr>
          <p:nvPr/>
        </p:nvPicPr>
        <p:blipFill>
          <a:blip r:embed="rId2">
            <a:extLst/>
          </a:blip>
          <a:stretch>
            <a:fillRect/>
          </a:stretch>
        </p:blipFill>
        <p:spPr>
          <a:xfrm>
            <a:off x="731519" y="2971800"/>
            <a:ext cx="228601" cy="228600"/>
          </a:xfrm>
          <a:prstGeom prst="rect">
            <a:avLst/>
          </a:prstGeom>
          <a:ln w="12700">
            <a:miter lim="400000"/>
          </a:ln>
        </p:spPr>
      </p:pic>
      <p:sp>
        <p:nvSpPr>
          <p:cNvPr id="104" name="Text 3"/>
          <p:cNvSpPr txBox="1"/>
          <p:nvPr/>
        </p:nvSpPr>
        <p:spPr>
          <a:xfrm>
            <a:off x="1097280" y="301896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Chat interface with context-aware follow-ups</a:t>
            </a:r>
          </a:p>
        </p:txBody>
      </p:sp>
      <p:pic>
        <p:nvPicPr>
          <p:cNvPr id="105" name="Image 1" descr="Image 1"/>
          <p:cNvPicPr>
            <a:picLocks noChangeAspect="1"/>
          </p:cNvPicPr>
          <p:nvPr/>
        </p:nvPicPr>
        <p:blipFill>
          <a:blip r:embed="rId3">
            <a:extLst/>
          </a:blip>
          <a:stretch>
            <a:fillRect/>
          </a:stretch>
        </p:blipFill>
        <p:spPr>
          <a:xfrm>
            <a:off x="731519" y="3429000"/>
            <a:ext cx="228601" cy="228600"/>
          </a:xfrm>
          <a:prstGeom prst="rect">
            <a:avLst/>
          </a:prstGeom>
          <a:ln w="12700">
            <a:miter lim="400000"/>
          </a:ln>
        </p:spPr>
      </p:pic>
      <p:sp>
        <p:nvSpPr>
          <p:cNvPr id="106" name="Text 4"/>
          <p:cNvSpPr txBox="1"/>
          <p:nvPr/>
        </p:nvSpPr>
        <p:spPr>
          <a:xfrm>
            <a:off x="1097280" y="347616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107" name="Shape 5"/>
          <p:cNvSpPr/>
          <p:nvPr/>
        </p:nvSpPr>
        <p:spPr>
          <a:xfrm>
            <a:off x="4754879" y="275019"/>
            <a:ext cx="4114801" cy="4593462"/>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108" name="pasted-movie.png" descr="pasted-movie.png"/>
          <p:cNvPicPr>
            <a:picLocks noChangeAspect="1"/>
          </p:cNvPicPr>
          <p:nvPr/>
        </p:nvPicPr>
        <p:blipFill>
          <a:blip r:embed="rId4">
            <a:extLst/>
          </a:blip>
          <a:stretch>
            <a:fillRect/>
          </a:stretch>
        </p:blipFill>
        <p:spPr>
          <a:xfrm>
            <a:off x="4781232" y="408893"/>
            <a:ext cx="3936400" cy="432571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10"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WHAT MAKES IT WORK</a:t>
            </a:r>
          </a:p>
        </p:txBody>
      </p:sp>
      <p:sp>
        <p:nvSpPr>
          <p:cNvPr id="111" name="Text 1"/>
          <p:cNvSpPr txBox="1"/>
          <p:nvPr/>
        </p:nvSpPr>
        <p:spPr>
          <a:xfrm>
            <a:off x="731520" y="75183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FFFFFF"/>
                </a:solidFill>
                <a:latin typeface="Georgia"/>
                <a:ea typeface="Georgia"/>
                <a:cs typeface="Georgia"/>
                <a:sym typeface="Georgia"/>
              </a:defRPr>
            </a:pPr>
            <a:r>
              <a:t>Every feature is powered by one</a:t>
            </a:r>
          </a:p>
          <a:p>
            <a:pPr>
              <a:lnSpc>
                <a:spcPct val="115000"/>
              </a:lnSpc>
              <a:defRPr b="1" sz="2800">
                <a:solidFill>
                  <a:srgbClr val="FFFFFF"/>
                </a:solidFill>
                <a:latin typeface="Georgia"/>
                <a:ea typeface="Georgia"/>
                <a:cs typeface="Georgia"/>
                <a:sym typeface="Georgia"/>
              </a:defRPr>
            </a:pPr>
            <a:r>
              <a:t>unified data model.</a:t>
            </a:r>
          </a:p>
        </p:txBody>
      </p:sp>
      <p:sp>
        <p:nvSpPr>
          <p:cNvPr id="112" name="Text 2"/>
          <p:cNvSpPr txBox="1"/>
          <p:nvPr/>
        </p:nvSpPr>
        <p:spPr>
          <a:xfrm>
            <a:off x="731520" y="1830728"/>
            <a:ext cx="7680960" cy="4533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8895A7"/>
                </a:solidFill>
              </a:defRPr>
            </a:lvl1pPr>
          </a:lstStyle>
          <a:p>
            <a:pPr/>
            <a:r>
              <a:t>The Single Source of Truth (SSOT) is the foundation. Our Context Agent builds, manages, and continuously validates this layer so every report, every query, and every insight draws from the same trusted data.</a:t>
            </a:r>
          </a:p>
        </p:txBody>
      </p:sp>
      <p:sp>
        <p:nvSpPr>
          <p:cNvPr id="113" name="Shape 3"/>
          <p:cNvSpPr/>
          <p:nvPr/>
        </p:nvSpPr>
        <p:spPr>
          <a:xfrm>
            <a:off x="457200" y="2651760"/>
            <a:ext cx="2606040" cy="2103121"/>
          </a:xfrm>
          <a:prstGeom prst="rect">
            <a:avLst/>
          </a:prstGeom>
          <a:solidFill>
            <a:srgbClr val="1F2D40"/>
          </a:solidFill>
          <a:ln w="12700">
            <a:miter lim="400000"/>
          </a:ln>
        </p:spPr>
        <p:txBody>
          <a:bodyPr lIns="45719" rIns="45719"/>
          <a:lstStyle/>
          <a:p>
            <a:pPr/>
          </a:p>
        </p:txBody>
      </p:sp>
      <p:pic>
        <p:nvPicPr>
          <p:cNvPr id="114" name="Image 0" descr="Image 0"/>
          <p:cNvPicPr>
            <a:picLocks noChangeAspect="1"/>
          </p:cNvPicPr>
          <p:nvPr/>
        </p:nvPicPr>
        <p:blipFill>
          <a:blip r:embed="rId2">
            <a:extLst/>
          </a:blip>
          <a:stretch>
            <a:fillRect/>
          </a:stretch>
        </p:blipFill>
        <p:spPr>
          <a:xfrm>
            <a:off x="685800" y="2834639"/>
            <a:ext cx="365760" cy="365761"/>
          </a:xfrm>
          <a:prstGeom prst="rect">
            <a:avLst/>
          </a:prstGeom>
          <a:ln w="12700">
            <a:miter lim="400000"/>
          </a:ln>
        </p:spPr>
      </p:pic>
      <p:sp>
        <p:nvSpPr>
          <p:cNvPr id="115" name="Text 4"/>
          <p:cNvSpPr txBox="1"/>
          <p:nvPr/>
        </p:nvSpPr>
        <p:spPr>
          <a:xfrm>
            <a:off x="685800" y="3357180"/>
            <a:ext cx="21488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Single Source of Truth</a:t>
            </a:r>
          </a:p>
        </p:txBody>
      </p:sp>
      <p:sp>
        <p:nvSpPr>
          <p:cNvPr id="116" name="Text 5"/>
          <p:cNvSpPr txBox="1"/>
          <p:nvPr/>
        </p:nvSpPr>
        <p:spPr>
          <a:xfrm>
            <a:off x="685800" y="3783138"/>
            <a:ext cx="2148840" cy="5718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Attribution, spend, and revenue unified at device level. One data model, one definition of every metric.</a:t>
            </a:r>
          </a:p>
        </p:txBody>
      </p:sp>
      <p:sp>
        <p:nvSpPr>
          <p:cNvPr id="117" name="Shape 6"/>
          <p:cNvSpPr/>
          <p:nvPr/>
        </p:nvSpPr>
        <p:spPr>
          <a:xfrm>
            <a:off x="3337559" y="2651760"/>
            <a:ext cx="2606041" cy="2103121"/>
          </a:xfrm>
          <a:prstGeom prst="rect">
            <a:avLst/>
          </a:prstGeom>
          <a:solidFill>
            <a:srgbClr val="1F2D40"/>
          </a:solidFill>
          <a:ln w="12700">
            <a:miter lim="400000"/>
          </a:ln>
        </p:spPr>
        <p:txBody>
          <a:bodyPr lIns="45719" rIns="45719"/>
          <a:lstStyle/>
          <a:p>
            <a:pPr/>
          </a:p>
        </p:txBody>
      </p:sp>
      <p:pic>
        <p:nvPicPr>
          <p:cNvPr id="118" name="Image 1" descr="Image 1"/>
          <p:cNvPicPr>
            <a:picLocks noChangeAspect="1"/>
          </p:cNvPicPr>
          <p:nvPr/>
        </p:nvPicPr>
        <p:blipFill>
          <a:blip r:embed="rId3">
            <a:extLst/>
          </a:blip>
          <a:stretch>
            <a:fillRect/>
          </a:stretch>
        </p:blipFill>
        <p:spPr>
          <a:xfrm>
            <a:off x="3566159" y="2834639"/>
            <a:ext cx="365761" cy="365761"/>
          </a:xfrm>
          <a:prstGeom prst="rect">
            <a:avLst/>
          </a:prstGeom>
          <a:ln w="12700">
            <a:miter lim="400000"/>
          </a:ln>
        </p:spPr>
      </p:pic>
      <p:sp>
        <p:nvSpPr>
          <p:cNvPr id="119" name="Text 7"/>
          <p:cNvSpPr txBox="1"/>
          <p:nvPr/>
        </p:nvSpPr>
        <p:spPr>
          <a:xfrm>
            <a:off x="3566159" y="3357180"/>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Context Agent</a:t>
            </a:r>
          </a:p>
        </p:txBody>
      </p:sp>
      <p:sp>
        <p:nvSpPr>
          <p:cNvPr id="120" name="Text 8"/>
          <p:cNvSpPr txBox="1"/>
          <p:nvPr/>
        </p:nvSpPr>
        <p:spPr>
          <a:xfrm>
            <a:off x="3566159" y="3673735"/>
            <a:ext cx="2148841" cy="7906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Manages the semantic layer. Runs data quality checks, validates business logic, and keeps the SSOT accurate.</a:t>
            </a:r>
          </a:p>
        </p:txBody>
      </p:sp>
      <p:sp>
        <p:nvSpPr>
          <p:cNvPr id="121" name="Shape 9"/>
          <p:cNvSpPr/>
          <p:nvPr/>
        </p:nvSpPr>
        <p:spPr>
          <a:xfrm>
            <a:off x="6217920" y="2651760"/>
            <a:ext cx="2606041" cy="2103121"/>
          </a:xfrm>
          <a:prstGeom prst="rect">
            <a:avLst/>
          </a:prstGeom>
          <a:solidFill>
            <a:srgbClr val="1F2D40"/>
          </a:solidFill>
          <a:ln w="12700">
            <a:miter lim="400000"/>
          </a:ln>
        </p:spPr>
        <p:txBody>
          <a:bodyPr lIns="45719" rIns="45719"/>
          <a:lstStyle/>
          <a:p>
            <a:pPr/>
          </a:p>
        </p:txBody>
      </p:sp>
      <p:pic>
        <p:nvPicPr>
          <p:cNvPr id="122" name="Image 2" descr="Image 2"/>
          <p:cNvPicPr>
            <a:picLocks noChangeAspect="1"/>
          </p:cNvPicPr>
          <p:nvPr/>
        </p:nvPicPr>
        <p:blipFill>
          <a:blip r:embed="rId4">
            <a:extLst/>
          </a:blip>
          <a:stretch>
            <a:fillRect/>
          </a:stretch>
        </p:blipFill>
        <p:spPr>
          <a:xfrm>
            <a:off x="6446520" y="2834639"/>
            <a:ext cx="365761" cy="365761"/>
          </a:xfrm>
          <a:prstGeom prst="rect">
            <a:avLst/>
          </a:prstGeom>
          <a:ln w="12700">
            <a:miter lim="400000"/>
          </a:ln>
        </p:spPr>
      </p:pic>
      <p:sp>
        <p:nvSpPr>
          <p:cNvPr id="123" name="Text 10"/>
          <p:cNvSpPr txBox="1"/>
          <p:nvPr/>
        </p:nvSpPr>
        <p:spPr>
          <a:xfrm>
            <a:off x="6446520" y="3357180"/>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Semantic Layer</a:t>
            </a:r>
          </a:p>
        </p:txBody>
      </p:sp>
      <p:sp>
        <p:nvSpPr>
          <p:cNvPr id="124" name="Text 11"/>
          <p:cNvSpPr txBox="1"/>
          <p:nvPr/>
        </p:nvSpPr>
        <p:spPr>
          <a:xfrm>
            <a:off x="6446520" y="3673735"/>
            <a:ext cx="2148841" cy="7906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Custom business logic configuration on top of the SSOT. Powers all AI features with domain-specific context.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26" name="Text 0"/>
          <p:cNvSpPr txBox="1"/>
          <p:nvPr/>
        </p:nvSpPr>
        <p:spPr>
          <a:xfrm>
            <a:off x="731519" y="39006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2A8A8A"/>
                </a:solidFill>
              </a:defRPr>
            </a:lvl1pPr>
          </a:lstStyle>
          <a:p>
            <a:pPr/>
            <a:r>
              <a:t>ONBOARDING</a:t>
            </a:r>
          </a:p>
        </p:txBody>
      </p:sp>
      <p:sp>
        <p:nvSpPr>
          <p:cNvPr id="127" name="Text 1"/>
          <p:cNvSpPr txBox="1"/>
          <p:nvPr/>
        </p:nvSpPr>
        <p:spPr>
          <a:xfrm>
            <a:off x="731520" y="614552"/>
            <a:ext cx="7680960" cy="8191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600">
                <a:solidFill>
                  <a:srgbClr val="1A2332"/>
                </a:solidFill>
                <a:latin typeface="Georgia"/>
                <a:ea typeface="Georgia"/>
                <a:cs typeface="Georgia"/>
                <a:sym typeface="Georgia"/>
              </a:defRPr>
            </a:pPr>
            <a:r>
              <a:t>From plug-in to full visibility.</a:t>
            </a:r>
          </a:p>
          <a:p>
            <a:pPr>
              <a:lnSpc>
                <a:spcPct val="115000"/>
              </a:lnSpc>
              <a:defRPr b="1" sz="2600">
                <a:solidFill>
                  <a:srgbClr val="1A2332"/>
                </a:solidFill>
                <a:latin typeface="Georgia"/>
                <a:ea typeface="Georgia"/>
                <a:cs typeface="Georgia"/>
                <a:sym typeface="Georgia"/>
              </a:defRPr>
            </a:pPr>
            <a:r>
              <a:t>Nothing breaks.</a:t>
            </a:r>
          </a:p>
        </p:txBody>
      </p:sp>
      <p:sp>
        <p:nvSpPr>
          <p:cNvPr id="128" name="Shape 2"/>
          <p:cNvSpPr/>
          <p:nvPr/>
        </p:nvSpPr>
        <p:spPr>
          <a:xfrm>
            <a:off x="457200" y="1600200"/>
            <a:ext cx="2606040"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29" name="Shape 3"/>
          <p:cNvSpPr/>
          <p:nvPr/>
        </p:nvSpPr>
        <p:spPr>
          <a:xfrm>
            <a:off x="594359" y="1737360"/>
            <a:ext cx="365762" cy="320041"/>
          </a:xfrm>
          <a:prstGeom prst="rect">
            <a:avLst/>
          </a:prstGeom>
          <a:solidFill>
            <a:srgbClr val="2A8A8A"/>
          </a:solidFill>
          <a:ln w="12700">
            <a:miter lim="400000"/>
          </a:ln>
        </p:spPr>
        <p:txBody>
          <a:bodyPr lIns="45719" rIns="45719"/>
          <a:lstStyle/>
          <a:p>
            <a:pPr/>
          </a:p>
        </p:txBody>
      </p:sp>
      <p:sp>
        <p:nvSpPr>
          <p:cNvPr id="130" name="Text 4"/>
          <p:cNvSpPr txBox="1"/>
          <p:nvPr/>
        </p:nvSpPr>
        <p:spPr>
          <a:xfrm>
            <a:off x="594359" y="1818947"/>
            <a:ext cx="3657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01</a:t>
            </a:r>
          </a:p>
        </p:txBody>
      </p:sp>
      <p:sp>
        <p:nvSpPr>
          <p:cNvPr id="131" name="Text 5"/>
          <p:cNvSpPr txBox="1"/>
          <p:nvPr/>
        </p:nvSpPr>
        <p:spPr>
          <a:xfrm>
            <a:off x="105156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Connect Warehouse</a:t>
            </a:r>
          </a:p>
        </p:txBody>
      </p:sp>
      <p:sp>
        <p:nvSpPr>
          <p:cNvPr id="132" name="Text 6"/>
          <p:cNvSpPr txBox="1"/>
          <p:nvPr/>
        </p:nvSpPr>
        <p:spPr>
          <a:xfrm>
            <a:off x="594359" y="2336100"/>
            <a:ext cx="2331722"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Access to your warehouse + clean git repository &amp; dbt Cloud account.</a:t>
            </a:r>
          </a:p>
        </p:txBody>
      </p:sp>
      <p:sp>
        <p:nvSpPr>
          <p:cNvPr id="133" name="Shape 7"/>
          <p:cNvSpPr/>
          <p:nvPr/>
        </p:nvSpPr>
        <p:spPr>
          <a:xfrm>
            <a:off x="3337559" y="16002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34" name="Shape 8"/>
          <p:cNvSpPr/>
          <p:nvPr/>
        </p:nvSpPr>
        <p:spPr>
          <a:xfrm>
            <a:off x="3474720" y="1737360"/>
            <a:ext cx="365761" cy="320041"/>
          </a:xfrm>
          <a:prstGeom prst="rect">
            <a:avLst/>
          </a:prstGeom>
          <a:solidFill>
            <a:srgbClr val="2A8A8A"/>
          </a:solidFill>
          <a:ln w="12700">
            <a:miter lim="400000"/>
          </a:ln>
        </p:spPr>
        <p:txBody>
          <a:bodyPr lIns="45719" rIns="45719"/>
          <a:lstStyle/>
          <a:p>
            <a:pPr/>
          </a:p>
        </p:txBody>
      </p:sp>
      <p:sp>
        <p:nvSpPr>
          <p:cNvPr id="135" name="Text 9"/>
          <p:cNvSpPr txBox="1"/>
          <p:nvPr/>
        </p:nvSpPr>
        <p:spPr>
          <a:xfrm>
            <a:off x="3474720" y="18189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02</a:t>
            </a:r>
          </a:p>
        </p:txBody>
      </p:sp>
      <p:sp>
        <p:nvSpPr>
          <p:cNvPr id="136" name="Text 10"/>
          <p:cNvSpPr txBox="1"/>
          <p:nvPr/>
        </p:nvSpPr>
        <p:spPr>
          <a:xfrm>
            <a:off x="393192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Agentic Data Quality Audit</a:t>
            </a:r>
          </a:p>
        </p:txBody>
      </p:sp>
      <p:sp>
        <p:nvSpPr>
          <p:cNvPr id="137" name="Text 11"/>
          <p:cNvSpPr txBox="1"/>
          <p:nvPr/>
        </p:nvSpPr>
        <p:spPr>
          <a:xfrm>
            <a:off x="3474720" y="23361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Automated audit of revenue, spend, and installs data integrity.</a:t>
            </a:r>
          </a:p>
        </p:txBody>
      </p:sp>
      <p:sp>
        <p:nvSpPr>
          <p:cNvPr id="138" name="Shape 12"/>
          <p:cNvSpPr/>
          <p:nvPr/>
        </p:nvSpPr>
        <p:spPr>
          <a:xfrm>
            <a:off x="6217920" y="16002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39" name="Shape 13"/>
          <p:cNvSpPr/>
          <p:nvPr/>
        </p:nvSpPr>
        <p:spPr>
          <a:xfrm>
            <a:off x="6355079" y="1737360"/>
            <a:ext cx="365761" cy="320041"/>
          </a:xfrm>
          <a:prstGeom prst="rect">
            <a:avLst/>
          </a:prstGeom>
          <a:solidFill>
            <a:srgbClr val="2A8A8A"/>
          </a:solidFill>
          <a:ln w="12700">
            <a:miter lim="400000"/>
          </a:ln>
        </p:spPr>
        <p:txBody>
          <a:bodyPr lIns="45719" rIns="45719"/>
          <a:lstStyle/>
          <a:p>
            <a:pPr/>
          </a:p>
        </p:txBody>
      </p:sp>
      <p:sp>
        <p:nvSpPr>
          <p:cNvPr id="140" name="Text 14"/>
          <p:cNvSpPr txBox="1"/>
          <p:nvPr/>
        </p:nvSpPr>
        <p:spPr>
          <a:xfrm>
            <a:off x="6355079" y="18189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03</a:t>
            </a:r>
          </a:p>
        </p:txBody>
      </p:sp>
      <p:sp>
        <p:nvSpPr>
          <p:cNvPr id="141" name="Text 15"/>
          <p:cNvSpPr txBox="1"/>
          <p:nvPr/>
        </p:nvSpPr>
        <p:spPr>
          <a:xfrm>
            <a:off x="681228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Configure ID Logic</a:t>
            </a:r>
          </a:p>
        </p:txBody>
      </p:sp>
      <p:sp>
        <p:nvSpPr>
          <p:cNvPr id="142" name="Text 16"/>
          <p:cNvSpPr txBox="1"/>
          <p:nvPr/>
        </p:nvSpPr>
        <p:spPr>
          <a:xfrm>
            <a:off x="6355079" y="23361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Data blending configuration and device-level attribution for real organics.</a:t>
            </a:r>
          </a:p>
        </p:txBody>
      </p:sp>
      <p:sp>
        <p:nvSpPr>
          <p:cNvPr id="143" name="Shape 17"/>
          <p:cNvSpPr/>
          <p:nvPr/>
        </p:nvSpPr>
        <p:spPr>
          <a:xfrm>
            <a:off x="457200" y="3200400"/>
            <a:ext cx="2606040"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44" name="Shape 18"/>
          <p:cNvSpPr/>
          <p:nvPr/>
        </p:nvSpPr>
        <p:spPr>
          <a:xfrm>
            <a:off x="594359" y="3337559"/>
            <a:ext cx="365762" cy="320041"/>
          </a:xfrm>
          <a:prstGeom prst="rect">
            <a:avLst/>
          </a:prstGeom>
          <a:solidFill>
            <a:srgbClr val="2A8A8A"/>
          </a:solidFill>
          <a:ln w="12700">
            <a:miter lim="400000"/>
          </a:ln>
        </p:spPr>
        <p:txBody>
          <a:bodyPr lIns="45719" rIns="45719"/>
          <a:lstStyle/>
          <a:p>
            <a:pPr/>
          </a:p>
        </p:txBody>
      </p:sp>
      <p:sp>
        <p:nvSpPr>
          <p:cNvPr id="145" name="Text 19"/>
          <p:cNvSpPr txBox="1"/>
          <p:nvPr/>
        </p:nvSpPr>
        <p:spPr>
          <a:xfrm>
            <a:off x="594359" y="3419147"/>
            <a:ext cx="3657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04</a:t>
            </a:r>
          </a:p>
        </p:txBody>
      </p:sp>
      <p:sp>
        <p:nvSpPr>
          <p:cNvPr id="146" name="Text 20"/>
          <p:cNvSpPr txBox="1"/>
          <p:nvPr/>
        </p:nvSpPr>
        <p:spPr>
          <a:xfrm>
            <a:off x="105156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Generate Semantic Layer</a:t>
            </a:r>
          </a:p>
        </p:txBody>
      </p:sp>
      <p:sp>
        <p:nvSpPr>
          <p:cNvPr id="147" name="Text 21"/>
          <p:cNvSpPr txBox="1"/>
          <p:nvPr/>
        </p:nvSpPr>
        <p:spPr>
          <a:xfrm>
            <a:off x="594359" y="3936300"/>
            <a:ext cx="2331722"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Custom business logic configuration on top of your data model.</a:t>
            </a:r>
          </a:p>
        </p:txBody>
      </p:sp>
      <p:sp>
        <p:nvSpPr>
          <p:cNvPr id="148" name="Shape 22"/>
          <p:cNvSpPr/>
          <p:nvPr/>
        </p:nvSpPr>
        <p:spPr>
          <a:xfrm>
            <a:off x="3337559" y="32004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49" name="Shape 23"/>
          <p:cNvSpPr/>
          <p:nvPr/>
        </p:nvSpPr>
        <p:spPr>
          <a:xfrm>
            <a:off x="3474720" y="3337559"/>
            <a:ext cx="365761" cy="320041"/>
          </a:xfrm>
          <a:prstGeom prst="rect">
            <a:avLst/>
          </a:prstGeom>
          <a:solidFill>
            <a:srgbClr val="2A8A8A"/>
          </a:solidFill>
          <a:ln w="12700">
            <a:miter lim="400000"/>
          </a:ln>
        </p:spPr>
        <p:txBody>
          <a:bodyPr lIns="45719" rIns="45719"/>
          <a:lstStyle/>
          <a:p>
            <a:pPr/>
          </a:p>
        </p:txBody>
      </p:sp>
      <p:sp>
        <p:nvSpPr>
          <p:cNvPr id="150" name="Text 24"/>
          <p:cNvSpPr txBox="1"/>
          <p:nvPr/>
        </p:nvSpPr>
        <p:spPr>
          <a:xfrm>
            <a:off x="3474720" y="34191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05</a:t>
            </a:r>
          </a:p>
        </p:txBody>
      </p:sp>
      <p:sp>
        <p:nvSpPr>
          <p:cNvPr id="151" name="Text 25"/>
          <p:cNvSpPr txBox="1"/>
          <p:nvPr/>
        </p:nvSpPr>
        <p:spPr>
          <a:xfrm>
            <a:off x="393192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Product Data (On Demand)</a:t>
            </a:r>
          </a:p>
        </p:txBody>
      </p:sp>
      <p:sp>
        <p:nvSpPr>
          <p:cNvPr id="152" name="Text 26"/>
          <p:cNvSpPr txBox="1"/>
          <p:nvPr/>
        </p:nvSpPr>
        <p:spPr>
          <a:xfrm>
            <a:off x="3474720" y="39363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Optional integration of product analytics data into the unified model.</a:t>
            </a:r>
          </a:p>
        </p:txBody>
      </p:sp>
      <p:sp>
        <p:nvSpPr>
          <p:cNvPr id="153" name="Shape 27"/>
          <p:cNvSpPr/>
          <p:nvPr/>
        </p:nvSpPr>
        <p:spPr>
          <a:xfrm>
            <a:off x="6217920" y="32004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54" name="Shape 28"/>
          <p:cNvSpPr/>
          <p:nvPr/>
        </p:nvSpPr>
        <p:spPr>
          <a:xfrm>
            <a:off x="6355079" y="3337559"/>
            <a:ext cx="365761" cy="320041"/>
          </a:xfrm>
          <a:prstGeom prst="rect">
            <a:avLst/>
          </a:prstGeom>
          <a:solidFill>
            <a:srgbClr val="2A8A8A"/>
          </a:solidFill>
          <a:ln w="12700">
            <a:miter lim="400000"/>
          </a:ln>
        </p:spPr>
        <p:txBody>
          <a:bodyPr lIns="45719" rIns="45719"/>
          <a:lstStyle/>
          <a:p>
            <a:pPr/>
          </a:p>
        </p:txBody>
      </p:sp>
      <p:sp>
        <p:nvSpPr>
          <p:cNvPr id="155" name="Text 29"/>
          <p:cNvSpPr txBox="1"/>
          <p:nvPr/>
        </p:nvSpPr>
        <p:spPr>
          <a:xfrm>
            <a:off x="6355079" y="34191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06</a:t>
            </a:r>
          </a:p>
        </p:txBody>
      </p:sp>
      <p:sp>
        <p:nvSpPr>
          <p:cNvPr id="156" name="Text 30"/>
          <p:cNvSpPr txBox="1"/>
          <p:nvPr/>
        </p:nvSpPr>
        <p:spPr>
          <a:xfrm>
            <a:off x="681228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Go Live</a:t>
            </a:r>
          </a:p>
        </p:txBody>
      </p:sp>
      <p:sp>
        <p:nvSpPr>
          <p:cNvPr id="157" name="Text 31"/>
          <p:cNvSpPr txBox="1"/>
          <p:nvPr/>
        </p:nvSpPr>
        <p:spPr>
          <a:xfrm>
            <a:off x="6355079" y="39363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Raw data accessible in your warehouse. Parallel setup, minimal incremental costs.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59"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WHERE WE ARE</a:t>
            </a:r>
          </a:p>
        </p:txBody>
      </p:sp>
      <p:sp>
        <p:nvSpPr>
          <p:cNvPr id="160" name="Text 1"/>
          <p:cNvSpPr txBox="1"/>
          <p:nvPr/>
        </p:nvSpPr>
        <p:spPr>
          <a:xfrm>
            <a:off x="731520" y="75183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FFFFFF"/>
                </a:solidFill>
                <a:latin typeface="Georgia"/>
                <a:ea typeface="Georgia"/>
                <a:cs typeface="Georgia"/>
                <a:sym typeface="Georgia"/>
              </a:defRPr>
            </a:pPr>
            <a:r>
              <a:t>Built from real problems.</a:t>
            </a:r>
          </a:p>
          <a:p>
            <a:pPr>
              <a:lnSpc>
                <a:spcPct val="115000"/>
              </a:lnSpc>
              <a:defRPr b="1" sz="2800">
                <a:solidFill>
                  <a:srgbClr val="FFFFFF"/>
                </a:solidFill>
                <a:latin typeface="Georgia"/>
                <a:ea typeface="Georgia"/>
                <a:cs typeface="Georgia"/>
                <a:sym typeface="Georgia"/>
              </a:defRPr>
            </a:pPr>
            <a:r>
              <a:t>Shipping a real product.</a:t>
            </a:r>
          </a:p>
        </p:txBody>
      </p:sp>
      <p:sp>
        <p:nvSpPr>
          <p:cNvPr id="161" name="Text 2"/>
          <p:cNvSpPr txBox="1"/>
          <p:nvPr/>
        </p:nvSpPr>
        <p:spPr>
          <a:xfrm>
            <a:off x="731520" y="1870318"/>
            <a:ext cx="7680960" cy="7399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8895A7"/>
                </a:solidFill>
              </a:defRPr>
            </a:lvl1pPr>
          </a:lstStyle>
          <a:p>
            <a:pPr/>
            <a:r>
              <a:t>We built custom SSOT solutions for three mobile app companies. That hands-on work exposed the same patterns every time: fragmented data, duplicate definitions, slow reporting, and marketing teams flying blind on budget allocation. It led to our product: a context layer for mobile marketing teams.</a:t>
            </a:r>
          </a:p>
        </p:txBody>
      </p:sp>
      <p:sp>
        <p:nvSpPr>
          <p:cNvPr id="162" name="Shape 3"/>
          <p:cNvSpPr/>
          <p:nvPr/>
        </p:nvSpPr>
        <p:spPr>
          <a:xfrm>
            <a:off x="457200" y="2926079"/>
            <a:ext cx="2606040" cy="1828801"/>
          </a:xfrm>
          <a:prstGeom prst="rect">
            <a:avLst/>
          </a:prstGeom>
          <a:solidFill>
            <a:srgbClr val="1F2D40"/>
          </a:solidFill>
          <a:ln w="12700">
            <a:miter lim="400000"/>
          </a:ln>
        </p:spPr>
        <p:txBody>
          <a:bodyPr lIns="45719" rIns="45719"/>
          <a:lstStyle/>
          <a:p>
            <a:pPr/>
          </a:p>
        </p:txBody>
      </p:sp>
      <p:sp>
        <p:nvSpPr>
          <p:cNvPr id="163" name="Text 4"/>
          <p:cNvSpPr txBox="1"/>
          <p:nvPr/>
        </p:nvSpPr>
        <p:spPr>
          <a:xfrm>
            <a:off x="457200" y="3055620"/>
            <a:ext cx="2606040"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3</a:t>
            </a:r>
          </a:p>
        </p:txBody>
      </p:sp>
      <p:sp>
        <p:nvSpPr>
          <p:cNvPr id="164" name="Text 5"/>
          <p:cNvSpPr txBox="1"/>
          <p:nvPr/>
        </p:nvSpPr>
        <p:spPr>
          <a:xfrm>
            <a:off x="640080" y="3734707"/>
            <a:ext cx="2240280"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Custom SSOT builds</a:t>
            </a:r>
          </a:p>
          <a:p>
            <a:pPr algn="ctr">
              <a:lnSpc>
                <a:spcPct val="130000"/>
              </a:lnSpc>
              <a:defRPr sz="1200">
                <a:solidFill>
                  <a:srgbClr val="FFFFFF"/>
                </a:solidFill>
              </a:defRPr>
            </a:pPr>
            <a:r>
              <a:t>for mobile app companies</a:t>
            </a:r>
          </a:p>
        </p:txBody>
      </p:sp>
      <p:sp>
        <p:nvSpPr>
          <p:cNvPr id="165" name="Text 6"/>
          <p:cNvSpPr txBox="1"/>
          <p:nvPr/>
        </p:nvSpPr>
        <p:spPr>
          <a:xfrm>
            <a:off x="640080" y="4274864"/>
            <a:ext cx="22402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Foundation of the product</a:t>
            </a:r>
          </a:p>
        </p:txBody>
      </p:sp>
      <p:sp>
        <p:nvSpPr>
          <p:cNvPr id="166" name="Shape 7"/>
          <p:cNvSpPr/>
          <p:nvPr/>
        </p:nvSpPr>
        <p:spPr>
          <a:xfrm>
            <a:off x="3337559" y="2926079"/>
            <a:ext cx="2606041" cy="1828801"/>
          </a:xfrm>
          <a:prstGeom prst="rect">
            <a:avLst/>
          </a:prstGeom>
          <a:solidFill>
            <a:srgbClr val="1F2D40"/>
          </a:solidFill>
          <a:ln w="12700">
            <a:miter lim="400000"/>
          </a:ln>
        </p:spPr>
        <p:txBody>
          <a:bodyPr lIns="45719" rIns="45719"/>
          <a:lstStyle/>
          <a:p>
            <a:pPr/>
          </a:p>
        </p:txBody>
      </p:sp>
      <p:sp>
        <p:nvSpPr>
          <p:cNvPr id="167" name="Text 8"/>
          <p:cNvSpPr txBox="1"/>
          <p:nvPr/>
        </p:nvSpPr>
        <p:spPr>
          <a:xfrm>
            <a:off x="3337559" y="3055620"/>
            <a:ext cx="260604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1</a:t>
            </a:r>
          </a:p>
        </p:txBody>
      </p:sp>
      <p:sp>
        <p:nvSpPr>
          <p:cNvPr id="168" name="Text 9"/>
          <p:cNvSpPr txBox="1"/>
          <p:nvPr/>
        </p:nvSpPr>
        <p:spPr>
          <a:xfrm>
            <a:off x="3520440" y="3734707"/>
            <a:ext cx="2240281"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Pilot customer</a:t>
            </a:r>
          </a:p>
          <a:p>
            <a:pPr algn="ctr">
              <a:lnSpc>
                <a:spcPct val="130000"/>
              </a:lnSpc>
              <a:defRPr sz="1200">
                <a:solidFill>
                  <a:srgbClr val="FFFFFF"/>
                </a:solidFill>
              </a:defRPr>
            </a:pPr>
            <a:r>
              <a:t>in onboarding phase</a:t>
            </a:r>
          </a:p>
        </p:txBody>
      </p:sp>
      <p:sp>
        <p:nvSpPr>
          <p:cNvPr id="169" name="Text 10"/>
          <p:cNvSpPr txBox="1"/>
          <p:nvPr/>
        </p:nvSpPr>
        <p:spPr>
          <a:xfrm>
            <a:off x="3520440" y="4274864"/>
            <a:ext cx="22402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Active implementation</a:t>
            </a:r>
          </a:p>
        </p:txBody>
      </p:sp>
      <p:sp>
        <p:nvSpPr>
          <p:cNvPr id="170" name="Shape 11"/>
          <p:cNvSpPr/>
          <p:nvPr/>
        </p:nvSpPr>
        <p:spPr>
          <a:xfrm>
            <a:off x="6217920" y="2926079"/>
            <a:ext cx="2606041" cy="1828801"/>
          </a:xfrm>
          <a:prstGeom prst="rect">
            <a:avLst/>
          </a:prstGeom>
          <a:solidFill>
            <a:srgbClr val="1F2D40"/>
          </a:solidFill>
          <a:ln w="12700">
            <a:miter lim="400000"/>
          </a:ln>
        </p:spPr>
        <p:txBody>
          <a:bodyPr lIns="45719" rIns="45719"/>
          <a:lstStyle/>
          <a:p>
            <a:pPr/>
          </a:p>
        </p:txBody>
      </p:sp>
      <p:sp>
        <p:nvSpPr>
          <p:cNvPr id="171" name="Text 12"/>
          <p:cNvSpPr txBox="1"/>
          <p:nvPr/>
        </p:nvSpPr>
        <p:spPr>
          <a:xfrm>
            <a:off x="6217920" y="3055620"/>
            <a:ext cx="260604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1</a:t>
            </a:r>
          </a:p>
        </p:txBody>
      </p:sp>
      <p:sp>
        <p:nvSpPr>
          <p:cNvPr id="172" name="Text 13"/>
          <p:cNvSpPr txBox="1"/>
          <p:nvPr/>
        </p:nvSpPr>
        <p:spPr>
          <a:xfrm>
            <a:off x="6400800" y="3734707"/>
            <a:ext cx="2240280"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Pilot customer</a:t>
            </a:r>
          </a:p>
          <a:p>
            <a:pPr algn="ctr">
              <a:lnSpc>
                <a:spcPct val="130000"/>
              </a:lnSpc>
              <a:defRPr sz="1200">
                <a:solidFill>
                  <a:srgbClr val="FFFFFF"/>
                </a:solidFill>
              </a:defRPr>
            </a:pPr>
            <a:r>
              <a:t>in signature phase</a:t>
            </a:r>
          </a:p>
        </p:txBody>
      </p:sp>
      <p:sp>
        <p:nvSpPr>
          <p:cNvPr id="173" name="Text 14"/>
          <p:cNvSpPr txBox="1"/>
          <p:nvPr/>
        </p:nvSpPr>
        <p:spPr>
          <a:xfrm>
            <a:off x="6400800" y="4274864"/>
            <a:ext cx="22402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Pipeline</a:t>
            </a:r>
          </a:p>
        </p:txBody>
      </p:sp>
      <p:sp>
        <p:nvSpPr>
          <p:cNvPr id="174" name="Shape 15"/>
          <p:cNvSpPr/>
          <p:nvPr/>
        </p:nvSpPr>
        <p:spPr>
          <a:xfrm>
            <a:off x="0" y="4892040"/>
            <a:ext cx="9144000" cy="251460"/>
          </a:xfrm>
          <a:prstGeom prst="rect">
            <a:avLst/>
          </a:prstGeom>
          <a:solidFill>
            <a:srgbClr val="2A8A8A"/>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A8A8A"/>
        </a:solidFill>
      </p:bgPr>
    </p:bg>
    <p:spTree>
      <p:nvGrpSpPr>
        <p:cNvPr id="1" name=""/>
        <p:cNvGrpSpPr/>
        <p:nvPr/>
      </p:nvGrpSpPr>
      <p:grpSpPr>
        <a:xfrm>
          <a:off x="0" y="0"/>
          <a:ext cx="0" cy="0"/>
          <a:chOff x="0" y="0"/>
          <a:chExt cx="0" cy="0"/>
        </a:xfrm>
      </p:grpSpPr>
      <p:pic>
        <p:nvPicPr>
          <p:cNvPr id="176" name="Image 0" descr="Image 0"/>
          <p:cNvPicPr>
            <a:picLocks noChangeAspect="1"/>
          </p:cNvPicPr>
          <p:nvPr/>
        </p:nvPicPr>
        <p:blipFill>
          <a:blip r:embed="rId2">
            <a:extLst/>
          </a:blip>
          <a:stretch>
            <a:fillRect/>
          </a:stretch>
        </p:blipFill>
        <p:spPr>
          <a:xfrm>
            <a:off x="3886200" y="548640"/>
            <a:ext cx="1371600" cy="1371601"/>
          </a:xfrm>
          <a:prstGeom prst="rect">
            <a:avLst/>
          </a:prstGeom>
          <a:ln w="12700">
            <a:miter lim="400000"/>
          </a:ln>
        </p:spPr>
      </p:pic>
      <p:sp>
        <p:nvSpPr>
          <p:cNvPr id="177" name="Text 0"/>
          <p:cNvSpPr txBox="1"/>
          <p:nvPr/>
        </p:nvSpPr>
        <p:spPr>
          <a:xfrm>
            <a:off x="914400" y="2041524"/>
            <a:ext cx="7315200" cy="10375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3400">
                <a:solidFill>
                  <a:srgbClr val="FFFFFF"/>
                </a:solidFill>
                <a:latin typeface="Georgia"/>
                <a:ea typeface="Georgia"/>
                <a:cs typeface="Georgia"/>
                <a:sym typeface="Georgia"/>
              </a:defRPr>
            </a:pPr>
            <a:r>
              <a:t>Ready to protect your</a:t>
            </a:r>
          </a:p>
          <a:p>
            <a:pPr algn="ctr">
              <a:lnSpc>
                <a:spcPct val="115000"/>
              </a:lnSpc>
              <a:defRPr b="1" sz="3400">
                <a:solidFill>
                  <a:srgbClr val="FFFFFF"/>
                </a:solidFill>
                <a:latin typeface="Georgia"/>
                <a:ea typeface="Georgia"/>
                <a:cs typeface="Georgia"/>
                <a:sym typeface="Georgia"/>
              </a:defRPr>
            </a:pPr>
            <a:r>
              <a:t>return on ad spend?</a:t>
            </a:r>
          </a:p>
        </p:txBody>
      </p:sp>
      <p:sp>
        <p:nvSpPr>
          <p:cNvPr id="178" name="Text 1"/>
          <p:cNvSpPr txBox="1"/>
          <p:nvPr/>
        </p:nvSpPr>
        <p:spPr>
          <a:xfrm>
            <a:off x="1371600" y="3335721"/>
            <a:ext cx="64008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FFFFF"/>
                </a:solidFill>
              </a:defRPr>
            </a:lvl1pPr>
          </a:lstStyle>
          <a:p>
            <a:pPr/>
            <a:r>
              <a:t>See where you're wasting budget. Get full visibility in 90 days.</a:t>
            </a:r>
          </a:p>
        </p:txBody>
      </p:sp>
      <p:sp>
        <p:nvSpPr>
          <p:cNvPr id="179" name="Shape 2"/>
          <p:cNvSpPr/>
          <p:nvPr/>
        </p:nvSpPr>
        <p:spPr>
          <a:xfrm>
            <a:off x="3200400" y="3840479"/>
            <a:ext cx="2743200" cy="502920"/>
          </a:xfrm>
          <a:prstGeom prst="rect">
            <a:avLst/>
          </a:prstGeom>
          <a:solidFill>
            <a:srgbClr val="FFFFFF"/>
          </a:solidFill>
          <a:ln w="12700">
            <a:miter lim="400000"/>
          </a:ln>
        </p:spPr>
        <p:txBody>
          <a:bodyPr lIns="45719" rIns="45719"/>
          <a:lstStyle/>
          <a:p>
            <a:pPr/>
          </a:p>
        </p:txBody>
      </p:sp>
      <p:sp>
        <p:nvSpPr>
          <p:cNvPr id="180" name="Text 3"/>
          <p:cNvSpPr txBox="1"/>
          <p:nvPr/>
        </p:nvSpPr>
        <p:spPr>
          <a:xfrm>
            <a:off x="3200400" y="3987362"/>
            <a:ext cx="2743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A8A8A"/>
                </a:solidFill>
              </a:defRPr>
            </a:lvl1pPr>
          </a:lstStyle>
          <a:p>
            <a:pPr/>
            <a:r>
              <a:t>Book a Demo</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