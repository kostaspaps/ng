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5.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0.png"/><Relationship Id="rId4" Type="http://schemas.openxmlformats.org/officeDocument/2006/relationships/image" Target="../media/image19.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0.png"/><Relationship Id="rId4" Type="http://schemas.openxmlformats.org/officeDocument/2006/relationships/image" Target="../media/image20.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 Id="rId3" Type="http://schemas.openxmlformats.org/officeDocument/2006/relationships/image" Target="../media/image18.png"/><Relationship Id="rId4" Type="http://schemas.openxmlformats.org/officeDocument/2006/relationships/image" Target="../media/image22.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 Id="rId3" Type="http://schemas.openxmlformats.org/officeDocument/2006/relationships/image" Target="../media/image18.png"/><Relationship Id="rId4" Type="http://schemas.openxmlformats.org/officeDocument/2006/relationships/image" Target="../media/image24.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20" name="Shape 0"/>
          <p:cNvSpPr/>
          <p:nvPr/>
        </p:nvSpPr>
        <p:spPr>
          <a:xfrm>
            <a:off x="0" y="4983479"/>
            <a:ext cx="9144000" cy="160021"/>
          </a:xfrm>
          <a:prstGeom prst="rect">
            <a:avLst/>
          </a:prstGeom>
          <a:solidFill>
            <a:srgbClr val="3ECDC4"/>
          </a:solidFill>
          <a:ln w="12700">
            <a:miter lim="400000"/>
          </a:ln>
        </p:spPr>
        <p:txBody>
          <a:bodyPr lIns="45719" rIns="45719"/>
          <a:lstStyle/>
          <a:p>
            <a:pPr/>
          </a:p>
        </p:txBody>
      </p:sp>
      <p:sp>
        <p:nvSpPr>
          <p:cNvPr id="21" name="Text 2"/>
          <p:cNvSpPr txBox="1"/>
          <p:nvPr/>
        </p:nvSpPr>
        <p:spPr>
          <a:xfrm>
            <a:off x="640080" y="1602739"/>
            <a:ext cx="7315201"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400">
                <a:solidFill>
                  <a:srgbClr val="FFFFFF"/>
                </a:solidFill>
                <a:latin typeface="Georgia"/>
                <a:ea typeface="Georgia"/>
                <a:cs typeface="Georgia"/>
                <a:sym typeface="Georgia"/>
              </a:defRPr>
            </a:lvl1pPr>
          </a:lstStyle>
          <a:p>
            <a:pPr/>
            <a:r>
              <a:t>Why we're here.</a:t>
            </a:r>
          </a:p>
        </p:txBody>
      </p:sp>
      <p:pic>
        <p:nvPicPr>
          <p:cNvPr id="22" name="Image 0" descr="Image 0"/>
          <p:cNvPicPr>
            <a:picLocks noChangeAspect="1"/>
          </p:cNvPicPr>
          <p:nvPr/>
        </p:nvPicPr>
        <p:blipFill>
          <a:blip r:embed="rId2">
            <a:extLst/>
          </a:blip>
          <a:stretch>
            <a:fillRect/>
          </a:stretch>
        </p:blipFill>
        <p:spPr>
          <a:xfrm>
            <a:off x="640080" y="2825495"/>
            <a:ext cx="256033" cy="256033"/>
          </a:xfrm>
          <a:prstGeom prst="rect">
            <a:avLst/>
          </a:prstGeom>
          <a:ln w="12700">
            <a:miter lim="400000"/>
          </a:ln>
        </p:spPr>
      </p:pic>
      <p:sp>
        <p:nvSpPr>
          <p:cNvPr id="23" name="Text 3"/>
          <p:cNvSpPr txBox="1"/>
          <p:nvPr/>
        </p:nvSpPr>
        <p:spPr>
          <a:xfrm>
            <a:off x="1051560" y="2850248"/>
            <a:ext cx="68580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CBD5E1"/>
                </a:solidFill>
                <a:latin typeface="Arial"/>
                <a:ea typeface="Arial"/>
                <a:cs typeface="Arial"/>
                <a:sym typeface="Arial"/>
              </a:defRPr>
            </a:lvl1pPr>
          </a:lstStyle>
          <a:p>
            <a:pPr/>
            <a:r>
              <a:t>We're not here to pitch a tool &amp; fix all your problems</a:t>
            </a:r>
          </a:p>
        </p:txBody>
      </p:sp>
      <p:pic>
        <p:nvPicPr>
          <p:cNvPr id="24" name="Image 1" descr="Image 1"/>
          <p:cNvPicPr>
            <a:picLocks noChangeAspect="1"/>
          </p:cNvPicPr>
          <p:nvPr/>
        </p:nvPicPr>
        <p:blipFill>
          <a:blip r:embed="rId3">
            <a:extLst/>
          </a:blip>
          <a:stretch>
            <a:fillRect/>
          </a:stretch>
        </p:blipFill>
        <p:spPr>
          <a:xfrm>
            <a:off x="640080" y="3282696"/>
            <a:ext cx="256033" cy="256033"/>
          </a:xfrm>
          <a:prstGeom prst="rect">
            <a:avLst/>
          </a:prstGeom>
          <a:ln w="12700">
            <a:miter lim="400000"/>
          </a:ln>
        </p:spPr>
      </p:pic>
      <p:sp>
        <p:nvSpPr>
          <p:cNvPr id="25" name="Text 4"/>
          <p:cNvSpPr txBox="1"/>
          <p:nvPr/>
        </p:nvSpPr>
        <p:spPr>
          <a:xfrm>
            <a:off x="1051560" y="3307448"/>
            <a:ext cx="68580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CBD5E1"/>
                </a:solidFill>
                <a:latin typeface="Arial"/>
                <a:ea typeface="Arial"/>
                <a:cs typeface="Arial"/>
                <a:sym typeface="Arial"/>
              </a:defRPr>
            </a:lvl1pPr>
          </a:lstStyle>
          <a:p>
            <a:pPr/>
            <a:r>
              <a:t>We're here to understand your current state and see if we can help</a:t>
            </a:r>
          </a:p>
        </p:txBody>
      </p:sp>
      <p:pic>
        <p:nvPicPr>
          <p:cNvPr id="26" name="Image 2" descr="Image 2"/>
          <p:cNvPicPr>
            <a:picLocks noChangeAspect="1"/>
          </p:cNvPicPr>
          <p:nvPr/>
        </p:nvPicPr>
        <p:blipFill>
          <a:blip r:embed="rId4">
            <a:extLst/>
          </a:blip>
          <a:stretch>
            <a:fillRect/>
          </a:stretch>
        </p:blipFill>
        <p:spPr>
          <a:xfrm>
            <a:off x="640080" y="3739896"/>
            <a:ext cx="256033" cy="256033"/>
          </a:xfrm>
          <a:prstGeom prst="rect">
            <a:avLst/>
          </a:prstGeom>
          <a:ln w="12700">
            <a:miter lim="400000"/>
          </a:ln>
        </p:spPr>
      </p:pic>
      <p:sp>
        <p:nvSpPr>
          <p:cNvPr id="27" name="Text 5"/>
          <p:cNvSpPr txBox="1"/>
          <p:nvPr/>
        </p:nvSpPr>
        <p:spPr>
          <a:xfrm>
            <a:off x="1051560" y="3764648"/>
            <a:ext cx="68580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CBD5E1"/>
                </a:solidFill>
                <a:latin typeface="Arial"/>
                <a:ea typeface="Arial"/>
                <a:cs typeface="Arial"/>
                <a:sym typeface="Arial"/>
              </a:defRPr>
            </a:lvl1pPr>
          </a:lstStyle>
          <a:p>
            <a:pPr/>
            <a:r>
              <a:t>We have experience in fixing the foundation that's blocking</a:t>
            </a:r>
          </a:p>
        </p:txBody>
      </p:sp>
      <p:pic>
        <p:nvPicPr>
          <p:cNvPr id="28" name="Image 3" descr="Image 3"/>
          <p:cNvPicPr>
            <a:picLocks noChangeAspect="1"/>
          </p:cNvPicPr>
          <p:nvPr/>
        </p:nvPicPr>
        <p:blipFill>
          <a:blip r:embed="rId5">
            <a:extLst/>
          </a:blip>
          <a:stretch>
            <a:fillRect/>
          </a:stretch>
        </p:blipFill>
        <p:spPr>
          <a:xfrm>
            <a:off x="640080" y="4197096"/>
            <a:ext cx="256033" cy="256033"/>
          </a:xfrm>
          <a:prstGeom prst="rect">
            <a:avLst/>
          </a:prstGeom>
          <a:ln w="12700">
            <a:miter lim="400000"/>
          </a:ln>
        </p:spPr>
      </p:pic>
      <p:sp>
        <p:nvSpPr>
          <p:cNvPr id="29" name="Text 6"/>
          <p:cNvSpPr txBox="1"/>
          <p:nvPr/>
        </p:nvSpPr>
        <p:spPr>
          <a:xfrm>
            <a:off x="1051560" y="4221848"/>
            <a:ext cx="68580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400">
                <a:solidFill>
                  <a:srgbClr val="CBD5E1"/>
                </a:solidFill>
                <a:latin typeface="Arial"/>
                <a:ea typeface="Arial"/>
                <a:cs typeface="Arial"/>
                <a:sym typeface="Arial"/>
              </a:defRPr>
            </a:lvl1pPr>
          </a:lstStyle>
          <a:p>
            <a:pPr/>
            <a:r>
              <a:t>If there's no fit, we'll say it.</a:t>
            </a:r>
          </a:p>
        </p:txBody>
      </p:sp>
      <p:pic>
        <p:nvPicPr>
          <p:cNvPr id="30" name="Image 0" descr="Image 0"/>
          <p:cNvPicPr>
            <a:picLocks noChangeAspect="1"/>
          </p:cNvPicPr>
          <p:nvPr/>
        </p:nvPicPr>
        <p:blipFill>
          <a:blip r:embed="rId6">
            <a:extLst/>
          </a:blip>
          <a:stretch>
            <a:fillRect/>
          </a:stretch>
        </p:blipFill>
        <p:spPr>
          <a:xfrm>
            <a:off x="640080" y="457200"/>
            <a:ext cx="548641" cy="621792"/>
          </a:xfrm>
          <a:prstGeom prst="rect">
            <a:avLst/>
          </a:prstGeom>
          <a:ln w="12700">
            <a:miter lim="400000"/>
          </a:ln>
        </p:spPr>
      </p:pic>
      <p:sp>
        <p:nvSpPr>
          <p:cNvPr id="31" name="LUPE"/>
          <p:cNvSpPr txBox="1"/>
          <p:nvPr/>
        </p:nvSpPr>
        <p:spPr>
          <a:xfrm>
            <a:off x="1328773" y="582676"/>
            <a:ext cx="875893" cy="3708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a:solidFill>
                  <a:srgbClr val="FFFFFF"/>
                </a:solidFill>
                <a:latin typeface="BrunoAce-Regular"/>
                <a:ea typeface="BrunoAce-Regular"/>
                <a:cs typeface="BrunoAce-Regular"/>
                <a:sym typeface="BrunoAce-Regular"/>
              </a:defRPr>
            </a:lvl1pPr>
          </a:lstStyle>
          <a:p>
            <a:pPr/>
            <a:r>
              <a:t>LUPE</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33" name="Text 0"/>
          <p:cNvSpPr txBox="1"/>
          <p:nvPr/>
        </p:nvSpPr>
        <p:spPr>
          <a:xfrm>
            <a:off x="731519" y="480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3AADAD"/>
                </a:solidFill>
              </a:defRPr>
            </a:lvl1pPr>
          </a:lstStyle>
          <a:p>
            <a:pPr/>
            <a:r>
              <a:t>WHO WE ARE</a:t>
            </a:r>
          </a:p>
        </p:txBody>
      </p:sp>
      <p:sp>
        <p:nvSpPr>
          <p:cNvPr id="34" name="Text 1"/>
          <p:cNvSpPr txBox="1"/>
          <p:nvPr/>
        </p:nvSpPr>
        <p:spPr>
          <a:xfrm>
            <a:off x="731520" y="847407"/>
            <a:ext cx="7680960" cy="68262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200">
                <a:solidFill>
                  <a:srgbClr val="FFFFFF"/>
                </a:solidFill>
                <a:latin typeface="Georgia"/>
                <a:ea typeface="Georgia"/>
                <a:cs typeface="Georgia"/>
                <a:sym typeface="Georgia"/>
              </a:defRPr>
            </a:pPr>
            <a:r>
              <a:t>Lupe - Built from real problems.</a:t>
            </a:r>
          </a:p>
          <a:p>
            <a:pPr>
              <a:lnSpc>
                <a:spcPct val="115000"/>
              </a:lnSpc>
              <a:defRPr b="1" sz="2200">
                <a:solidFill>
                  <a:srgbClr val="FFFFFF"/>
                </a:solidFill>
                <a:latin typeface="Georgia"/>
                <a:ea typeface="Georgia"/>
                <a:cs typeface="Georgia"/>
                <a:sym typeface="Georgia"/>
              </a:defRPr>
            </a:pPr>
            <a:r>
              <a:t>Real data. Real integrations.</a:t>
            </a:r>
          </a:p>
        </p:txBody>
      </p:sp>
      <p:sp>
        <p:nvSpPr>
          <p:cNvPr id="35" name="Text 2"/>
          <p:cNvSpPr txBox="1"/>
          <p:nvPr/>
        </p:nvSpPr>
        <p:spPr>
          <a:xfrm>
            <a:off x="731520" y="1847195"/>
            <a:ext cx="7680960" cy="6947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200">
                <a:solidFill>
                  <a:srgbClr val="8895A7"/>
                </a:solidFill>
              </a:defRPr>
            </a:lvl1pPr>
          </a:lstStyle>
          <a:p>
            <a:pPr/>
            <a:r>
              <a:t>Kostas and Claudia spent five years at Popcore as BI Director and VP Technology, building the data platform that powered Popcore's growth. After the acquisition by Rollic (Zynga/Take-Two), we handled the full data integration into their centralized systems.</a:t>
            </a:r>
          </a:p>
        </p:txBody>
      </p:sp>
      <p:sp>
        <p:nvSpPr>
          <p:cNvPr id="36" name="Text 3"/>
          <p:cNvSpPr txBox="1"/>
          <p:nvPr/>
        </p:nvSpPr>
        <p:spPr>
          <a:xfrm>
            <a:off x="731520" y="2804621"/>
            <a:ext cx="7680960" cy="4257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200">
                <a:solidFill>
                  <a:srgbClr val="8895A7"/>
                </a:solidFill>
              </a:defRPr>
            </a:lvl1pPr>
          </a:lstStyle>
          <a:p>
            <a:pPr/>
            <a:r>
              <a:t>That experience led to Lupe. We started working with mobile app publishers, building SSOT data infrastructure, custom user-level attribution models, and forecasting. Our product was built on real problems and real data.</a:t>
            </a:r>
          </a:p>
        </p:txBody>
      </p:sp>
      <p:sp>
        <p:nvSpPr>
          <p:cNvPr id="37" name="Text 4"/>
          <p:cNvSpPr txBox="1"/>
          <p:nvPr/>
        </p:nvSpPr>
        <p:spPr>
          <a:xfrm>
            <a:off x="731520" y="3581861"/>
            <a:ext cx="7680960" cy="42579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200">
                <a:solidFill>
                  <a:srgbClr val="FFFFFF"/>
                </a:solidFill>
              </a:defRPr>
            </a:lvl1pPr>
          </a:lstStyle>
          <a:p>
            <a:pPr/>
            <a:r>
              <a:t>In AI times, AI-ready data is the core to build tooling on top. And we saw that everyone has the same problems: fragmented data stacks and disconnected insights.</a:t>
            </a:r>
          </a:p>
        </p:txBody>
      </p:sp>
      <p:sp>
        <p:nvSpPr>
          <p:cNvPr id="38" name="Shape 5"/>
          <p:cNvSpPr/>
          <p:nvPr/>
        </p:nvSpPr>
        <p:spPr>
          <a:xfrm>
            <a:off x="0" y="4892040"/>
            <a:ext cx="9144000" cy="251460"/>
          </a:xfrm>
          <a:prstGeom prst="rect">
            <a:avLst/>
          </a:prstGeom>
          <a:solidFill>
            <a:srgbClr val="2A8A8A"/>
          </a:solidFill>
          <a:ln w="12700">
            <a:miter lim="400000"/>
          </a:ln>
        </p:spPr>
        <p:txBody>
          <a:bodyPr lIns="45718" tIns="45718" rIns="45718" bIns="45718"/>
          <a:lstStyle/>
          <a:p>
            <a:pP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7"/>
        </a:solidFill>
      </p:bgPr>
    </p:bg>
    <p:spTree>
      <p:nvGrpSpPr>
        <p:cNvPr id="1" name=""/>
        <p:cNvGrpSpPr/>
        <p:nvPr/>
      </p:nvGrpSpPr>
      <p:grpSpPr>
        <a:xfrm>
          <a:off x="0" y="0"/>
          <a:ext cx="0" cy="0"/>
          <a:chOff x="0" y="0"/>
          <a:chExt cx="0" cy="0"/>
        </a:xfrm>
      </p:grpSpPr>
      <p:sp>
        <p:nvSpPr>
          <p:cNvPr id="40" name="Text 0"/>
          <p:cNvSpPr txBox="1"/>
          <p:nvPr/>
        </p:nvSpPr>
        <p:spPr>
          <a:xfrm>
            <a:off x="640080" y="497585"/>
            <a:ext cx="365760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3ECDC4"/>
                </a:solidFill>
                <a:latin typeface="Arial"/>
                <a:ea typeface="Arial"/>
                <a:cs typeface="Arial"/>
                <a:sym typeface="Arial"/>
              </a:defRPr>
            </a:lvl1pPr>
          </a:lstStyle>
          <a:p>
            <a:pPr/>
            <a:r>
              <a:t>YOUR SITUATION</a:t>
            </a:r>
          </a:p>
        </p:txBody>
      </p:sp>
      <p:sp>
        <p:nvSpPr>
          <p:cNvPr id="41" name="Text 1"/>
          <p:cNvSpPr txBox="1"/>
          <p:nvPr/>
        </p:nvSpPr>
        <p:spPr>
          <a:xfrm>
            <a:off x="640080" y="751839"/>
            <a:ext cx="7772401" cy="965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400">
                <a:solidFill>
                  <a:srgbClr val="1A2332"/>
                </a:solidFill>
                <a:latin typeface="Georgia"/>
                <a:ea typeface="Georgia"/>
                <a:cs typeface="Georgia"/>
                <a:sym typeface="Georgia"/>
              </a:defRPr>
            </a:pPr>
            <a:r>
              <a:t>What we understand so far.</a:t>
            </a:r>
          </a:p>
          <a:p>
            <a:pPr>
              <a:defRPr b="1" sz="3400">
                <a:solidFill>
                  <a:srgbClr val="1A2332"/>
                </a:solidFill>
                <a:latin typeface="Georgia"/>
                <a:ea typeface="Georgia"/>
                <a:cs typeface="Georgia"/>
                <a:sym typeface="Georgia"/>
              </a:defRPr>
            </a:pPr>
            <a:r>
              <a:t>Correct us.</a:t>
            </a:r>
          </a:p>
        </p:txBody>
      </p:sp>
      <p:sp>
        <p:nvSpPr>
          <p:cNvPr id="42" name="Shape 2"/>
          <p:cNvSpPr/>
          <p:nvPr/>
        </p:nvSpPr>
        <p:spPr>
          <a:xfrm>
            <a:off x="457199" y="1920239"/>
            <a:ext cx="3749042" cy="2651761"/>
          </a:xfrm>
          <a:prstGeom prst="rect">
            <a:avLst/>
          </a:prstGeom>
          <a:solidFill>
            <a:srgbClr val="FFFFFF"/>
          </a:solidFill>
          <a:ln w="12700">
            <a:miter lim="400000"/>
          </a:ln>
          <a:effectLst>
            <a:outerShdw sx="100000" sy="100000" kx="0" ky="0" algn="b" rotWithShape="0" blurRad="101600" dist="38100" dir="8100000">
              <a:srgbClr val="000000">
                <a:alpha val="20000"/>
              </a:srgbClr>
            </a:outerShdw>
          </a:effectLst>
        </p:spPr>
        <p:txBody>
          <a:bodyPr lIns="45719" rIns="45719"/>
          <a:lstStyle/>
          <a:p>
            <a:pPr/>
          </a:p>
        </p:txBody>
      </p:sp>
      <p:sp>
        <p:nvSpPr>
          <p:cNvPr id="43" name="Shape 3"/>
          <p:cNvSpPr/>
          <p:nvPr/>
        </p:nvSpPr>
        <p:spPr>
          <a:xfrm>
            <a:off x="457199" y="1920239"/>
            <a:ext cx="3749042" cy="54865"/>
          </a:xfrm>
          <a:prstGeom prst="rect">
            <a:avLst/>
          </a:prstGeom>
          <a:solidFill>
            <a:srgbClr val="F97066"/>
          </a:solidFill>
          <a:ln w="12700">
            <a:miter lim="400000"/>
          </a:ln>
        </p:spPr>
        <p:txBody>
          <a:bodyPr lIns="45719" rIns="45719"/>
          <a:lstStyle/>
          <a:p>
            <a:pPr/>
          </a:p>
        </p:txBody>
      </p:sp>
      <p:sp>
        <p:nvSpPr>
          <p:cNvPr id="44" name="Text 4"/>
          <p:cNvSpPr txBox="1"/>
          <p:nvPr/>
        </p:nvSpPr>
        <p:spPr>
          <a:xfrm>
            <a:off x="685799" y="2158306"/>
            <a:ext cx="3291842"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A2332"/>
                </a:solidFill>
                <a:latin typeface="Arial"/>
                <a:ea typeface="Arial"/>
                <a:cs typeface="Arial"/>
                <a:sym typeface="Arial"/>
              </a:defRPr>
            </a:lvl1pPr>
          </a:lstStyle>
          <a:p>
            <a:pPr/>
            <a:r>
              <a:t>User Acquisition &amp; Data</a:t>
            </a:r>
          </a:p>
        </p:txBody>
      </p:sp>
      <p:pic>
        <p:nvPicPr>
          <p:cNvPr id="45" name="Image 0" descr="Image 0"/>
          <p:cNvPicPr>
            <a:picLocks noChangeAspect="1"/>
          </p:cNvPicPr>
          <p:nvPr/>
        </p:nvPicPr>
        <p:blipFill>
          <a:blip r:embed="rId2">
            <a:extLst/>
          </a:blip>
          <a:stretch>
            <a:fillRect/>
          </a:stretch>
        </p:blipFill>
        <p:spPr>
          <a:xfrm>
            <a:off x="731519" y="2532888"/>
            <a:ext cx="182881" cy="182881"/>
          </a:xfrm>
          <a:prstGeom prst="rect">
            <a:avLst/>
          </a:prstGeom>
          <a:ln w="12700">
            <a:miter lim="400000"/>
          </a:ln>
        </p:spPr>
      </p:pic>
      <p:sp>
        <p:nvSpPr>
          <p:cNvPr id="46" name="Text 5"/>
          <p:cNvSpPr txBox="1"/>
          <p:nvPr/>
        </p:nvSpPr>
        <p:spPr>
          <a:xfrm>
            <a:off x="1005839" y="2480863"/>
            <a:ext cx="3017522" cy="4149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75569"/>
                </a:solidFill>
                <a:latin typeface="Arial"/>
                <a:ea typeface="Arial"/>
                <a:cs typeface="Arial"/>
                <a:sym typeface="Arial"/>
              </a:defRPr>
            </a:lvl1pPr>
          </a:lstStyle>
          <a:p>
            <a:pPr/>
            <a:r>
              <a:t>High UA spend (mainly non-sans like Applovin, Mistral, some Meta)</a:t>
            </a:r>
          </a:p>
        </p:txBody>
      </p:sp>
      <p:pic>
        <p:nvPicPr>
          <p:cNvPr id="47" name="Image 1" descr="Image 1"/>
          <p:cNvPicPr>
            <a:picLocks noChangeAspect="1"/>
          </p:cNvPicPr>
          <p:nvPr/>
        </p:nvPicPr>
        <p:blipFill>
          <a:blip r:embed="rId2">
            <a:extLst/>
          </a:blip>
          <a:stretch>
            <a:fillRect/>
          </a:stretch>
        </p:blipFill>
        <p:spPr>
          <a:xfrm>
            <a:off x="731519" y="2898648"/>
            <a:ext cx="182881" cy="182881"/>
          </a:xfrm>
          <a:prstGeom prst="rect">
            <a:avLst/>
          </a:prstGeom>
          <a:ln w="12700">
            <a:miter lim="400000"/>
          </a:ln>
        </p:spPr>
      </p:pic>
      <p:sp>
        <p:nvSpPr>
          <p:cNvPr id="48" name="Text 6"/>
          <p:cNvSpPr txBox="1"/>
          <p:nvPr/>
        </p:nvSpPr>
        <p:spPr>
          <a:xfrm>
            <a:off x="1005839" y="2916473"/>
            <a:ext cx="3017522" cy="275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75569"/>
                </a:solidFill>
                <a:latin typeface="Arial"/>
                <a:ea typeface="Arial"/>
                <a:cs typeface="Arial"/>
                <a:sym typeface="Arial"/>
              </a:defRPr>
            </a:lvl1pPr>
          </a:lstStyle>
          <a:p>
            <a:pPr/>
            <a:r>
              <a:t>No reliable user-level view across spend + revenue + payouts</a:t>
            </a:r>
          </a:p>
        </p:txBody>
      </p:sp>
      <p:pic>
        <p:nvPicPr>
          <p:cNvPr id="49" name="Image 2" descr="Image 2"/>
          <p:cNvPicPr>
            <a:picLocks noChangeAspect="1"/>
          </p:cNvPicPr>
          <p:nvPr/>
        </p:nvPicPr>
        <p:blipFill>
          <a:blip r:embed="rId2">
            <a:extLst/>
          </a:blip>
          <a:stretch>
            <a:fillRect/>
          </a:stretch>
        </p:blipFill>
        <p:spPr>
          <a:xfrm>
            <a:off x="731519" y="3264408"/>
            <a:ext cx="182881" cy="182881"/>
          </a:xfrm>
          <a:prstGeom prst="rect">
            <a:avLst/>
          </a:prstGeom>
          <a:ln w="12700">
            <a:miter lim="400000"/>
          </a:ln>
        </p:spPr>
      </p:pic>
      <p:sp>
        <p:nvSpPr>
          <p:cNvPr id="50" name="Text 7"/>
          <p:cNvSpPr txBox="1"/>
          <p:nvPr/>
        </p:nvSpPr>
        <p:spPr>
          <a:xfrm>
            <a:off x="1005839" y="3352083"/>
            <a:ext cx="3017522"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75569"/>
                </a:solidFill>
                <a:latin typeface="Arial"/>
                <a:ea typeface="Arial"/>
                <a:cs typeface="Arial"/>
                <a:sym typeface="Arial"/>
              </a:defRPr>
            </a:lvl1pPr>
          </a:lstStyle>
          <a:p>
            <a:pPr/>
            <a:r>
              <a:t>No consistent definitions (ROAS, LTV, etc.)</a:t>
            </a:r>
          </a:p>
        </p:txBody>
      </p:sp>
      <p:pic>
        <p:nvPicPr>
          <p:cNvPr id="51" name="Image 3" descr="Image 3"/>
          <p:cNvPicPr>
            <a:picLocks noChangeAspect="1"/>
          </p:cNvPicPr>
          <p:nvPr/>
        </p:nvPicPr>
        <p:blipFill>
          <a:blip r:embed="rId2">
            <a:extLst/>
          </a:blip>
          <a:stretch>
            <a:fillRect/>
          </a:stretch>
        </p:blipFill>
        <p:spPr>
          <a:xfrm>
            <a:off x="731519" y="3630167"/>
            <a:ext cx="182881" cy="182881"/>
          </a:xfrm>
          <a:prstGeom prst="rect">
            <a:avLst/>
          </a:prstGeom>
          <a:ln w="12700">
            <a:miter lim="400000"/>
          </a:ln>
        </p:spPr>
      </p:pic>
      <p:sp>
        <p:nvSpPr>
          <p:cNvPr id="52" name="Text 8"/>
          <p:cNvSpPr txBox="1"/>
          <p:nvPr/>
        </p:nvSpPr>
        <p:spPr>
          <a:xfrm>
            <a:off x="1005839" y="3647993"/>
            <a:ext cx="3017522" cy="275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75569"/>
                </a:solidFill>
                <a:latin typeface="Arial"/>
                <a:ea typeface="Arial"/>
                <a:cs typeface="Arial"/>
                <a:sym typeface="Arial"/>
              </a:defRPr>
            </a:lvl1pPr>
          </a:lstStyle>
          <a:p>
            <a:pPr/>
            <a:r>
              <a:t>Reporting not decision-grade for daily budget allocation</a:t>
            </a:r>
          </a:p>
        </p:txBody>
      </p:sp>
      <p:pic>
        <p:nvPicPr>
          <p:cNvPr id="53" name="Image 4" descr="Image 4"/>
          <p:cNvPicPr>
            <a:picLocks noChangeAspect="1"/>
          </p:cNvPicPr>
          <p:nvPr/>
        </p:nvPicPr>
        <p:blipFill>
          <a:blip r:embed="rId2">
            <a:extLst/>
          </a:blip>
          <a:stretch>
            <a:fillRect/>
          </a:stretch>
        </p:blipFill>
        <p:spPr>
          <a:xfrm>
            <a:off x="731519" y="3995928"/>
            <a:ext cx="182881" cy="182881"/>
          </a:xfrm>
          <a:prstGeom prst="rect">
            <a:avLst/>
          </a:prstGeom>
          <a:ln w="12700">
            <a:miter lim="400000"/>
          </a:ln>
        </p:spPr>
      </p:pic>
      <p:sp>
        <p:nvSpPr>
          <p:cNvPr id="54" name="Text 9"/>
          <p:cNvSpPr txBox="1"/>
          <p:nvPr/>
        </p:nvSpPr>
        <p:spPr>
          <a:xfrm>
            <a:off x="1005839" y="4083603"/>
            <a:ext cx="3017522"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75569"/>
                </a:solidFill>
                <a:latin typeface="Arial"/>
                <a:ea typeface="Arial"/>
                <a:cs typeface="Arial"/>
                <a:sym typeface="Arial"/>
              </a:defRPr>
            </a:lvl1pPr>
          </a:lstStyle>
          <a:p>
            <a:pPr/>
            <a:r>
              <a:t>Heavy manual work, analyst dependency</a:t>
            </a:r>
          </a:p>
        </p:txBody>
      </p:sp>
      <p:sp>
        <p:nvSpPr>
          <p:cNvPr id="55" name="Shape 10"/>
          <p:cNvSpPr/>
          <p:nvPr/>
        </p:nvSpPr>
        <p:spPr>
          <a:xfrm>
            <a:off x="4572000" y="1920239"/>
            <a:ext cx="4114800" cy="2651761"/>
          </a:xfrm>
          <a:prstGeom prst="rect">
            <a:avLst/>
          </a:prstGeom>
          <a:solidFill>
            <a:srgbClr val="FFFFFF"/>
          </a:solidFill>
          <a:ln w="12700">
            <a:miter lim="400000"/>
          </a:ln>
          <a:effectLst>
            <a:outerShdw sx="100000" sy="100000" kx="0" ky="0" algn="b" rotWithShape="0" blurRad="101600" dist="38100" dir="8100000">
              <a:srgbClr val="000000">
                <a:alpha val="20000"/>
              </a:srgbClr>
            </a:outerShdw>
          </a:effectLst>
        </p:spPr>
        <p:txBody>
          <a:bodyPr lIns="45719" rIns="45719"/>
          <a:lstStyle/>
          <a:p>
            <a:pPr/>
          </a:p>
        </p:txBody>
      </p:sp>
      <p:sp>
        <p:nvSpPr>
          <p:cNvPr id="56" name="Shape 11"/>
          <p:cNvSpPr/>
          <p:nvPr/>
        </p:nvSpPr>
        <p:spPr>
          <a:xfrm>
            <a:off x="4572000" y="1920239"/>
            <a:ext cx="4114800" cy="54865"/>
          </a:xfrm>
          <a:prstGeom prst="rect">
            <a:avLst/>
          </a:prstGeom>
          <a:solidFill>
            <a:srgbClr val="3ECDC4"/>
          </a:solidFill>
          <a:ln w="12700">
            <a:miter lim="400000"/>
          </a:ln>
        </p:spPr>
        <p:txBody>
          <a:bodyPr lIns="45719" rIns="45719"/>
          <a:lstStyle/>
          <a:p>
            <a:pPr/>
          </a:p>
        </p:txBody>
      </p:sp>
      <p:sp>
        <p:nvSpPr>
          <p:cNvPr id="57" name="Text 12"/>
          <p:cNvSpPr txBox="1"/>
          <p:nvPr/>
        </p:nvSpPr>
        <p:spPr>
          <a:xfrm>
            <a:off x="4800600" y="2158306"/>
            <a:ext cx="3657600"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A2332"/>
                </a:solidFill>
                <a:latin typeface="Arial"/>
                <a:ea typeface="Arial"/>
                <a:cs typeface="Arial"/>
                <a:sym typeface="Arial"/>
              </a:defRPr>
            </a:lvl1pPr>
          </a:lstStyle>
          <a:p>
            <a:pPr/>
            <a:r>
              <a:t>Internal History &amp; NCSoft</a:t>
            </a:r>
          </a:p>
        </p:txBody>
      </p:sp>
      <p:pic>
        <p:nvPicPr>
          <p:cNvPr id="58" name="Image 5" descr="Image 5"/>
          <p:cNvPicPr>
            <a:picLocks noChangeAspect="1"/>
          </p:cNvPicPr>
          <p:nvPr/>
        </p:nvPicPr>
        <p:blipFill>
          <a:blip r:embed="rId3">
            <a:extLst/>
          </a:blip>
          <a:stretch>
            <a:fillRect/>
          </a:stretch>
        </p:blipFill>
        <p:spPr>
          <a:xfrm>
            <a:off x="4846320" y="2532888"/>
            <a:ext cx="182881" cy="182881"/>
          </a:xfrm>
          <a:prstGeom prst="rect">
            <a:avLst/>
          </a:prstGeom>
          <a:ln w="12700">
            <a:miter lim="400000"/>
          </a:ln>
        </p:spPr>
      </p:pic>
      <p:sp>
        <p:nvSpPr>
          <p:cNvPr id="59" name="Text 13"/>
          <p:cNvSpPr txBox="1"/>
          <p:nvPr/>
        </p:nvSpPr>
        <p:spPr>
          <a:xfrm>
            <a:off x="5120640" y="2620563"/>
            <a:ext cx="3383281"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75569"/>
                </a:solidFill>
                <a:latin typeface="Arial"/>
                <a:ea typeface="Arial"/>
                <a:cs typeface="Arial"/>
                <a:sym typeface="Arial"/>
              </a:defRPr>
            </a:lvl1pPr>
          </a:lstStyle>
          <a:p>
            <a:pPr/>
            <a:r>
              <a:t>NCSoft integration coming: requirements unclear</a:t>
            </a:r>
          </a:p>
        </p:txBody>
      </p:sp>
      <p:pic>
        <p:nvPicPr>
          <p:cNvPr id="60" name="Image 6" descr="Image 6"/>
          <p:cNvPicPr>
            <a:picLocks noChangeAspect="1"/>
          </p:cNvPicPr>
          <p:nvPr/>
        </p:nvPicPr>
        <p:blipFill>
          <a:blip r:embed="rId3">
            <a:extLst/>
          </a:blip>
          <a:stretch>
            <a:fillRect/>
          </a:stretch>
        </p:blipFill>
        <p:spPr>
          <a:xfrm>
            <a:off x="4846320" y="2898648"/>
            <a:ext cx="182881" cy="182881"/>
          </a:xfrm>
          <a:prstGeom prst="rect">
            <a:avLst/>
          </a:prstGeom>
          <a:ln w="12700">
            <a:miter lim="400000"/>
          </a:ln>
        </p:spPr>
      </p:pic>
      <p:sp>
        <p:nvSpPr>
          <p:cNvPr id="61" name="Text 14"/>
          <p:cNvSpPr txBox="1"/>
          <p:nvPr/>
        </p:nvSpPr>
        <p:spPr>
          <a:xfrm>
            <a:off x="5120640" y="2986323"/>
            <a:ext cx="3383281"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75569"/>
                </a:solidFill>
                <a:latin typeface="Arial"/>
                <a:ea typeface="Arial"/>
                <a:cs typeface="Arial"/>
                <a:sym typeface="Arial"/>
              </a:defRPr>
            </a:lvl1pPr>
          </a:lstStyle>
          <a:p>
            <a:pPr/>
            <a:r>
              <a:t>Increasing pressure to have clean, structured data</a:t>
            </a:r>
          </a:p>
        </p:txBody>
      </p:sp>
      <p:pic>
        <p:nvPicPr>
          <p:cNvPr id="62" name="Image 7" descr="Image 7"/>
          <p:cNvPicPr>
            <a:picLocks noChangeAspect="1"/>
          </p:cNvPicPr>
          <p:nvPr/>
        </p:nvPicPr>
        <p:blipFill>
          <a:blip r:embed="rId3">
            <a:extLst/>
          </a:blip>
          <a:stretch>
            <a:fillRect/>
          </a:stretch>
        </p:blipFill>
        <p:spPr>
          <a:xfrm>
            <a:off x="4846320" y="3264408"/>
            <a:ext cx="182881" cy="182881"/>
          </a:xfrm>
          <a:prstGeom prst="rect">
            <a:avLst/>
          </a:prstGeom>
          <a:ln w="12700">
            <a:miter lim="400000"/>
          </a:ln>
        </p:spPr>
      </p:pic>
      <p:sp>
        <p:nvSpPr>
          <p:cNvPr id="63" name="Text 15"/>
          <p:cNvSpPr txBox="1"/>
          <p:nvPr/>
        </p:nvSpPr>
        <p:spPr>
          <a:xfrm>
            <a:off x="5120640" y="3352083"/>
            <a:ext cx="3383281"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75569"/>
                </a:solidFill>
                <a:latin typeface="Arial"/>
                <a:ea typeface="Arial"/>
                <a:cs typeface="Arial"/>
                <a:sym typeface="Arial"/>
              </a:defRPr>
            </a:lvl1pPr>
          </a:lstStyle>
          <a:p>
            <a:pPr/>
            <a:r>
              <a:t>Current data team failed to deliver impact</a:t>
            </a:r>
          </a:p>
        </p:txBody>
      </p:sp>
      <p:pic>
        <p:nvPicPr>
          <p:cNvPr id="64" name="Image 8" descr="Image 8"/>
          <p:cNvPicPr>
            <a:picLocks noChangeAspect="1"/>
          </p:cNvPicPr>
          <p:nvPr/>
        </p:nvPicPr>
        <p:blipFill>
          <a:blip r:embed="rId3">
            <a:extLst/>
          </a:blip>
          <a:stretch>
            <a:fillRect/>
          </a:stretch>
        </p:blipFill>
        <p:spPr>
          <a:xfrm>
            <a:off x="4846320" y="3630167"/>
            <a:ext cx="182881" cy="182881"/>
          </a:xfrm>
          <a:prstGeom prst="rect">
            <a:avLst/>
          </a:prstGeom>
          <a:ln w="12700">
            <a:miter lim="400000"/>
          </a:ln>
        </p:spPr>
      </p:pic>
      <p:sp>
        <p:nvSpPr>
          <p:cNvPr id="65" name="Text 16"/>
          <p:cNvSpPr txBox="1"/>
          <p:nvPr/>
        </p:nvSpPr>
        <p:spPr>
          <a:xfrm>
            <a:off x="5120640" y="3717843"/>
            <a:ext cx="3383281"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475569"/>
                </a:solidFill>
                <a:latin typeface="Arial"/>
                <a:ea typeface="Arial"/>
                <a:cs typeface="Arial"/>
                <a:sym typeface="Arial"/>
              </a:defRPr>
            </a:lvl1pPr>
          </a:lstStyle>
          <a:p>
            <a:pPr/>
            <a:r>
              <a:t>Recently restructuring of current data team took place</a:t>
            </a:r>
          </a:p>
        </p:txBody>
      </p:sp>
      <p:sp>
        <p:nvSpPr>
          <p:cNvPr id="66" name="Text 18"/>
          <p:cNvSpPr txBox="1"/>
          <p:nvPr/>
        </p:nvSpPr>
        <p:spPr>
          <a:xfrm>
            <a:off x="457200" y="4767579"/>
            <a:ext cx="822960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2BA89F"/>
                </a:solidFill>
                <a:latin typeface="Georgia"/>
                <a:ea typeface="Georgia"/>
                <a:cs typeface="Georgia"/>
                <a:sym typeface="Georgia"/>
              </a:defRPr>
            </a:lvl1pPr>
          </a:lstStyle>
          <a:p>
            <a:pPr/>
            <a:r>
              <a:t>Where is this wrong or incomplete?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68" name="Shape 0"/>
          <p:cNvSpPr/>
          <p:nvPr/>
        </p:nvSpPr>
        <p:spPr>
          <a:xfrm>
            <a:off x="0" y="4892040"/>
            <a:ext cx="9144000" cy="256033"/>
          </a:xfrm>
          <a:prstGeom prst="rect">
            <a:avLst/>
          </a:prstGeom>
          <a:solidFill>
            <a:srgbClr val="2A8A8A"/>
          </a:solidFill>
          <a:ln w="12700">
            <a:miter lim="400000"/>
          </a:ln>
        </p:spPr>
        <p:txBody>
          <a:bodyPr lIns="45719" rIns="45719"/>
          <a:lstStyle/>
          <a:p>
            <a:pPr/>
          </a:p>
        </p:txBody>
      </p:sp>
      <p:sp>
        <p:nvSpPr>
          <p:cNvPr id="69" name="Text 2"/>
          <p:cNvSpPr txBox="1"/>
          <p:nvPr/>
        </p:nvSpPr>
        <p:spPr>
          <a:xfrm>
            <a:off x="640080" y="1404619"/>
            <a:ext cx="5486401" cy="139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800">
                <a:solidFill>
                  <a:srgbClr val="FFFFFF"/>
                </a:solidFill>
                <a:latin typeface="Georgia"/>
                <a:ea typeface="Georgia"/>
                <a:cs typeface="Georgia"/>
                <a:sym typeface="Georgia"/>
              </a:defRPr>
            </a:lvl1pPr>
          </a:lstStyle>
          <a:p>
            <a:pPr/>
            <a:r>
              <a:t>What matters here.</a:t>
            </a:r>
          </a:p>
        </p:txBody>
      </p:sp>
      <p:sp>
        <p:nvSpPr>
          <p:cNvPr id="70" name="Text 3"/>
          <p:cNvSpPr txBox="1"/>
          <p:nvPr/>
        </p:nvSpPr>
        <p:spPr>
          <a:xfrm>
            <a:off x="640080" y="3033112"/>
            <a:ext cx="4572001" cy="115753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spcBef>
                <a:spcPts val="600"/>
              </a:spcBef>
              <a:defRPr b="1" sz="2200">
                <a:solidFill>
                  <a:srgbClr val="4ECDC4"/>
                </a:solidFill>
              </a:defRPr>
            </a:pPr>
            <a:r>
              <a:t>Where to scale.</a:t>
            </a:r>
          </a:p>
          <a:p>
            <a:pPr>
              <a:spcBef>
                <a:spcPts val="600"/>
              </a:spcBef>
              <a:defRPr b="1" sz="2200">
                <a:solidFill>
                  <a:srgbClr val="4ECDC4"/>
                </a:solidFill>
              </a:defRPr>
            </a:pPr>
            <a:r>
              <a:t>Where to cut.</a:t>
            </a:r>
          </a:p>
          <a:p>
            <a:pPr>
              <a:spcBef>
                <a:spcPts val="600"/>
              </a:spcBef>
              <a:defRPr b="1" sz="2200">
                <a:solidFill>
                  <a:srgbClr val="4ECDC4"/>
                </a:solidFill>
              </a:defRPr>
            </a:pPr>
            <a:r>
              <a:t>How fast you can decide.</a:t>
            </a:r>
          </a:p>
        </p:txBody>
      </p:sp>
      <p:sp>
        <p:nvSpPr>
          <p:cNvPr id="71" name="Text 4"/>
          <p:cNvSpPr txBox="1"/>
          <p:nvPr/>
        </p:nvSpPr>
        <p:spPr>
          <a:xfrm>
            <a:off x="640080" y="4340160"/>
            <a:ext cx="54864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8895A7"/>
                </a:solidFill>
              </a:defRPr>
            </a:lvl1pPr>
          </a:lstStyle>
          <a:p>
            <a:pPr/>
            <a:r>
              <a:t>Everything in this conversation ties back to better, faster spend decisions.</a:t>
            </a:r>
          </a:p>
        </p:txBody>
      </p:sp>
      <p:sp>
        <p:nvSpPr>
          <p:cNvPr id="72" name="Shape 5"/>
          <p:cNvSpPr/>
          <p:nvPr/>
        </p:nvSpPr>
        <p:spPr>
          <a:xfrm>
            <a:off x="6343684" y="1645920"/>
            <a:ext cx="2343117" cy="2377441"/>
          </a:xfrm>
          <a:prstGeom prst="rect">
            <a:avLst/>
          </a:prstGeom>
          <a:solidFill>
            <a:srgbClr val="2A8A8A"/>
          </a:solidFill>
          <a:ln w="12700">
            <a:miter lim="400000"/>
          </a:ln>
        </p:spPr>
        <p:txBody>
          <a:bodyPr lIns="45719" rIns="45719"/>
          <a:lstStyle/>
          <a:p>
            <a:pPr/>
          </a:p>
        </p:txBody>
      </p:sp>
      <p:sp>
        <p:nvSpPr>
          <p:cNvPr id="73" name="Text 6"/>
          <p:cNvSpPr txBox="1"/>
          <p:nvPr/>
        </p:nvSpPr>
        <p:spPr>
          <a:xfrm>
            <a:off x="6463682" y="2265680"/>
            <a:ext cx="2103121" cy="11379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10000"/>
              </a:lnSpc>
              <a:defRPr b="1" sz="2500">
                <a:solidFill>
                  <a:srgbClr val="FFFFFF"/>
                </a:solidFill>
                <a:latin typeface="Georgia"/>
                <a:ea typeface="Georgia"/>
                <a:cs typeface="Georgia"/>
                <a:sym typeface="Georgia"/>
              </a:defRPr>
            </a:pPr>
            <a:r>
              <a:t>Protect </a:t>
            </a:r>
          </a:p>
          <a:p>
            <a:pPr algn="ctr">
              <a:lnSpc>
                <a:spcPct val="110000"/>
              </a:lnSpc>
              <a:defRPr b="1" sz="2500">
                <a:solidFill>
                  <a:srgbClr val="FFFFFF"/>
                </a:solidFill>
                <a:latin typeface="Georgia"/>
                <a:ea typeface="Georgia"/>
                <a:cs typeface="Georgia"/>
                <a:sym typeface="Georgia"/>
              </a:defRPr>
            </a:pPr>
            <a:r>
              <a:t>your return</a:t>
            </a:r>
          </a:p>
          <a:p>
            <a:pPr algn="ctr">
              <a:lnSpc>
                <a:spcPct val="110000"/>
              </a:lnSpc>
              <a:defRPr b="1" sz="2500">
                <a:solidFill>
                  <a:srgbClr val="FFFFFF"/>
                </a:solidFill>
                <a:latin typeface="Georgia"/>
                <a:ea typeface="Georgia"/>
                <a:cs typeface="Georgia"/>
                <a:sym typeface="Georgia"/>
              </a:defRPr>
            </a:pPr>
            <a:r>
              <a:t>on ad spend.</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75" name="Shape 0"/>
          <p:cNvSpPr/>
          <p:nvPr/>
        </p:nvSpPr>
        <p:spPr>
          <a:xfrm>
            <a:off x="0" y="4892040"/>
            <a:ext cx="9144000" cy="256033"/>
          </a:xfrm>
          <a:prstGeom prst="rect">
            <a:avLst/>
          </a:prstGeom>
          <a:solidFill>
            <a:srgbClr val="2A8A8A"/>
          </a:solidFill>
          <a:ln w="12700">
            <a:miter lim="400000"/>
          </a:ln>
        </p:spPr>
        <p:txBody>
          <a:bodyPr lIns="45719" rIns="45719"/>
          <a:lstStyle/>
          <a:p>
            <a:pPr/>
          </a:p>
        </p:txBody>
      </p:sp>
      <p:sp>
        <p:nvSpPr>
          <p:cNvPr id="76" name="Text 1"/>
          <p:cNvSpPr txBox="1"/>
          <p:nvPr/>
        </p:nvSpPr>
        <p:spPr>
          <a:xfrm>
            <a:off x="640080" y="481506"/>
            <a:ext cx="7315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4ECDC4"/>
                </a:solidFill>
              </a:defRPr>
            </a:lvl1pPr>
          </a:lstStyle>
          <a:p>
            <a:pPr/>
            <a:r>
              <a:t>WHY THIS KEEPS HAPPENING</a:t>
            </a:r>
          </a:p>
        </p:txBody>
      </p:sp>
      <p:sp>
        <p:nvSpPr>
          <p:cNvPr id="77" name="Text 2"/>
          <p:cNvSpPr txBox="1"/>
          <p:nvPr/>
        </p:nvSpPr>
        <p:spPr>
          <a:xfrm>
            <a:off x="640080" y="636270"/>
            <a:ext cx="7315201" cy="15621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600">
                <a:solidFill>
                  <a:srgbClr val="FFFFFF"/>
                </a:solidFill>
                <a:latin typeface="Georgia"/>
                <a:ea typeface="Georgia"/>
                <a:cs typeface="Georgia"/>
                <a:sym typeface="Georgia"/>
              </a:defRPr>
            </a:pPr>
            <a:r>
              <a:t>The data exists.</a:t>
            </a:r>
          </a:p>
          <a:p>
            <a:pPr>
              <a:defRPr b="1" sz="3600">
                <a:solidFill>
                  <a:srgbClr val="FFFFFF"/>
                </a:solidFill>
                <a:latin typeface="Georgia"/>
                <a:ea typeface="Georgia"/>
                <a:cs typeface="Georgia"/>
                <a:sym typeface="Georgia"/>
              </a:defRPr>
            </a:pPr>
            <a:r>
              <a:t>It just doesn't support decisions.</a:t>
            </a:r>
          </a:p>
        </p:txBody>
      </p:sp>
      <p:sp>
        <p:nvSpPr>
          <p:cNvPr id="78" name="Shape 3"/>
          <p:cNvSpPr/>
          <p:nvPr/>
        </p:nvSpPr>
        <p:spPr>
          <a:xfrm>
            <a:off x="640079" y="2285999"/>
            <a:ext cx="3749042" cy="2103122"/>
          </a:xfrm>
          <a:prstGeom prst="rect">
            <a:avLst/>
          </a:prstGeom>
          <a:solidFill>
            <a:srgbClr val="1F2D40"/>
          </a:solidFill>
          <a:ln w="12700">
            <a:miter lim="400000"/>
          </a:ln>
        </p:spPr>
        <p:txBody>
          <a:bodyPr lIns="45719" rIns="45719"/>
          <a:lstStyle/>
          <a:p>
            <a:pPr/>
          </a:p>
        </p:txBody>
      </p:sp>
      <p:sp>
        <p:nvSpPr>
          <p:cNvPr id="79" name="Text 4"/>
          <p:cNvSpPr txBox="1"/>
          <p:nvPr/>
        </p:nvSpPr>
        <p:spPr>
          <a:xfrm>
            <a:off x="822960" y="2535622"/>
            <a:ext cx="3383281"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FFFFFF"/>
                </a:solidFill>
              </a:defRPr>
            </a:lvl1pPr>
          </a:lstStyle>
          <a:p>
            <a:pPr/>
            <a:r>
              <a:t>No consistent user-level view across spend, revenue and payouts</a:t>
            </a:r>
          </a:p>
        </p:txBody>
      </p:sp>
      <p:sp>
        <p:nvSpPr>
          <p:cNvPr id="80" name="Shape 5"/>
          <p:cNvSpPr/>
          <p:nvPr/>
        </p:nvSpPr>
        <p:spPr>
          <a:xfrm>
            <a:off x="822960" y="3107182"/>
            <a:ext cx="3383281" cy="12701"/>
          </a:xfrm>
          <a:prstGeom prst="rect">
            <a:avLst/>
          </a:prstGeom>
          <a:solidFill>
            <a:srgbClr val="3D4F63"/>
          </a:solidFill>
          <a:ln w="12700">
            <a:miter lim="400000"/>
          </a:ln>
        </p:spPr>
        <p:txBody>
          <a:bodyPr lIns="45719" rIns="45719"/>
          <a:lstStyle/>
          <a:p>
            <a:pPr/>
          </a:p>
        </p:txBody>
      </p:sp>
      <p:sp>
        <p:nvSpPr>
          <p:cNvPr id="81" name="Text 6"/>
          <p:cNvSpPr txBox="1"/>
          <p:nvPr/>
        </p:nvSpPr>
        <p:spPr>
          <a:xfrm>
            <a:off x="822960" y="3358582"/>
            <a:ext cx="3383281" cy="4151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500">
                <a:solidFill>
                  <a:srgbClr val="FFFFFF"/>
                </a:solidFill>
              </a:defRPr>
            </a:lvl1pPr>
          </a:lstStyle>
          <a:p>
            <a:pPr/>
            <a:r>
              <a:t>Different numbers depending on which source you ask</a:t>
            </a:r>
          </a:p>
        </p:txBody>
      </p:sp>
      <p:sp>
        <p:nvSpPr>
          <p:cNvPr id="82" name="Shape 7"/>
          <p:cNvSpPr/>
          <p:nvPr/>
        </p:nvSpPr>
        <p:spPr>
          <a:xfrm>
            <a:off x="822960" y="3930142"/>
            <a:ext cx="3383281" cy="12701"/>
          </a:xfrm>
          <a:prstGeom prst="rect">
            <a:avLst/>
          </a:prstGeom>
          <a:solidFill>
            <a:srgbClr val="3D4F63"/>
          </a:solidFill>
          <a:ln w="12700">
            <a:miter lim="400000"/>
          </a:ln>
        </p:spPr>
        <p:txBody>
          <a:bodyPr lIns="45719" rIns="45719"/>
          <a:lstStyle/>
          <a:p>
            <a:pPr/>
          </a:p>
        </p:txBody>
      </p:sp>
      <p:sp>
        <p:nvSpPr>
          <p:cNvPr id="83" name="Text 8"/>
          <p:cNvSpPr txBox="1"/>
          <p:nvPr/>
        </p:nvSpPr>
        <p:spPr>
          <a:xfrm>
            <a:off x="822960" y="3974400"/>
            <a:ext cx="3383281" cy="4179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400">
                <a:solidFill>
                  <a:srgbClr val="8895A7"/>
                </a:solidFill>
              </a:defRPr>
            </a:lvl1pPr>
          </a:lstStyle>
          <a:p>
            <a:pPr/>
            <a:r>
              <a:t>Every question becomes: which number do we trust?</a:t>
            </a:r>
          </a:p>
        </p:txBody>
      </p:sp>
      <p:sp>
        <p:nvSpPr>
          <p:cNvPr id="84" name="Shape 9"/>
          <p:cNvSpPr/>
          <p:nvPr/>
        </p:nvSpPr>
        <p:spPr>
          <a:xfrm>
            <a:off x="4846319" y="2285999"/>
            <a:ext cx="3749042" cy="2103122"/>
          </a:xfrm>
          <a:prstGeom prst="rect">
            <a:avLst/>
          </a:prstGeom>
          <a:solidFill>
            <a:srgbClr val="2A8A8A"/>
          </a:solidFill>
          <a:ln w="12700">
            <a:miter lim="400000"/>
          </a:ln>
        </p:spPr>
        <p:txBody>
          <a:bodyPr lIns="45719" rIns="45719"/>
          <a:lstStyle/>
          <a:p>
            <a:pPr/>
          </a:p>
        </p:txBody>
      </p:sp>
      <p:sp>
        <p:nvSpPr>
          <p:cNvPr id="85" name="Text 10"/>
          <p:cNvSpPr txBox="1"/>
          <p:nvPr/>
        </p:nvSpPr>
        <p:spPr>
          <a:xfrm>
            <a:off x="5029200" y="2682240"/>
            <a:ext cx="3383280" cy="1219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FFFFFF"/>
                </a:solidFill>
                <a:latin typeface="Georgia"/>
                <a:ea typeface="Georgia"/>
                <a:cs typeface="Georgia"/>
                <a:sym typeface="Georgia"/>
              </a:defRPr>
            </a:lvl1pPr>
          </a:lstStyle>
          <a:p>
            <a:pPr/>
            <a:r>
              <a:t>When trust is low, decisions slow down.</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87" name="Text 0"/>
          <p:cNvSpPr txBox="1"/>
          <p:nvPr/>
        </p:nvSpPr>
        <p:spPr>
          <a:xfrm>
            <a:off x="640080" y="481506"/>
            <a:ext cx="7315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2A8A8A"/>
                </a:solidFill>
              </a:defRPr>
            </a:lvl1pPr>
          </a:lstStyle>
          <a:p>
            <a:pPr/>
            <a:r>
              <a:t>WHAT GREAT LOOKS LIKE</a:t>
            </a:r>
          </a:p>
        </p:txBody>
      </p:sp>
      <p:sp>
        <p:nvSpPr>
          <p:cNvPr id="88" name="Text 1"/>
          <p:cNvSpPr txBox="1"/>
          <p:nvPr/>
        </p:nvSpPr>
        <p:spPr>
          <a:xfrm>
            <a:off x="640080" y="622299"/>
            <a:ext cx="7315201" cy="1041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1A2332"/>
                </a:solidFill>
                <a:latin typeface="Georgia"/>
                <a:ea typeface="Georgia"/>
                <a:cs typeface="Georgia"/>
                <a:sym typeface="Georgia"/>
              </a:defRPr>
            </a:lvl1pPr>
          </a:lstStyle>
          <a:p>
            <a:pPr/>
            <a:r>
              <a:t>What changes when this works.</a:t>
            </a:r>
          </a:p>
        </p:txBody>
      </p:sp>
      <p:sp>
        <p:nvSpPr>
          <p:cNvPr id="89" name="Shape 2"/>
          <p:cNvSpPr/>
          <p:nvPr/>
        </p:nvSpPr>
        <p:spPr>
          <a:xfrm>
            <a:off x="640080" y="1737360"/>
            <a:ext cx="3840480" cy="1280161"/>
          </a:xfrm>
          <a:prstGeom prst="rect">
            <a:avLst/>
          </a:prstGeom>
          <a:solidFill>
            <a:srgbClr val="FFFFFF"/>
          </a:solidFill>
          <a:ln w="12700">
            <a:miter lim="400000"/>
          </a:ln>
          <a:effectLst>
            <a:outerShdw sx="100000" sy="100000" kx="0" ky="0" algn="b" rotWithShape="0" blurRad="50800" dist="25400" dir="8100000">
              <a:srgbClr val="000000">
                <a:alpha val="8000"/>
              </a:srgbClr>
            </a:outerShdw>
          </a:effectLst>
        </p:spPr>
        <p:txBody>
          <a:bodyPr lIns="45719" rIns="45719"/>
          <a:lstStyle/>
          <a:p>
            <a:pPr/>
          </a:p>
        </p:txBody>
      </p:sp>
      <p:sp>
        <p:nvSpPr>
          <p:cNvPr id="90" name="Shape 3"/>
          <p:cNvSpPr/>
          <p:nvPr/>
        </p:nvSpPr>
        <p:spPr>
          <a:xfrm>
            <a:off x="640080" y="1737360"/>
            <a:ext cx="54865" cy="1280161"/>
          </a:xfrm>
          <a:prstGeom prst="rect">
            <a:avLst/>
          </a:prstGeom>
          <a:solidFill>
            <a:srgbClr val="2A8A8A"/>
          </a:solidFill>
          <a:ln w="12700">
            <a:miter lim="400000"/>
          </a:ln>
        </p:spPr>
        <p:txBody>
          <a:bodyPr lIns="45719" rIns="45719"/>
          <a:lstStyle/>
          <a:p>
            <a:pPr/>
          </a:p>
        </p:txBody>
      </p:sp>
      <p:pic>
        <p:nvPicPr>
          <p:cNvPr id="91" name="Image 0" descr="Image 0"/>
          <p:cNvPicPr>
            <a:picLocks noChangeAspect="1"/>
          </p:cNvPicPr>
          <p:nvPr/>
        </p:nvPicPr>
        <p:blipFill>
          <a:blip r:embed="rId2">
            <a:extLst/>
          </a:blip>
          <a:stretch>
            <a:fillRect/>
          </a:stretch>
        </p:blipFill>
        <p:spPr>
          <a:xfrm>
            <a:off x="868680" y="1965960"/>
            <a:ext cx="320041" cy="320041"/>
          </a:xfrm>
          <a:prstGeom prst="rect">
            <a:avLst/>
          </a:prstGeom>
          <a:ln w="12700">
            <a:miter lim="400000"/>
          </a:ln>
        </p:spPr>
      </p:pic>
      <p:sp>
        <p:nvSpPr>
          <p:cNvPr id="92" name="Text 4"/>
          <p:cNvSpPr txBox="1"/>
          <p:nvPr/>
        </p:nvSpPr>
        <p:spPr>
          <a:xfrm>
            <a:off x="1325879" y="1986981"/>
            <a:ext cx="2926082"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A2332"/>
                </a:solidFill>
              </a:defRPr>
            </a:lvl1pPr>
          </a:lstStyle>
          <a:p>
            <a:pPr/>
            <a:r>
              <a:t>Clear daily decisions</a:t>
            </a:r>
          </a:p>
        </p:txBody>
      </p:sp>
      <p:sp>
        <p:nvSpPr>
          <p:cNvPr id="93" name="Text 5"/>
          <p:cNvSpPr txBox="1"/>
          <p:nvPr/>
        </p:nvSpPr>
        <p:spPr>
          <a:xfrm>
            <a:off x="1325879" y="2481887"/>
            <a:ext cx="292608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D4F63"/>
                </a:solidFill>
              </a:defRPr>
            </a:lvl1pPr>
          </a:lstStyle>
          <a:p>
            <a:pPr/>
            <a:r>
              <a:t>What to scale, what to pause. No ambiguity.</a:t>
            </a:r>
          </a:p>
        </p:txBody>
      </p:sp>
      <p:sp>
        <p:nvSpPr>
          <p:cNvPr id="94" name="Shape 6"/>
          <p:cNvSpPr/>
          <p:nvPr/>
        </p:nvSpPr>
        <p:spPr>
          <a:xfrm>
            <a:off x="4754879" y="1737360"/>
            <a:ext cx="3840481" cy="1280161"/>
          </a:xfrm>
          <a:prstGeom prst="rect">
            <a:avLst/>
          </a:prstGeom>
          <a:solidFill>
            <a:srgbClr val="FFFFFF"/>
          </a:solidFill>
          <a:ln w="12700">
            <a:miter lim="400000"/>
          </a:ln>
          <a:effectLst>
            <a:outerShdw sx="100000" sy="100000" kx="0" ky="0" algn="b" rotWithShape="0" blurRad="50800" dist="25400" dir="8100000">
              <a:srgbClr val="000000">
                <a:alpha val="8000"/>
              </a:srgbClr>
            </a:outerShdw>
          </a:effectLst>
        </p:spPr>
        <p:txBody>
          <a:bodyPr lIns="45719" rIns="45719"/>
          <a:lstStyle/>
          <a:p>
            <a:pPr/>
          </a:p>
        </p:txBody>
      </p:sp>
      <p:sp>
        <p:nvSpPr>
          <p:cNvPr id="95" name="Shape 7"/>
          <p:cNvSpPr/>
          <p:nvPr/>
        </p:nvSpPr>
        <p:spPr>
          <a:xfrm>
            <a:off x="4754879" y="1737360"/>
            <a:ext cx="54865" cy="1280161"/>
          </a:xfrm>
          <a:prstGeom prst="rect">
            <a:avLst/>
          </a:prstGeom>
          <a:solidFill>
            <a:srgbClr val="2A8A8A"/>
          </a:solidFill>
          <a:ln w="12700">
            <a:miter lim="400000"/>
          </a:ln>
        </p:spPr>
        <p:txBody>
          <a:bodyPr lIns="45719" rIns="45719"/>
          <a:lstStyle/>
          <a:p>
            <a:pPr/>
          </a:p>
        </p:txBody>
      </p:sp>
      <p:pic>
        <p:nvPicPr>
          <p:cNvPr id="96" name="Image 1" descr="Image 1"/>
          <p:cNvPicPr>
            <a:picLocks noChangeAspect="1"/>
          </p:cNvPicPr>
          <p:nvPr/>
        </p:nvPicPr>
        <p:blipFill>
          <a:blip r:embed="rId3">
            <a:extLst/>
          </a:blip>
          <a:stretch>
            <a:fillRect/>
          </a:stretch>
        </p:blipFill>
        <p:spPr>
          <a:xfrm>
            <a:off x="4983479" y="1965960"/>
            <a:ext cx="320041" cy="320041"/>
          </a:xfrm>
          <a:prstGeom prst="rect">
            <a:avLst/>
          </a:prstGeom>
          <a:ln w="12700">
            <a:miter lim="400000"/>
          </a:ln>
        </p:spPr>
      </p:pic>
      <p:sp>
        <p:nvSpPr>
          <p:cNvPr id="97" name="Text 8"/>
          <p:cNvSpPr txBox="1"/>
          <p:nvPr/>
        </p:nvSpPr>
        <p:spPr>
          <a:xfrm>
            <a:off x="5440679" y="1986981"/>
            <a:ext cx="292608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A2332"/>
                </a:solidFill>
              </a:defRPr>
            </a:lvl1pPr>
          </a:lstStyle>
          <a:p>
            <a:pPr/>
            <a:r>
              <a:t>One consistent view</a:t>
            </a:r>
          </a:p>
        </p:txBody>
      </p:sp>
      <p:sp>
        <p:nvSpPr>
          <p:cNvPr id="98" name="Text 9"/>
          <p:cNvSpPr txBox="1"/>
          <p:nvPr/>
        </p:nvSpPr>
        <p:spPr>
          <a:xfrm>
            <a:off x="5440679" y="2386637"/>
            <a:ext cx="2926081"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D4F63"/>
                </a:solidFill>
              </a:defRPr>
            </a:lvl1pPr>
          </a:lstStyle>
          <a:p>
            <a:pPr/>
            <a:r>
              <a:t>Applovin, Mistral, Meta, product revenue. All unified.</a:t>
            </a:r>
          </a:p>
        </p:txBody>
      </p:sp>
      <p:sp>
        <p:nvSpPr>
          <p:cNvPr id="99" name="Shape 10"/>
          <p:cNvSpPr/>
          <p:nvPr/>
        </p:nvSpPr>
        <p:spPr>
          <a:xfrm>
            <a:off x="640080" y="3246120"/>
            <a:ext cx="3840480" cy="1280161"/>
          </a:xfrm>
          <a:prstGeom prst="rect">
            <a:avLst/>
          </a:prstGeom>
          <a:solidFill>
            <a:srgbClr val="FFFFFF"/>
          </a:solidFill>
          <a:ln w="12700">
            <a:miter lim="400000"/>
          </a:ln>
          <a:effectLst>
            <a:outerShdw sx="100000" sy="100000" kx="0" ky="0" algn="b" rotWithShape="0" blurRad="50800" dist="25400" dir="8100000">
              <a:srgbClr val="000000">
                <a:alpha val="8000"/>
              </a:srgbClr>
            </a:outerShdw>
          </a:effectLst>
        </p:spPr>
        <p:txBody>
          <a:bodyPr lIns="45719" rIns="45719"/>
          <a:lstStyle/>
          <a:p>
            <a:pPr/>
          </a:p>
        </p:txBody>
      </p:sp>
      <p:sp>
        <p:nvSpPr>
          <p:cNvPr id="100" name="Shape 11"/>
          <p:cNvSpPr/>
          <p:nvPr/>
        </p:nvSpPr>
        <p:spPr>
          <a:xfrm>
            <a:off x="640080" y="3246120"/>
            <a:ext cx="54865" cy="1280161"/>
          </a:xfrm>
          <a:prstGeom prst="rect">
            <a:avLst/>
          </a:prstGeom>
          <a:solidFill>
            <a:srgbClr val="2A8A8A"/>
          </a:solidFill>
          <a:ln w="12700">
            <a:miter lim="400000"/>
          </a:ln>
        </p:spPr>
        <p:txBody>
          <a:bodyPr lIns="45719" rIns="45719"/>
          <a:lstStyle/>
          <a:p>
            <a:pPr/>
          </a:p>
        </p:txBody>
      </p:sp>
      <p:pic>
        <p:nvPicPr>
          <p:cNvPr id="101" name="Image 2" descr="Image 2"/>
          <p:cNvPicPr>
            <a:picLocks noChangeAspect="1"/>
          </p:cNvPicPr>
          <p:nvPr/>
        </p:nvPicPr>
        <p:blipFill>
          <a:blip r:embed="rId4">
            <a:extLst/>
          </a:blip>
          <a:stretch>
            <a:fillRect/>
          </a:stretch>
        </p:blipFill>
        <p:spPr>
          <a:xfrm>
            <a:off x="868680" y="3474720"/>
            <a:ext cx="320041" cy="320041"/>
          </a:xfrm>
          <a:prstGeom prst="rect">
            <a:avLst/>
          </a:prstGeom>
          <a:ln w="12700">
            <a:miter lim="400000"/>
          </a:ln>
        </p:spPr>
      </p:pic>
      <p:sp>
        <p:nvSpPr>
          <p:cNvPr id="102" name="Text 12"/>
          <p:cNvSpPr txBox="1"/>
          <p:nvPr/>
        </p:nvSpPr>
        <p:spPr>
          <a:xfrm>
            <a:off x="1325879" y="3495741"/>
            <a:ext cx="2926082"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A2332"/>
                </a:solidFill>
              </a:defRPr>
            </a:lvl1pPr>
          </a:lstStyle>
          <a:p>
            <a:pPr/>
            <a:r>
              <a:t>Real LTV, not proxies</a:t>
            </a:r>
          </a:p>
        </p:txBody>
      </p:sp>
      <p:sp>
        <p:nvSpPr>
          <p:cNvPr id="103" name="Text 13"/>
          <p:cNvSpPr txBox="1"/>
          <p:nvPr/>
        </p:nvSpPr>
        <p:spPr>
          <a:xfrm>
            <a:off x="1325879" y="3895397"/>
            <a:ext cx="2926082"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D4F63"/>
                </a:solidFill>
              </a:defRPr>
            </a:lvl1pPr>
          </a:lstStyle>
          <a:p>
            <a:pPr/>
            <a:r>
              <a:t>Evaluate campaigns on actual long-term value. Compare channels fairly.</a:t>
            </a:r>
          </a:p>
        </p:txBody>
      </p:sp>
      <p:sp>
        <p:nvSpPr>
          <p:cNvPr id="104" name="Shape 14"/>
          <p:cNvSpPr/>
          <p:nvPr/>
        </p:nvSpPr>
        <p:spPr>
          <a:xfrm>
            <a:off x="4754879" y="3246120"/>
            <a:ext cx="3840481" cy="1280161"/>
          </a:xfrm>
          <a:prstGeom prst="rect">
            <a:avLst/>
          </a:prstGeom>
          <a:solidFill>
            <a:srgbClr val="FFFFFF"/>
          </a:solidFill>
          <a:ln w="12700">
            <a:miter lim="400000"/>
          </a:ln>
          <a:effectLst>
            <a:outerShdw sx="100000" sy="100000" kx="0" ky="0" algn="b" rotWithShape="0" blurRad="50800" dist="25400" dir="8100000">
              <a:srgbClr val="000000">
                <a:alpha val="8000"/>
              </a:srgbClr>
            </a:outerShdw>
          </a:effectLst>
        </p:spPr>
        <p:txBody>
          <a:bodyPr lIns="45719" rIns="45719"/>
          <a:lstStyle/>
          <a:p>
            <a:pPr/>
          </a:p>
        </p:txBody>
      </p:sp>
      <p:sp>
        <p:nvSpPr>
          <p:cNvPr id="105" name="Shape 15"/>
          <p:cNvSpPr/>
          <p:nvPr/>
        </p:nvSpPr>
        <p:spPr>
          <a:xfrm>
            <a:off x="4754879" y="3246120"/>
            <a:ext cx="54865" cy="1280161"/>
          </a:xfrm>
          <a:prstGeom prst="rect">
            <a:avLst/>
          </a:prstGeom>
          <a:solidFill>
            <a:srgbClr val="2A8A8A"/>
          </a:solidFill>
          <a:ln w="12700">
            <a:miter lim="400000"/>
          </a:ln>
        </p:spPr>
        <p:txBody>
          <a:bodyPr lIns="45719" rIns="45719"/>
          <a:lstStyle/>
          <a:p>
            <a:pPr/>
          </a:p>
        </p:txBody>
      </p:sp>
      <p:sp>
        <p:nvSpPr>
          <p:cNvPr id="106" name="Text 16"/>
          <p:cNvSpPr txBox="1"/>
          <p:nvPr/>
        </p:nvSpPr>
        <p:spPr>
          <a:xfrm>
            <a:off x="5440679" y="3495741"/>
            <a:ext cx="2926081" cy="18655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1A2332"/>
                </a:solidFill>
              </a:defRPr>
            </a:lvl1pPr>
          </a:lstStyle>
          <a:p>
            <a:pPr/>
            <a:r>
              <a:t>Data can be leveraged by AI</a:t>
            </a:r>
          </a:p>
        </p:txBody>
      </p:sp>
      <p:sp>
        <p:nvSpPr>
          <p:cNvPr id="107" name="Text 17"/>
          <p:cNvSpPr txBox="1"/>
          <p:nvPr/>
        </p:nvSpPr>
        <p:spPr>
          <a:xfrm>
            <a:off x="5440679" y="3895397"/>
            <a:ext cx="2926081"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D4F63"/>
                </a:solidFill>
              </a:defRPr>
            </a:lvl1pPr>
          </a:lstStyle>
          <a:p>
            <a:pPr/>
            <a:r>
              <a:t>Once you have reliable data and a context layer you can maximise the impact with AI tooling.</a:t>
            </a:r>
          </a:p>
        </p:txBody>
      </p:sp>
      <p:sp>
        <p:nvSpPr>
          <p:cNvPr id="108" name="Text 18"/>
          <p:cNvSpPr txBox="1"/>
          <p:nvPr/>
        </p:nvSpPr>
        <p:spPr>
          <a:xfrm>
            <a:off x="640079" y="4785798"/>
            <a:ext cx="786384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300">
                <a:solidFill>
                  <a:srgbClr val="2A8A8A"/>
                </a:solidFill>
              </a:defRPr>
            </a:lvl1pPr>
          </a:lstStyle>
          <a:p>
            <a:pPr/>
            <a:r>
              <a:t>Fast answers. No waiting on analysts. No conflicting numbers.</a:t>
            </a:r>
          </a:p>
        </p:txBody>
      </p:sp>
      <p:pic>
        <p:nvPicPr>
          <p:cNvPr id="109" name="Image 0" descr="Image 0"/>
          <p:cNvPicPr>
            <a:picLocks noChangeAspect="1"/>
          </p:cNvPicPr>
          <p:nvPr/>
        </p:nvPicPr>
        <p:blipFill>
          <a:blip r:embed="rId5">
            <a:extLst/>
          </a:blip>
          <a:stretch>
            <a:fillRect/>
          </a:stretch>
        </p:blipFill>
        <p:spPr>
          <a:xfrm>
            <a:off x="4891233" y="3369564"/>
            <a:ext cx="467958" cy="530352"/>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0F4F7"/>
        </a:solidFill>
      </p:bgPr>
    </p:bg>
    <p:spTree>
      <p:nvGrpSpPr>
        <p:cNvPr id="1" name=""/>
        <p:cNvGrpSpPr/>
        <p:nvPr/>
      </p:nvGrpSpPr>
      <p:grpSpPr>
        <a:xfrm>
          <a:off x="0" y="0"/>
          <a:ext cx="0" cy="0"/>
          <a:chOff x="0" y="0"/>
          <a:chExt cx="0" cy="0"/>
        </a:xfrm>
      </p:grpSpPr>
      <p:sp>
        <p:nvSpPr>
          <p:cNvPr id="111" name="Text 0"/>
          <p:cNvSpPr txBox="1"/>
          <p:nvPr/>
        </p:nvSpPr>
        <p:spPr>
          <a:xfrm>
            <a:off x="640080" y="497585"/>
            <a:ext cx="365760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3ECDC4"/>
                </a:solidFill>
                <a:latin typeface="Arial"/>
                <a:ea typeface="Arial"/>
                <a:cs typeface="Arial"/>
                <a:sym typeface="Arial"/>
              </a:defRPr>
            </a:lvl1pPr>
          </a:lstStyle>
          <a:p>
            <a:pPr/>
            <a:r>
              <a:t>WHAT NEEDS TO EXIST</a:t>
            </a:r>
          </a:p>
        </p:txBody>
      </p:sp>
      <p:sp>
        <p:nvSpPr>
          <p:cNvPr id="112" name="Text 1"/>
          <p:cNvSpPr txBox="1"/>
          <p:nvPr/>
        </p:nvSpPr>
        <p:spPr>
          <a:xfrm>
            <a:off x="640080" y="901699"/>
            <a:ext cx="7772401" cy="482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400">
                <a:solidFill>
                  <a:srgbClr val="1A2332"/>
                </a:solidFill>
                <a:latin typeface="Georgia"/>
                <a:ea typeface="Georgia"/>
                <a:cs typeface="Georgia"/>
                <a:sym typeface="Georgia"/>
              </a:defRPr>
            </a:lvl1pPr>
          </a:lstStyle>
          <a:p>
            <a:pPr/>
            <a:r>
              <a:t>The non-negotiable foundation.</a:t>
            </a:r>
          </a:p>
        </p:txBody>
      </p:sp>
      <p:sp>
        <p:nvSpPr>
          <p:cNvPr id="113" name="Shape 2"/>
          <p:cNvSpPr/>
          <p:nvPr/>
        </p:nvSpPr>
        <p:spPr>
          <a:xfrm>
            <a:off x="457199" y="1737360"/>
            <a:ext cx="3931922" cy="1188721"/>
          </a:xfrm>
          <a:prstGeom prst="rect">
            <a:avLst/>
          </a:prstGeom>
          <a:solidFill>
            <a:srgbClr val="FFFFFF"/>
          </a:solidFill>
          <a:ln w="12700">
            <a:miter lim="400000"/>
          </a:ln>
          <a:effectLst>
            <a:outerShdw sx="100000" sy="100000" kx="0" ky="0" algn="b" rotWithShape="0" blurRad="101600" dist="38100" dir="8100000">
              <a:srgbClr val="000000">
                <a:alpha val="20000"/>
              </a:srgbClr>
            </a:outerShdw>
          </a:effectLst>
        </p:spPr>
        <p:txBody>
          <a:bodyPr lIns="45719" rIns="45719"/>
          <a:lstStyle/>
          <a:p>
            <a:pPr/>
          </a:p>
        </p:txBody>
      </p:sp>
      <p:pic>
        <p:nvPicPr>
          <p:cNvPr id="114" name="Image 0" descr="Image 0"/>
          <p:cNvPicPr>
            <a:picLocks noChangeAspect="1"/>
          </p:cNvPicPr>
          <p:nvPr/>
        </p:nvPicPr>
        <p:blipFill>
          <a:blip r:embed="rId2">
            <a:extLst/>
          </a:blip>
          <a:stretch>
            <a:fillRect/>
          </a:stretch>
        </p:blipFill>
        <p:spPr>
          <a:xfrm>
            <a:off x="640080" y="1920239"/>
            <a:ext cx="320041" cy="320041"/>
          </a:xfrm>
          <a:prstGeom prst="rect">
            <a:avLst/>
          </a:prstGeom>
          <a:ln w="12700">
            <a:miter lim="400000"/>
          </a:ln>
        </p:spPr>
      </p:pic>
      <p:sp>
        <p:nvSpPr>
          <p:cNvPr id="115" name="Text 3"/>
          <p:cNvSpPr txBox="1"/>
          <p:nvPr/>
        </p:nvSpPr>
        <p:spPr>
          <a:xfrm>
            <a:off x="1097280" y="1958708"/>
            <a:ext cx="301752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2332"/>
                </a:solidFill>
                <a:latin typeface="Arial"/>
                <a:ea typeface="Arial"/>
                <a:cs typeface="Arial"/>
                <a:sym typeface="Arial"/>
              </a:defRPr>
            </a:lvl1pPr>
          </a:lstStyle>
          <a:p>
            <a:pPr/>
            <a:r>
              <a:t>Single Source of Truth</a:t>
            </a:r>
          </a:p>
        </p:txBody>
      </p:sp>
      <p:sp>
        <p:nvSpPr>
          <p:cNvPr id="116" name="Text 4"/>
          <p:cNvSpPr txBox="1"/>
          <p:nvPr/>
        </p:nvSpPr>
        <p:spPr>
          <a:xfrm>
            <a:off x="640079" y="2445556"/>
            <a:ext cx="3566161" cy="2752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4748B"/>
                </a:solidFill>
                <a:latin typeface="Arial"/>
                <a:ea typeface="Arial"/>
                <a:cs typeface="Arial"/>
                <a:sym typeface="Arial"/>
              </a:defRPr>
            </a:lvl1pPr>
          </a:lstStyle>
          <a:p>
            <a:pPr/>
            <a:r>
              <a:t>User-level dataset unifying spend, revenue, payouts and attribution across all channels.</a:t>
            </a:r>
          </a:p>
        </p:txBody>
      </p:sp>
      <p:sp>
        <p:nvSpPr>
          <p:cNvPr id="117" name="Shape 5"/>
          <p:cNvSpPr/>
          <p:nvPr/>
        </p:nvSpPr>
        <p:spPr>
          <a:xfrm>
            <a:off x="4754879" y="1737360"/>
            <a:ext cx="3931921" cy="1188721"/>
          </a:xfrm>
          <a:prstGeom prst="rect">
            <a:avLst/>
          </a:prstGeom>
          <a:solidFill>
            <a:srgbClr val="FFFFFF"/>
          </a:solidFill>
          <a:ln w="12700">
            <a:miter lim="400000"/>
          </a:ln>
          <a:effectLst>
            <a:outerShdw sx="100000" sy="100000" kx="0" ky="0" algn="b" rotWithShape="0" blurRad="101600" dist="38100" dir="8100000">
              <a:srgbClr val="000000">
                <a:alpha val="20000"/>
              </a:srgbClr>
            </a:outerShdw>
          </a:effectLst>
        </p:spPr>
        <p:txBody>
          <a:bodyPr lIns="45719" rIns="45719"/>
          <a:lstStyle/>
          <a:p>
            <a:pPr/>
          </a:p>
        </p:txBody>
      </p:sp>
      <p:pic>
        <p:nvPicPr>
          <p:cNvPr id="118" name="Image 1" descr="Image 1"/>
          <p:cNvPicPr>
            <a:picLocks noChangeAspect="1"/>
          </p:cNvPicPr>
          <p:nvPr/>
        </p:nvPicPr>
        <p:blipFill>
          <a:blip r:embed="rId3">
            <a:extLst/>
          </a:blip>
          <a:stretch>
            <a:fillRect/>
          </a:stretch>
        </p:blipFill>
        <p:spPr>
          <a:xfrm>
            <a:off x="4937759" y="1920239"/>
            <a:ext cx="320041" cy="320041"/>
          </a:xfrm>
          <a:prstGeom prst="rect">
            <a:avLst/>
          </a:prstGeom>
          <a:ln w="12700">
            <a:miter lim="400000"/>
          </a:ln>
        </p:spPr>
      </p:pic>
      <p:sp>
        <p:nvSpPr>
          <p:cNvPr id="119" name="Text 6"/>
          <p:cNvSpPr txBox="1"/>
          <p:nvPr/>
        </p:nvSpPr>
        <p:spPr>
          <a:xfrm>
            <a:off x="5394959" y="1958708"/>
            <a:ext cx="301752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2332"/>
                </a:solidFill>
                <a:latin typeface="Arial"/>
                <a:ea typeface="Arial"/>
                <a:cs typeface="Arial"/>
                <a:sym typeface="Arial"/>
              </a:defRPr>
            </a:lvl1pPr>
          </a:lstStyle>
          <a:p>
            <a:pPr/>
            <a:r>
              <a:t>Identity Resolution</a:t>
            </a:r>
          </a:p>
        </p:txBody>
      </p:sp>
      <p:sp>
        <p:nvSpPr>
          <p:cNvPr id="120" name="Text 7"/>
          <p:cNvSpPr txBox="1"/>
          <p:nvPr/>
        </p:nvSpPr>
        <p:spPr>
          <a:xfrm>
            <a:off x="4937759" y="2445556"/>
            <a:ext cx="3566160" cy="27524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4748B"/>
                </a:solidFill>
                <a:latin typeface="Arial"/>
                <a:ea typeface="Arial"/>
                <a:cs typeface="Arial"/>
                <a:sym typeface="Arial"/>
              </a:defRPr>
            </a:lvl1pPr>
          </a:lstStyle>
          <a:p>
            <a:pPr/>
            <a:r>
              <a:t>Stable mapping across MMP IDs, network IDs, and product data. One user, one record.</a:t>
            </a:r>
          </a:p>
        </p:txBody>
      </p:sp>
      <p:sp>
        <p:nvSpPr>
          <p:cNvPr id="121" name="Shape 8"/>
          <p:cNvSpPr/>
          <p:nvPr/>
        </p:nvSpPr>
        <p:spPr>
          <a:xfrm>
            <a:off x="457199" y="3246120"/>
            <a:ext cx="3931922" cy="1188721"/>
          </a:xfrm>
          <a:prstGeom prst="rect">
            <a:avLst/>
          </a:prstGeom>
          <a:solidFill>
            <a:srgbClr val="FFFFFF"/>
          </a:solidFill>
          <a:ln w="12700">
            <a:miter lim="400000"/>
          </a:ln>
          <a:effectLst>
            <a:outerShdw sx="100000" sy="100000" kx="0" ky="0" algn="b" rotWithShape="0" blurRad="101600" dist="38100" dir="8100000">
              <a:srgbClr val="000000">
                <a:alpha val="20000"/>
              </a:srgbClr>
            </a:outerShdw>
          </a:effectLst>
        </p:spPr>
        <p:txBody>
          <a:bodyPr lIns="45719" rIns="45719"/>
          <a:lstStyle/>
          <a:p>
            <a:pPr/>
          </a:p>
        </p:txBody>
      </p:sp>
      <p:pic>
        <p:nvPicPr>
          <p:cNvPr id="122" name="Image 2" descr="Image 2"/>
          <p:cNvPicPr>
            <a:picLocks noChangeAspect="1"/>
          </p:cNvPicPr>
          <p:nvPr/>
        </p:nvPicPr>
        <p:blipFill>
          <a:blip r:embed="rId4">
            <a:extLst/>
          </a:blip>
          <a:stretch>
            <a:fillRect/>
          </a:stretch>
        </p:blipFill>
        <p:spPr>
          <a:xfrm>
            <a:off x="640080" y="3429000"/>
            <a:ext cx="320041" cy="320041"/>
          </a:xfrm>
          <a:prstGeom prst="rect">
            <a:avLst/>
          </a:prstGeom>
          <a:ln w="12700">
            <a:miter lim="400000"/>
          </a:ln>
        </p:spPr>
      </p:pic>
      <p:sp>
        <p:nvSpPr>
          <p:cNvPr id="123" name="Text 9"/>
          <p:cNvSpPr txBox="1"/>
          <p:nvPr/>
        </p:nvSpPr>
        <p:spPr>
          <a:xfrm>
            <a:off x="1097280" y="3467468"/>
            <a:ext cx="301752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2332"/>
                </a:solidFill>
                <a:latin typeface="Arial"/>
                <a:ea typeface="Arial"/>
                <a:cs typeface="Arial"/>
                <a:sym typeface="Arial"/>
              </a:defRPr>
            </a:lvl1pPr>
          </a:lstStyle>
          <a:p>
            <a:pPr/>
            <a:r>
              <a:t>Consistent Definitions</a:t>
            </a:r>
          </a:p>
        </p:txBody>
      </p:sp>
      <p:sp>
        <p:nvSpPr>
          <p:cNvPr id="124" name="Text 10"/>
          <p:cNvSpPr txBox="1"/>
          <p:nvPr/>
        </p:nvSpPr>
        <p:spPr>
          <a:xfrm>
            <a:off x="640079" y="3954316"/>
            <a:ext cx="3566161" cy="275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4748B"/>
                </a:solidFill>
                <a:latin typeface="Arial"/>
                <a:ea typeface="Arial"/>
                <a:cs typeface="Arial"/>
                <a:sym typeface="Arial"/>
              </a:defRPr>
            </a:lvl1pPr>
          </a:lstStyle>
          <a:p>
            <a:pPr/>
            <a:r>
              <a:t>One agreed definition of ROAS, LTV, installs, retention. Used everywhere.</a:t>
            </a:r>
          </a:p>
        </p:txBody>
      </p:sp>
      <p:sp>
        <p:nvSpPr>
          <p:cNvPr id="125" name="Shape 11"/>
          <p:cNvSpPr/>
          <p:nvPr/>
        </p:nvSpPr>
        <p:spPr>
          <a:xfrm>
            <a:off x="4754879" y="3246120"/>
            <a:ext cx="3931921" cy="1188721"/>
          </a:xfrm>
          <a:prstGeom prst="rect">
            <a:avLst/>
          </a:prstGeom>
          <a:solidFill>
            <a:srgbClr val="FFFFFF"/>
          </a:solidFill>
          <a:ln w="12700">
            <a:miter lim="400000"/>
          </a:ln>
          <a:effectLst>
            <a:outerShdw sx="100000" sy="100000" kx="0" ky="0" algn="b" rotWithShape="0" blurRad="101600" dist="38100" dir="8100000">
              <a:srgbClr val="000000">
                <a:alpha val="20000"/>
              </a:srgbClr>
            </a:outerShdw>
          </a:effectLst>
        </p:spPr>
        <p:txBody>
          <a:bodyPr lIns="45719" rIns="45719"/>
          <a:lstStyle/>
          <a:p>
            <a:pPr/>
          </a:p>
        </p:txBody>
      </p:sp>
      <p:pic>
        <p:nvPicPr>
          <p:cNvPr id="126" name="Image 3" descr="Image 3"/>
          <p:cNvPicPr>
            <a:picLocks noChangeAspect="1"/>
          </p:cNvPicPr>
          <p:nvPr/>
        </p:nvPicPr>
        <p:blipFill>
          <a:blip r:embed="rId5">
            <a:extLst/>
          </a:blip>
          <a:stretch>
            <a:fillRect/>
          </a:stretch>
        </p:blipFill>
        <p:spPr>
          <a:xfrm>
            <a:off x="4937759" y="3429000"/>
            <a:ext cx="320041" cy="320041"/>
          </a:xfrm>
          <a:prstGeom prst="rect">
            <a:avLst/>
          </a:prstGeom>
          <a:ln w="12700">
            <a:miter lim="400000"/>
          </a:ln>
        </p:spPr>
      </p:pic>
      <p:sp>
        <p:nvSpPr>
          <p:cNvPr id="127" name="Text 12"/>
          <p:cNvSpPr txBox="1"/>
          <p:nvPr/>
        </p:nvSpPr>
        <p:spPr>
          <a:xfrm>
            <a:off x="5394959" y="3467468"/>
            <a:ext cx="301752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1A2332"/>
                </a:solidFill>
                <a:latin typeface="Arial"/>
                <a:ea typeface="Arial"/>
                <a:cs typeface="Arial"/>
                <a:sym typeface="Arial"/>
              </a:defRPr>
            </a:lvl1pPr>
          </a:lstStyle>
          <a:p>
            <a:pPr/>
            <a:r>
              <a:t>Integration-Ready Structure</a:t>
            </a:r>
          </a:p>
        </p:txBody>
      </p:sp>
      <p:sp>
        <p:nvSpPr>
          <p:cNvPr id="128" name="Text 13"/>
          <p:cNvSpPr txBox="1"/>
          <p:nvPr/>
        </p:nvSpPr>
        <p:spPr>
          <a:xfrm>
            <a:off x="4937759" y="3954316"/>
            <a:ext cx="3566160" cy="2752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64748B"/>
                </a:solidFill>
                <a:latin typeface="Arial"/>
                <a:ea typeface="Arial"/>
                <a:cs typeface="Arial"/>
                <a:sym typeface="Arial"/>
              </a:defRPr>
            </a:lvl1pPr>
          </a:lstStyle>
          <a:p>
            <a:pPr/>
            <a:r>
              <a:t>Supports both internal daily decisions, external platform integration (NCSoft) and AI ready data.</a:t>
            </a:r>
          </a:p>
        </p:txBody>
      </p:sp>
      <p:sp>
        <p:nvSpPr>
          <p:cNvPr id="129" name="Text 14"/>
          <p:cNvSpPr txBox="1"/>
          <p:nvPr/>
        </p:nvSpPr>
        <p:spPr>
          <a:xfrm>
            <a:off x="457200" y="4643120"/>
            <a:ext cx="822960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200">
                <a:solidFill>
                  <a:srgbClr val="64748B"/>
                </a:solidFill>
                <a:latin typeface="Georgia"/>
                <a:ea typeface="Georgia"/>
                <a:cs typeface="Georgia"/>
                <a:sym typeface="Georgia"/>
              </a:defRPr>
            </a:lvl1pPr>
          </a:lstStyle>
          <a:p>
            <a:pPr/>
            <a:r>
              <a:t>No product talk yet. This is the reality any solution must address.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131" name="Text 0"/>
          <p:cNvSpPr txBox="1"/>
          <p:nvPr/>
        </p:nvSpPr>
        <p:spPr>
          <a:xfrm>
            <a:off x="731519" y="480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3AADAD"/>
                </a:solidFill>
              </a:defRPr>
            </a:lvl1pPr>
          </a:lstStyle>
          <a:p>
            <a:pPr/>
            <a:r>
              <a:t>WHAT LUPE DELIVERS</a:t>
            </a:r>
          </a:p>
        </p:txBody>
      </p:sp>
      <p:sp>
        <p:nvSpPr>
          <p:cNvPr id="132" name="Text 1"/>
          <p:cNvSpPr txBox="1"/>
          <p:nvPr/>
        </p:nvSpPr>
        <p:spPr>
          <a:xfrm>
            <a:off x="731520" y="819784"/>
            <a:ext cx="7680960"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FFFFFF"/>
                </a:solidFill>
                <a:latin typeface="Georgia"/>
                <a:ea typeface="Georgia"/>
                <a:cs typeface="Georgia"/>
                <a:sym typeface="Georgia"/>
              </a:defRPr>
            </a:pPr>
            <a:r>
              <a:t>The marketing intelligence</a:t>
            </a:r>
          </a:p>
          <a:p>
            <a:pPr>
              <a:lnSpc>
                <a:spcPct val="115000"/>
              </a:lnSpc>
              <a:defRPr b="1" sz="2000">
                <a:solidFill>
                  <a:srgbClr val="FFFFFF"/>
                </a:solidFill>
                <a:latin typeface="Georgia"/>
                <a:ea typeface="Georgia"/>
                <a:cs typeface="Georgia"/>
                <a:sym typeface="Georgia"/>
              </a:defRPr>
            </a:pPr>
            <a:r>
              <a:t>layer on top of your data.</a:t>
            </a:r>
          </a:p>
        </p:txBody>
      </p:sp>
      <p:sp>
        <p:nvSpPr>
          <p:cNvPr id="133" name="Text 2"/>
          <p:cNvSpPr txBox="1"/>
          <p:nvPr/>
        </p:nvSpPr>
        <p:spPr>
          <a:xfrm>
            <a:off x="731520" y="1738806"/>
            <a:ext cx="768096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8895A7"/>
                </a:solidFill>
              </a:defRPr>
            </a:lvl1pPr>
          </a:lstStyle>
          <a:p>
            <a:pPr/>
            <a:r>
              <a:t>Lupe doesn't replace your data engineering. We add the intelligence layer that makes your data actionable for marketing decisions.</a:t>
            </a:r>
          </a:p>
        </p:txBody>
      </p:sp>
      <p:sp>
        <p:nvSpPr>
          <p:cNvPr id="134" name="Shape 3"/>
          <p:cNvSpPr/>
          <p:nvPr/>
        </p:nvSpPr>
        <p:spPr>
          <a:xfrm>
            <a:off x="457199" y="2286000"/>
            <a:ext cx="3931922" cy="2560321"/>
          </a:xfrm>
          <a:prstGeom prst="rect">
            <a:avLst/>
          </a:prstGeom>
          <a:solidFill>
            <a:srgbClr val="1F2D40"/>
          </a:solidFill>
          <a:ln w="12700">
            <a:miter lim="400000"/>
          </a:ln>
        </p:spPr>
        <p:txBody>
          <a:bodyPr lIns="45718" tIns="45718" rIns="45718" bIns="45718"/>
          <a:lstStyle/>
          <a:p>
            <a:pPr/>
          </a:p>
        </p:txBody>
      </p:sp>
      <p:sp>
        <p:nvSpPr>
          <p:cNvPr id="135" name="Text 4"/>
          <p:cNvSpPr txBox="1"/>
          <p:nvPr/>
        </p:nvSpPr>
        <p:spPr>
          <a:xfrm>
            <a:off x="640079" y="2476939"/>
            <a:ext cx="3566161"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FFFFFF"/>
                </a:solidFill>
              </a:defRPr>
            </a:lvl1pPr>
          </a:lstStyle>
          <a:p>
            <a:pPr/>
            <a:r>
              <a:t>Your team owns</a:t>
            </a:r>
          </a:p>
        </p:txBody>
      </p:sp>
      <p:pic>
        <p:nvPicPr>
          <p:cNvPr id="136" name="Image 0" descr="Image 0"/>
          <p:cNvPicPr>
            <a:picLocks noChangeAspect="1"/>
          </p:cNvPicPr>
          <p:nvPr/>
        </p:nvPicPr>
        <p:blipFill>
          <a:blip r:embed="rId2">
            <a:extLst/>
          </a:blip>
          <a:stretch>
            <a:fillRect/>
          </a:stretch>
        </p:blipFill>
        <p:spPr>
          <a:xfrm>
            <a:off x="640080" y="2880360"/>
            <a:ext cx="182881" cy="182881"/>
          </a:xfrm>
          <a:prstGeom prst="rect">
            <a:avLst/>
          </a:prstGeom>
          <a:ln w="12700">
            <a:miter lim="400000"/>
          </a:ln>
        </p:spPr>
      </p:pic>
      <p:sp>
        <p:nvSpPr>
          <p:cNvPr id="137" name="Text 5"/>
          <p:cNvSpPr txBox="1"/>
          <p:nvPr/>
        </p:nvSpPr>
        <p:spPr>
          <a:xfrm>
            <a:off x="914399" y="2862072"/>
            <a:ext cx="329184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Data warehouse and infrastructure</a:t>
            </a:r>
          </a:p>
        </p:txBody>
      </p:sp>
      <p:pic>
        <p:nvPicPr>
          <p:cNvPr id="138" name="Image 1" descr="Image 1"/>
          <p:cNvPicPr>
            <a:picLocks noChangeAspect="1"/>
          </p:cNvPicPr>
          <p:nvPr/>
        </p:nvPicPr>
        <p:blipFill>
          <a:blip r:embed="rId2">
            <a:extLst/>
          </a:blip>
          <a:stretch>
            <a:fillRect/>
          </a:stretch>
        </p:blipFill>
        <p:spPr>
          <a:xfrm>
            <a:off x="640080" y="3291840"/>
            <a:ext cx="182881" cy="182881"/>
          </a:xfrm>
          <a:prstGeom prst="rect">
            <a:avLst/>
          </a:prstGeom>
          <a:ln w="12700">
            <a:miter lim="400000"/>
          </a:ln>
        </p:spPr>
      </p:pic>
      <p:sp>
        <p:nvSpPr>
          <p:cNvPr id="139" name="Text 6"/>
          <p:cNvSpPr txBox="1"/>
          <p:nvPr/>
        </p:nvSpPr>
        <p:spPr>
          <a:xfrm>
            <a:off x="914399" y="3273552"/>
            <a:ext cx="329184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Ingestion pipelines for all sources</a:t>
            </a:r>
          </a:p>
        </p:txBody>
      </p:sp>
      <p:pic>
        <p:nvPicPr>
          <p:cNvPr id="140" name="Image 2" descr="Image 2"/>
          <p:cNvPicPr>
            <a:picLocks noChangeAspect="1"/>
          </p:cNvPicPr>
          <p:nvPr/>
        </p:nvPicPr>
        <p:blipFill>
          <a:blip r:embed="rId2">
            <a:extLst/>
          </a:blip>
          <a:stretch>
            <a:fillRect/>
          </a:stretch>
        </p:blipFill>
        <p:spPr>
          <a:xfrm>
            <a:off x="640080" y="3703320"/>
            <a:ext cx="182881" cy="182881"/>
          </a:xfrm>
          <a:prstGeom prst="rect">
            <a:avLst/>
          </a:prstGeom>
          <a:ln w="12700">
            <a:miter lim="400000"/>
          </a:ln>
        </p:spPr>
      </p:pic>
      <p:sp>
        <p:nvSpPr>
          <p:cNvPr id="141" name="Text 7"/>
          <p:cNvSpPr txBox="1"/>
          <p:nvPr/>
        </p:nvSpPr>
        <p:spPr>
          <a:xfrm>
            <a:off x="914399" y="3685032"/>
            <a:ext cx="329184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Dashboard and reporting migration</a:t>
            </a:r>
          </a:p>
        </p:txBody>
      </p:sp>
      <p:pic>
        <p:nvPicPr>
          <p:cNvPr id="142" name="Image 3" descr="Image 3"/>
          <p:cNvPicPr>
            <a:picLocks noChangeAspect="1"/>
          </p:cNvPicPr>
          <p:nvPr/>
        </p:nvPicPr>
        <p:blipFill>
          <a:blip r:embed="rId2">
            <a:extLst/>
          </a:blip>
          <a:stretch>
            <a:fillRect/>
          </a:stretch>
        </p:blipFill>
        <p:spPr>
          <a:xfrm>
            <a:off x="640080" y="4114800"/>
            <a:ext cx="182881" cy="182880"/>
          </a:xfrm>
          <a:prstGeom prst="rect">
            <a:avLst/>
          </a:prstGeom>
          <a:ln w="12700">
            <a:miter lim="400000"/>
          </a:ln>
        </p:spPr>
      </p:pic>
      <p:sp>
        <p:nvSpPr>
          <p:cNvPr id="143" name="Text 8"/>
          <p:cNvSpPr txBox="1"/>
          <p:nvPr/>
        </p:nvSpPr>
        <p:spPr>
          <a:xfrm>
            <a:off x="914399" y="4096511"/>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Internal process and team workflows</a:t>
            </a:r>
          </a:p>
        </p:txBody>
      </p:sp>
      <p:sp>
        <p:nvSpPr>
          <p:cNvPr id="144" name="Shape 9"/>
          <p:cNvSpPr/>
          <p:nvPr/>
        </p:nvSpPr>
        <p:spPr>
          <a:xfrm>
            <a:off x="4754879" y="2286000"/>
            <a:ext cx="3931921" cy="2560321"/>
          </a:xfrm>
          <a:prstGeom prst="rect">
            <a:avLst/>
          </a:prstGeom>
          <a:solidFill>
            <a:srgbClr val="1F2D40"/>
          </a:solidFill>
          <a:ln w="12700">
            <a:miter lim="400000"/>
          </a:ln>
        </p:spPr>
        <p:txBody>
          <a:bodyPr lIns="45718" tIns="45718" rIns="45718" bIns="45718"/>
          <a:lstStyle/>
          <a:p>
            <a:pPr/>
          </a:p>
        </p:txBody>
      </p:sp>
      <p:sp>
        <p:nvSpPr>
          <p:cNvPr id="145" name="Text 10"/>
          <p:cNvSpPr txBox="1"/>
          <p:nvPr/>
        </p:nvSpPr>
        <p:spPr>
          <a:xfrm>
            <a:off x="4937759" y="2476939"/>
            <a:ext cx="356616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3AADAD"/>
                </a:solidFill>
              </a:defRPr>
            </a:lvl1pPr>
          </a:lstStyle>
          <a:p>
            <a:pPr/>
            <a:r>
              <a:t>Lupe delivers</a:t>
            </a:r>
          </a:p>
        </p:txBody>
      </p:sp>
      <p:pic>
        <p:nvPicPr>
          <p:cNvPr id="146" name="Image 4" descr="Image 4"/>
          <p:cNvPicPr>
            <a:picLocks noChangeAspect="1"/>
          </p:cNvPicPr>
          <p:nvPr/>
        </p:nvPicPr>
        <p:blipFill>
          <a:blip r:embed="rId3">
            <a:extLst/>
          </a:blip>
          <a:stretch>
            <a:fillRect/>
          </a:stretch>
        </p:blipFill>
        <p:spPr>
          <a:xfrm>
            <a:off x="4937759" y="2880360"/>
            <a:ext cx="182881" cy="182881"/>
          </a:xfrm>
          <a:prstGeom prst="rect">
            <a:avLst/>
          </a:prstGeom>
          <a:ln w="12700">
            <a:miter lim="400000"/>
          </a:ln>
        </p:spPr>
      </p:pic>
      <p:sp>
        <p:nvSpPr>
          <p:cNvPr id="147" name="Text 11"/>
          <p:cNvSpPr txBox="1"/>
          <p:nvPr/>
        </p:nvSpPr>
        <p:spPr>
          <a:xfrm>
            <a:off x="5212079" y="2862072"/>
            <a:ext cx="329184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Data audit and SSOT architecture</a:t>
            </a:r>
          </a:p>
        </p:txBody>
      </p:sp>
      <p:pic>
        <p:nvPicPr>
          <p:cNvPr id="148" name="Image 5" descr="Image 5"/>
          <p:cNvPicPr>
            <a:picLocks noChangeAspect="1"/>
          </p:cNvPicPr>
          <p:nvPr/>
        </p:nvPicPr>
        <p:blipFill>
          <a:blip r:embed="rId3">
            <a:extLst/>
          </a:blip>
          <a:stretch>
            <a:fillRect/>
          </a:stretch>
        </p:blipFill>
        <p:spPr>
          <a:xfrm>
            <a:off x="4937759" y="3291840"/>
            <a:ext cx="182881" cy="182881"/>
          </a:xfrm>
          <a:prstGeom prst="rect">
            <a:avLst/>
          </a:prstGeom>
          <a:ln w="12700">
            <a:miter lim="400000"/>
          </a:ln>
        </p:spPr>
      </p:pic>
      <p:sp>
        <p:nvSpPr>
          <p:cNvPr id="149" name="Text 12"/>
          <p:cNvSpPr txBox="1"/>
          <p:nvPr/>
        </p:nvSpPr>
        <p:spPr>
          <a:xfrm>
            <a:off x="5212079" y="3273552"/>
            <a:ext cx="329184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User-level attribution and ID logic</a:t>
            </a:r>
          </a:p>
        </p:txBody>
      </p:sp>
      <p:pic>
        <p:nvPicPr>
          <p:cNvPr id="150" name="Image 6" descr="Image 6"/>
          <p:cNvPicPr>
            <a:picLocks noChangeAspect="1"/>
          </p:cNvPicPr>
          <p:nvPr/>
        </p:nvPicPr>
        <p:blipFill>
          <a:blip r:embed="rId3">
            <a:extLst/>
          </a:blip>
          <a:stretch>
            <a:fillRect/>
          </a:stretch>
        </p:blipFill>
        <p:spPr>
          <a:xfrm>
            <a:off x="4937759" y="3703320"/>
            <a:ext cx="182881" cy="182881"/>
          </a:xfrm>
          <a:prstGeom prst="rect">
            <a:avLst/>
          </a:prstGeom>
          <a:ln w="12700">
            <a:miter lim="400000"/>
          </a:ln>
        </p:spPr>
      </p:pic>
      <p:sp>
        <p:nvSpPr>
          <p:cNvPr id="151" name="Text 13"/>
          <p:cNvSpPr txBox="1"/>
          <p:nvPr/>
        </p:nvSpPr>
        <p:spPr>
          <a:xfrm>
            <a:off x="5212079" y="3685032"/>
            <a:ext cx="329184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Semantic layer with your business logic</a:t>
            </a:r>
          </a:p>
        </p:txBody>
      </p:sp>
      <p:pic>
        <p:nvPicPr>
          <p:cNvPr id="152" name="Image 7" descr="Image 7"/>
          <p:cNvPicPr>
            <a:picLocks noChangeAspect="1"/>
          </p:cNvPicPr>
          <p:nvPr/>
        </p:nvPicPr>
        <p:blipFill>
          <a:blip r:embed="rId3">
            <a:extLst/>
          </a:blip>
          <a:stretch>
            <a:fillRect/>
          </a:stretch>
        </p:blipFill>
        <p:spPr>
          <a:xfrm>
            <a:off x="4937759" y="4114800"/>
            <a:ext cx="182881" cy="182880"/>
          </a:xfrm>
          <a:prstGeom prst="rect">
            <a:avLst/>
          </a:prstGeom>
          <a:ln w="12700">
            <a:miter lim="400000"/>
          </a:ln>
        </p:spPr>
      </p:pic>
      <p:sp>
        <p:nvSpPr>
          <p:cNvPr id="153" name="Text 14"/>
          <p:cNvSpPr txBox="1"/>
          <p:nvPr/>
        </p:nvSpPr>
        <p:spPr>
          <a:xfrm>
            <a:off x="5212079" y="4096511"/>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AI-powered reports, chat, and explain</a:t>
            </a:r>
          </a:p>
        </p:txBody>
      </p:sp>
      <p:sp>
        <p:nvSpPr>
          <p:cNvPr id="154" name="Text 15"/>
          <p:cNvSpPr txBox="1"/>
          <p:nvPr/>
        </p:nvSpPr>
        <p:spPr>
          <a:xfrm>
            <a:off x="731520" y="4777784"/>
            <a:ext cx="7680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895A7"/>
                </a:solidFill>
              </a:defRPr>
            </a:lvl1pPr>
          </a:lstStyle>
          <a:p>
            <a:pPr/>
            <a:r>
              <a:t>Complementary to your existing data engineering work. Nothing gets replaced or disrupted.</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156" name="Shape 0"/>
          <p:cNvSpPr/>
          <p:nvPr/>
        </p:nvSpPr>
        <p:spPr>
          <a:xfrm>
            <a:off x="0" y="4892040"/>
            <a:ext cx="9144000" cy="256033"/>
          </a:xfrm>
          <a:prstGeom prst="rect">
            <a:avLst/>
          </a:prstGeom>
          <a:solidFill>
            <a:srgbClr val="2A8A8A"/>
          </a:solidFill>
          <a:ln w="12700">
            <a:miter lim="400000"/>
          </a:ln>
        </p:spPr>
        <p:txBody>
          <a:bodyPr lIns="45719" rIns="45719"/>
          <a:lstStyle/>
          <a:p>
            <a:pPr/>
          </a:p>
        </p:txBody>
      </p:sp>
      <p:sp>
        <p:nvSpPr>
          <p:cNvPr id="157" name="Text 1"/>
          <p:cNvSpPr txBox="1"/>
          <p:nvPr/>
        </p:nvSpPr>
        <p:spPr>
          <a:xfrm>
            <a:off x="640080" y="481506"/>
            <a:ext cx="7315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4ECDC4"/>
                </a:solidFill>
              </a:defRPr>
            </a:lvl1pPr>
          </a:lstStyle>
          <a:p>
            <a:pPr/>
            <a:r>
              <a:t>THE NCSOFT FACTOR</a:t>
            </a:r>
          </a:p>
        </p:txBody>
      </p:sp>
      <p:sp>
        <p:nvSpPr>
          <p:cNvPr id="158" name="Text 2"/>
          <p:cNvSpPr txBox="1"/>
          <p:nvPr/>
        </p:nvSpPr>
        <p:spPr>
          <a:xfrm>
            <a:off x="640080" y="896620"/>
            <a:ext cx="7772401" cy="1041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600">
                <a:solidFill>
                  <a:srgbClr val="FFFFFF"/>
                </a:solidFill>
                <a:latin typeface="Georgia"/>
                <a:ea typeface="Georgia"/>
                <a:cs typeface="Georgia"/>
                <a:sym typeface="Georgia"/>
              </a:defRPr>
            </a:pPr>
            <a:r>
              <a:t>This is about maintaining</a:t>
            </a:r>
          </a:p>
          <a:p>
            <a:pPr>
              <a:defRPr b="1" sz="3600">
                <a:solidFill>
                  <a:srgbClr val="FFFFFF"/>
                </a:solidFill>
                <a:latin typeface="Georgia"/>
                <a:ea typeface="Georgia"/>
                <a:cs typeface="Georgia"/>
                <a:sym typeface="Georgia"/>
              </a:defRPr>
            </a:pPr>
            <a:r>
              <a:t>control over your UA decisions.</a:t>
            </a:r>
          </a:p>
        </p:txBody>
      </p:sp>
      <p:sp>
        <p:nvSpPr>
          <p:cNvPr id="159" name="Shape 3"/>
          <p:cNvSpPr/>
          <p:nvPr/>
        </p:nvSpPr>
        <p:spPr>
          <a:xfrm>
            <a:off x="640079" y="2286000"/>
            <a:ext cx="7863842" cy="685800"/>
          </a:xfrm>
          <a:prstGeom prst="rect">
            <a:avLst/>
          </a:prstGeom>
          <a:solidFill>
            <a:srgbClr val="1F2D40"/>
          </a:solidFill>
          <a:ln w="12700">
            <a:miter lim="400000"/>
          </a:ln>
        </p:spPr>
        <p:txBody>
          <a:bodyPr lIns="45719" rIns="45719"/>
          <a:lstStyle/>
          <a:p>
            <a:pPr/>
          </a:p>
        </p:txBody>
      </p:sp>
      <p:sp>
        <p:nvSpPr>
          <p:cNvPr id="160" name="Text 4"/>
          <p:cNvSpPr txBox="1"/>
          <p:nvPr/>
        </p:nvSpPr>
        <p:spPr>
          <a:xfrm>
            <a:off x="777239" y="2443479"/>
            <a:ext cx="4114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4ECDC4"/>
                </a:solidFill>
                <a:latin typeface="Georgia"/>
                <a:ea typeface="Georgia"/>
                <a:cs typeface="Georgia"/>
                <a:sym typeface="Georgia"/>
              </a:defRPr>
            </a:lvl1pPr>
          </a:lstStyle>
          <a:p>
            <a:pPr/>
            <a:r>
              <a:t>1</a:t>
            </a:r>
          </a:p>
        </p:txBody>
      </p:sp>
      <p:sp>
        <p:nvSpPr>
          <p:cNvPr id="161" name="Text 5"/>
          <p:cNvSpPr txBox="1"/>
          <p:nvPr/>
        </p:nvSpPr>
        <p:spPr>
          <a:xfrm>
            <a:off x="1280160" y="2424492"/>
            <a:ext cx="41148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defRPr>
            </a:lvl1pPr>
          </a:lstStyle>
          <a:p>
            <a:pPr/>
            <a:r>
              <a:t>Your performance data will be evaluated externally</a:t>
            </a:r>
          </a:p>
        </p:txBody>
      </p:sp>
      <p:sp>
        <p:nvSpPr>
          <p:cNvPr id="162" name="Text 6"/>
          <p:cNvSpPr txBox="1"/>
          <p:nvPr/>
        </p:nvSpPr>
        <p:spPr>
          <a:xfrm>
            <a:off x="1280160" y="2710487"/>
            <a:ext cx="68580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8895A7"/>
                </a:solidFill>
              </a:defRPr>
            </a:lvl1pPr>
          </a:lstStyle>
          <a:p>
            <a:pPr/>
            <a:r>
              <a:t>NCSoft's centralised platform will consume your marketing data.</a:t>
            </a:r>
          </a:p>
        </p:txBody>
      </p:sp>
      <p:sp>
        <p:nvSpPr>
          <p:cNvPr id="163" name="Shape 7"/>
          <p:cNvSpPr/>
          <p:nvPr/>
        </p:nvSpPr>
        <p:spPr>
          <a:xfrm>
            <a:off x="640079" y="3154679"/>
            <a:ext cx="7863842" cy="685801"/>
          </a:xfrm>
          <a:prstGeom prst="rect">
            <a:avLst/>
          </a:prstGeom>
          <a:solidFill>
            <a:srgbClr val="1F2D40"/>
          </a:solidFill>
          <a:ln w="12700">
            <a:miter lim="400000"/>
          </a:ln>
        </p:spPr>
        <p:txBody>
          <a:bodyPr lIns="45719" rIns="45719"/>
          <a:lstStyle/>
          <a:p>
            <a:pPr/>
          </a:p>
        </p:txBody>
      </p:sp>
      <p:sp>
        <p:nvSpPr>
          <p:cNvPr id="164" name="Text 8"/>
          <p:cNvSpPr txBox="1"/>
          <p:nvPr/>
        </p:nvSpPr>
        <p:spPr>
          <a:xfrm>
            <a:off x="777239" y="3312160"/>
            <a:ext cx="4114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4ECDC4"/>
                </a:solidFill>
                <a:latin typeface="Georgia"/>
                <a:ea typeface="Georgia"/>
                <a:cs typeface="Georgia"/>
                <a:sym typeface="Georgia"/>
              </a:defRPr>
            </a:lvl1pPr>
          </a:lstStyle>
          <a:p>
            <a:pPr/>
            <a:r>
              <a:t>2</a:t>
            </a:r>
          </a:p>
        </p:txBody>
      </p:sp>
      <p:sp>
        <p:nvSpPr>
          <p:cNvPr id="165" name="Text 9"/>
          <p:cNvSpPr txBox="1"/>
          <p:nvPr/>
        </p:nvSpPr>
        <p:spPr>
          <a:xfrm>
            <a:off x="1280160" y="3293172"/>
            <a:ext cx="41148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defRPr>
            </a:lvl1pPr>
          </a:lstStyle>
          <a:p>
            <a:pPr/>
            <a:r>
              <a:t>Decisions may rely on centralised systems</a:t>
            </a:r>
          </a:p>
        </p:txBody>
      </p:sp>
      <p:sp>
        <p:nvSpPr>
          <p:cNvPr id="166" name="Text 10"/>
          <p:cNvSpPr txBox="1"/>
          <p:nvPr/>
        </p:nvSpPr>
        <p:spPr>
          <a:xfrm>
            <a:off x="1280160" y="3579167"/>
            <a:ext cx="68580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8895A7"/>
                </a:solidFill>
              </a:defRPr>
            </a:lvl1pPr>
          </a:lstStyle>
          <a:p>
            <a:pPr/>
            <a:r>
              <a:t>If your data is inconsistent, others define how performance is interpreted.</a:t>
            </a:r>
          </a:p>
        </p:txBody>
      </p:sp>
      <p:sp>
        <p:nvSpPr>
          <p:cNvPr id="167" name="Shape 11"/>
          <p:cNvSpPr/>
          <p:nvPr/>
        </p:nvSpPr>
        <p:spPr>
          <a:xfrm>
            <a:off x="640079" y="4023359"/>
            <a:ext cx="7863842" cy="685801"/>
          </a:xfrm>
          <a:prstGeom prst="rect">
            <a:avLst/>
          </a:prstGeom>
          <a:solidFill>
            <a:srgbClr val="1F2D40"/>
          </a:solidFill>
          <a:ln w="12700">
            <a:miter lim="400000"/>
          </a:ln>
        </p:spPr>
        <p:txBody>
          <a:bodyPr lIns="45719" rIns="45719"/>
          <a:lstStyle/>
          <a:p>
            <a:pPr/>
          </a:p>
        </p:txBody>
      </p:sp>
      <p:sp>
        <p:nvSpPr>
          <p:cNvPr id="168" name="Text 12"/>
          <p:cNvSpPr txBox="1"/>
          <p:nvPr/>
        </p:nvSpPr>
        <p:spPr>
          <a:xfrm>
            <a:off x="777239" y="4180840"/>
            <a:ext cx="411482" cy="279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000">
                <a:solidFill>
                  <a:srgbClr val="4ECDC4"/>
                </a:solidFill>
                <a:latin typeface="Georgia"/>
                <a:ea typeface="Georgia"/>
                <a:cs typeface="Georgia"/>
                <a:sym typeface="Georgia"/>
              </a:defRPr>
            </a:lvl1pPr>
          </a:lstStyle>
          <a:p>
            <a:pPr/>
            <a:r>
              <a:t>3</a:t>
            </a:r>
          </a:p>
        </p:txBody>
      </p:sp>
      <p:sp>
        <p:nvSpPr>
          <p:cNvPr id="169" name="Text 13"/>
          <p:cNvSpPr txBox="1"/>
          <p:nvPr/>
        </p:nvSpPr>
        <p:spPr>
          <a:xfrm>
            <a:off x="1280160" y="4161852"/>
            <a:ext cx="411480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FFFFFF"/>
                </a:solidFill>
              </a:defRPr>
            </a:lvl1pPr>
          </a:lstStyle>
          <a:p>
            <a:pPr/>
            <a:r>
              <a:t>Clean data means you stay in control</a:t>
            </a:r>
          </a:p>
        </p:txBody>
      </p:sp>
      <p:sp>
        <p:nvSpPr>
          <p:cNvPr id="170" name="Text 14"/>
          <p:cNvSpPr txBox="1"/>
          <p:nvPr/>
        </p:nvSpPr>
        <p:spPr>
          <a:xfrm>
            <a:off x="1280160" y="4447847"/>
            <a:ext cx="68580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8895A7"/>
                </a:solidFill>
              </a:defRPr>
            </a:lvl1pPr>
          </a:lstStyle>
          <a:p>
            <a:pPr/>
            <a:r>
              <a:t>Integration becomes a non-event when the foundation is solid.</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172" name="Text 0"/>
          <p:cNvSpPr txBox="1"/>
          <p:nvPr/>
        </p:nvSpPr>
        <p:spPr>
          <a:xfrm>
            <a:off x="640080" y="481506"/>
            <a:ext cx="7315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2A8A8A"/>
                </a:solidFill>
              </a:defRPr>
            </a:lvl1pPr>
          </a:lstStyle>
          <a:p>
            <a:pPr/>
            <a:r>
              <a:t>CREDIBILITY</a:t>
            </a:r>
          </a:p>
        </p:txBody>
      </p:sp>
      <p:sp>
        <p:nvSpPr>
          <p:cNvPr id="173" name="Text 1"/>
          <p:cNvSpPr txBox="1"/>
          <p:nvPr/>
        </p:nvSpPr>
        <p:spPr>
          <a:xfrm>
            <a:off x="640080" y="882649"/>
            <a:ext cx="7315201" cy="520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1A2332"/>
                </a:solidFill>
                <a:latin typeface="Georgia"/>
                <a:ea typeface="Georgia"/>
                <a:cs typeface="Georgia"/>
                <a:sym typeface="Georgia"/>
              </a:defRPr>
            </a:lvl1pPr>
          </a:lstStyle>
          <a:p>
            <a:pPr/>
            <a:r>
              <a:t>We've done this before.</a:t>
            </a:r>
          </a:p>
        </p:txBody>
      </p:sp>
      <p:sp>
        <p:nvSpPr>
          <p:cNvPr id="174" name="Shape 2"/>
          <p:cNvSpPr/>
          <p:nvPr/>
        </p:nvSpPr>
        <p:spPr>
          <a:xfrm>
            <a:off x="640079" y="1737359"/>
            <a:ext cx="4846322" cy="2926082"/>
          </a:xfrm>
          <a:prstGeom prst="rect">
            <a:avLst/>
          </a:prstGeom>
          <a:solidFill>
            <a:srgbClr val="1A2332"/>
          </a:solidFill>
          <a:ln w="12700">
            <a:miter lim="400000"/>
          </a:ln>
        </p:spPr>
        <p:txBody>
          <a:bodyPr lIns="45719" rIns="45719"/>
          <a:lstStyle/>
          <a:p>
            <a:pPr/>
          </a:p>
        </p:txBody>
      </p:sp>
      <p:sp>
        <p:nvSpPr>
          <p:cNvPr id="175" name="Text 3"/>
          <p:cNvSpPr txBox="1"/>
          <p:nvPr/>
        </p:nvSpPr>
        <p:spPr>
          <a:xfrm>
            <a:off x="868679" y="1969769"/>
            <a:ext cx="4389122"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4ECDC4"/>
                </a:solidFill>
                <a:latin typeface="Georgia"/>
                <a:ea typeface="Georgia"/>
                <a:cs typeface="Georgia"/>
                <a:sym typeface="Georgia"/>
              </a:defRPr>
            </a:lvl1pPr>
          </a:lstStyle>
          <a:p>
            <a:pPr/>
            <a:r>
              <a:t>Popcore → Zynga / Take-Two</a:t>
            </a:r>
          </a:p>
        </p:txBody>
      </p:sp>
      <p:sp>
        <p:nvSpPr>
          <p:cNvPr id="176" name="Text 4"/>
          <p:cNvSpPr txBox="1"/>
          <p:nvPr/>
        </p:nvSpPr>
        <p:spPr>
          <a:xfrm>
            <a:off x="868679" y="2527739"/>
            <a:ext cx="4389122" cy="18939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spcBef>
                <a:spcPts val="200"/>
              </a:spcBef>
              <a:defRPr sz="1300">
                <a:solidFill>
                  <a:srgbClr val="E8ECF0"/>
                </a:solidFill>
              </a:defRPr>
            </a:pPr>
            <a:r>
              <a:t>Kostas and Claudia built the UA data platform at Popcore as BI Director and VP Technology.</a:t>
            </a:r>
          </a:p>
          <a:p>
            <a:pPr>
              <a:spcBef>
                <a:spcPts val="200"/>
              </a:spcBef>
              <a:defRPr sz="1300"/>
            </a:pPr>
          </a:p>
          <a:p>
            <a:pPr>
              <a:spcBef>
                <a:spcPts val="200"/>
              </a:spcBef>
              <a:defRPr sz="1300">
                <a:solidFill>
                  <a:srgbClr val="E8ECF0"/>
                </a:solidFill>
              </a:defRPr>
            </a:pPr>
            <a:r>
              <a:t>After the acquisition by Rollic (Zynga/Take-Two), we handled the full data integration into their centralized systems. Spend, revenue, forecasts, retention, engagement.</a:t>
            </a:r>
          </a:p>
          <a:p>
            <a:pPr>
              <a:spcBef>
                <a:spcPts val="200"/>
              </a:spcBef>
              <a:defRPr sz="1300"/>
            </a:pPr>
          </a:p>
          <a:p>
            <a:pPr>
              <a:spcBef>
                <a:spcPts val="200"/>
              </a:spcBef>
              <a:defRPr b="1" sz="1300">
                <a:solidFill>
                  <a:srgbClr val="4ECDC4"/>
                </a:solidFill>
              </a:defRPr>
            </a:pPr>
            <a:r>
              <a:t>Because the data foundation was clean, the integration was straightforward.</a:t>
            </a:r>
          </a:p>
        </p:txBody>
      </p:sp>
      <p:sp>
        <p:nvSpPr>
          <p:cNvPr id="177" name="Shape 5"/>
          <p:cNvSpPr/>
          <p:nvPr/>
        </p:nvSpPr>
        <p:spPr>
          <a:xfrm>
            <a:off x="5760720" y="1737359"/>
            <a:ext cx="2743201" cy="2926082"/>
          </a:xfrm>
          <a:prstGeom prst="rect">
            <a:avLst/>
          </a:prstGeom>
          <a:solidFill>
            <a:srgbClr val="FFFFFF"/>
          </a:solidFill>
          <a:ln w="12700">
            <a:miter lim="400000"/>
          </a:ln>
          <a:effectLst>
            <a:outerShdw sx="100000" sy="100000" kx="0" ky="0" algn="b" rotWithShape="0" blurRad="50800" dist="25400" dir="8100000">
              <a:srgbClr val="000000">
                <a:alpha val="8000"/>
              </a:srgbClr>
            </a:outerShdw>
          </a:effectLst>
        </p:spPr>
        <p:txBody>
          <a:bodyPr lIns="45719" rIns="45719"/>
          <a:lstStyle/>
          <a:p>
            <a:pPr/>
          </a:p>
        </p:txBody>
      </p:sp>
      <p:sp>
        <p:nvSpPr>
          <p:cNvPr id="178" name="Shape 6"/>
          <p:cNvSpPr/>
          <p:nvPr/>
        </p:nvSpPr>
        <p:spPr>
          <a:xfrm>
            <a:off x="5760720" y="1737359"/>
            <a:ext cx="54865" cy="2926082"/>
          </a:xfrm>
          <a:prstGeom prst="rect">
            <a:avLst/>
          </a:prstGeom>
          <a:solidFill>
            <a:srgbClr val="2A8A8A"/>
          </a:solidFill>
          <a:ln w="12700">
            <a:miter lim="400000"/>
          </a:ln>
        </p:spPr>
        <p:txBody>
          <a:bodyPr lIns="45719" rIns="45719"/>
          <a:lstStyle/>
          <a:p>
            <a:pPr/>
          </a:p>
        </p:txBody>
      </p:sp>
      <p:sp>
        <p:nvSpPr>
          <p:cNvPr id="179" name="Text 7"/>
          <p:cNvSpPr txBox="1"/>
          <p:nvPr/>
        </p:nvSpPr>
        <p:spPr>
          <a:xfrm>
            <a:off x="5989320" y="1985580"/>
            <a:ext cx="2377441"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400">
                <a:solidFill>
                  <a:srgbClr val="2A8A8A"/>
                </a:solidFill>
              </a:defRPr>
            </a:lvl1pPr>
          </a:lstStyle>
          <a:p>
            <a:pPr/>
            <a:r>
              <a:t>What it delivered</a:t>
            </a:r>
          </a:p>
        </p:txBody>
      </p:sp>
      <p:pic>
        <p:nvPicPr>
          <p:cNvPr id="180" name="Image 0" descr="Image 0"/>
          <p:cNvPicPr>
            <a:picLocks noChangeAspect="1"/>
          </p:cNvPicPr>
          <p:nvPr/>
        </p:nvPicPr>
        <p:blipFill>
          <a:blip r:embed="rId2">
            <a:extLst/>
          </a:blip>
          <a:stretch>
            <a:fillRect/>
          </a:stretch>
        </p:blipFill>
        <p:spPr>
          <a:xfrm>
            <a:off x="5989320" y="2377439"/>
            <a:ext cx="228601" cy="228601"/>
          </a:xfrm>
          <a:prstGeom prst="rect">
            <a:avLst/>
          </a:prstGeom>
          <a:ln w="12700">
            <a:miter lim="400000"/>
          </a:ln>
        </p:spPr>
      </p:pic>
      <p:sp>
        <p:nvSpPr>
          <p:cNvPr id="181" name="Text 8"/>
          <p:cNvSpPr txBox="1"/>
          <p:nvPr/>
        </p:nvSpPr>
        <p:spPr>
          <a:xfrm>
            <a:off x="6309359" y="2409497"/>
            <a:ext cx="2011680" cy="3473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D4F63"/>
                </a:solidFill>
              </a:defRPr>
            </a:lvl1pPr>
          </a:lstStyle>
          <a:p>
            <a:pPr/>
            <a:r>
              <a:t>Consistent performance view across systems</a:t>
            </a:r>
          </a:p>
        </p:txBody>
      </p:sp>
      <p:pic>
        <p:nvPicPr>
          <p:cNvPr id="182" name="Image 1" descr="Image 1"/>
          <p:cNvPicPr>
            <a:picLocks noChangeAspect="1"/>
          </p:cNvPicPr>
          <p:nvPr/>
        </p:nvPicPr>
        <p:blipFill>
          <a:blip r:embed="rId2">
            <a:extLst/>
          </a:blip>
          <a:stretch>
            <a:fillRect/>
          </a:stretch>
        </p:blipFill>
        <p:spPr>
          <a:xfrm>
            <a:off x="5989320" y="3017520"/>
            <a:ext cx="228601" cy="228601"/>
          </a:xfrm>
          <a:prstGeom prst="rect">
            <a:avLst/>
          </a:prstGeom>
          <a:ln w="12700">
            <a:miter lim="400000"/>
          </a:ln>
        </p:spPr>
      </p:pic>
      <p:sp>
        <p:nvSpPr>
          <p:cNvPr id="183" name="Text 9"/>
          <p:cNvSpPr txBox="1"/>
          <p:nvPr/>
        </p:nvSpPr>
        <p:spPr>
          <a:xfrm>
            <a:off x="6309359" y="3049577"/>
            <a:ext cx="2011680" cy="3473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D4F63"/>
                </a:solidFill>
              </a:defRPr>
            </a:lvl1pPr>
          </a:lstStyle>
          <a:p>
            <a:pPr/>
            <a:r>
              <a:t>Faster decision cycles for UA teams</a:t>
            </a:r>
          </a:p>
        </p:txBody>
      </p:sp>
      <p:pic>
        <p:nvPicPr>
          <p:cNvPr id="184" name="Image 2" descr="Image 2"/>
          <p:cNvPicPr>
            <a:picLocks noChangeAspect="1"/>
          </p:cNvPicPr>
          <p:nvPr/>
        </p:nvPicPr>
        <p:blipFill>
          <a:blip r:embed="rId2">
            <a:extLst/>
          </a:blip>
          <a:stretch>
            <a:fillRect/>
          </a:stretch>
        </p:blipFill>
        <p:spPr>
          <a:xfrm>
            <a:off x="5989320" y="3657600"/>
            <a:ext cx="228601" cy="228600"/>
          </a:xfrm>
          <a:prstGeom prst="rect">
            <a:avLst/>
          </a:prstGeom>
          <a:ln w="12700">
            <a:miter lim="400000"/>
          </a:ln>
        </p:spPr>
      </p:pic>
      <p:sp>
        <p:nvSpPr>
          <p:cNvPr id="185" name="Text 10"/>
          <p:cNvSpPr txBox="1"/>
          <p:nvPr/>
        </p:nvSpPr>
        <p:spPr>
          <a:xfrm>
            <a:off x="6309359" y="3689657"/>
            <a:ext cx="2011680" cy="34736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3D4F63"/>
                </a:solidFill>
              </a:defRPr>
            </a:lvl1pPr>
          </a:lstStyle>
          <a:p>
            <a:pPr/>
            <a:r>
              <a:t>Seamless integration into centralized platform</a:t>
            </a:r>
          </a:p>
        </p:txBody>
      </p:sp>
      <p:sp>
        <p:nvSpPr>
          <p:cNvPr id="186" name="Text 11"/>
          <p:cNvSpPr txBox="1"/>
          <p:nvPr/>
        </p:nvSpPr>
        <p:spPr>
          <a:xfrm>
            <a:off x="640079" y="4785798"/>
            <a:ext cx="7863842"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300">
                <a:solidFill>
                  <a:srgbClr val="1A2332"/>
                </a:solidFill>
              </a:defRPr>
            </a:lvl1pPr>
          </a:lstStyle>
          <a:p>
            <a:pPr/>
            <a:r>
              <a:t>This improved how teams spent budget, not just how data was stored.</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188" name="Text 0"/>
          <p:cNvSpPr txBox="1"/>
          <p:nvPr/>
        </p:nvSpPr>
        <p:spPr>
          <a:xfrm>
            <a:off x="731519" y="480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PHASED APPROACH</a:t>
            </a:r>
          </a:p>
        </p:txBody>
      </p:sp>
      <p:sp>
        <p:nvSpPr>
          <p:cNvPr id="189" name="Text 1"/>
          <p:cNvSpPr txBox="1"/>
          <p:nvPr/>
        </p:nvSpPr>
        <p:spPr>
          <a:xfrm>
            <a:off x="731520" y="819784"/>
            <a:ext cx="7680960"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Five phases. Sign-off gates.</a:t>
            </a:r>
          </a:p>
          <a:p>
            <a:pPr>
              <a:lnSpc>
                <a:spcPct val="115000"/>
              </a:lnSpc>
              <a:defRPr b="1" sz="2000">
                <a:solidFill>
                  <a:srgbClr val="1A2332"/>
                </a:solidFill>
                <a:latin typeface="Georgia"/>
                <a:ea typeface="Georgia"/>
                <a:cs typeface="Georgia"/>
                <a:sym typeface="Georgia"/>
              </a:defRPr>
            </a:pPr>
            <a:r>
              <a:t>No surprises.</a:t>
            </a:r>
          </a:p>
        </p:txBody>
      </p:sp>
      <p:sp>
        <p:nvSpPr>
          <p:cNvPr id="190" name="Shape 2"/>
          <p:cNvSpPr/>
          <p:nvPr/>
        </p:nvSpPr>
        <p:spPr>
          <a:xfrm>
            <a:off x="274320" y="1737360"/>
            <a:ext cx="1600201" cy="292608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191" name="Shape 3"/>
          <p:cNvSpPr/>
          <p:nvPr/>
        </p:nvSpPr>
        <p:spPr>
          <a:xfrm>
            <a:off x="822960" y="1874520"/>
            <a:ext cx="502921" cy="502921"/>
          </a:xfrm>
          <a:prstGeom prst="ellipse">
            <a:avLst/>
          </a:prstGeom>
          <a:solidFill>
            <a:srgbClr val="2A8A8A"/>
          </a:solidFill>
          <a:ln w="12700">
            <a:miter lim="400000"/>
          </a:ln>
        </p:spPr>
        <p:txBody>
          <a:bodyPr lIns="45718" tIns="45718" rIns="45718" bIns="45718"/>
          <a:lstStyle/>
          <a:p>
            <a:pPr/>
          </a:p>
        </p:txBody>
      </p:sp>
      <p:sp>
        <p:nvSpPr>
          <p:cNvPr id="192" name="Text 4"/>
          <p:cNvSpPr txBox="1"/>
          <p:nvPr/>
        </p:nvSpPr>
        <p:spPr>
          <a:xfrm>
            <a:off x="822960" y="1992629"/>
            <a:ext cx="50292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FFFFFF"/>
                </a:solidFill>
                <a:latin typeface="Georgia"/>
                <a:ea typeface="Georgia"/>
                <a:cs typeface="Georgia"/>
                <a:sym typeface="Georgia"/>
              </a:defRPr>
            </a:lvl1pPr>
          </a:lstStyle>
          <a:p>
            <a:pPr/>
            <a:r>
              <a:t>1</a:t>
            </a:r>
          </a:p>
        </p:txBody>
      </p:sp>
      <p:sp>
        <p:nvSpPr>
          <p:cNvPr id="193" name="Text 5"/>
          <p:cNvSpPr txBox="1"/>
          <p:nvPr/>
        </p:nvSpPr>
        <p:spPr>
          <a:xfrm>
            <a:off x="365759" y="2560585"/>
            <a:ext cx="1417321" cy="31950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15000"/>
              </a:lnSpc>
              <a:defRPr b="1" sz="1100">
                <a:solidFill>
                  <a:srgbClr val="1A2332"/>
                </a:solidFill>
              </a:defRPr>
            </a:pPr>
            <a:r>
              <a:t>Data Audit</a:t>
            </a:r>
          </a:p>
          <a:p>
            <a:pPr algn="ctr">
              <a:lnSpc>
                <a:spcPct val="115000"/>
              </a:lnSpc>
              <a:defRPr b="1" sz="1100">
                <a:solidFill>
                  <a:srgbClr val="1A2332"/>
                </a:solidFill>
              </a:defRPr>
            </a:pPr>
            <a:r>
              <a:t>&amp; Planning</a:t>
            </a:r>
          </a:p>
        </p:txBody>
      </p:sp>
      <p:sp>
        <p:nvSpPr>
          <p:cNvPr id="194" name="Text 6"/>
          <p:cNvSpPr txBox="1"/>
          <p:nvPr/>
        </p:nvSpPr>
        <p:spPr>
          <a:xfrm>
            <a:off x="365759" y="3277713"/>
            <a:ext cx="1417321" cy="4854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40000"/>
              </a:lnSpc>
              <a:defRPr sz="900">
                <a:solidFill>
                  <a:srgbClr val="3D4F63"/>
                </a:solidFill>
              </a:defRPr>
            </a:pPr>
            <a:r>
              <a:t>Automated audit.</a:t>
            </a:r>
          </a:p>
          <a:p>
            <a:pPr algn="ctr">
              <a:lnSpc>
                <a:spcPct val="140000"/>
              </a:lnSpc>
              <a:defRPr sz="900">
                <a:solidFill>
                  <a:srgbClr val="3D4F63"/>
                </a:solidFill>
              </a:defRPr>
            </a:pPr>
            <a:r>
              <a:t>SSOT blueprint.</a:t>
            </a:r>
          </a:p>
          <a:p>
            <a:pPr algn="ctr">
              <a:lnSpc>
                <a:spcPct val="140000"/>
              </a:lnSpc>
              <a:defRPr sz="900">
                <a:solidFill>
                  <a:srgbClr val="3D4F63"/>
                </a:solidFill>
              </a:defRPr>
            </a:pPr>
            <a:r>
              <a:t>Sign-off.</a:t>
            </a:r>
          </a:p>
        </p:txBody>
      </p:sp>
      <p:pic>
        <p:nvPicPr>
          <p:cNvPr id="195" name="Image 0" descr="Image 0"/>
          <p:cNvPicPr>
            <a:picLocks noChangeAspect="1"/>
          </p:cNvPicPr>
          <p:nvPr/>
        </p:nvPicPr>
        <p:blipFill>
          <a:blip r:embed="rId2">
            <a:extLst/>
          </a:blip>
          <a:stretch>
            <a:fillRect/>
          </a:stretch>
        </p:blipFill>
        <p:spPr>
          <a:xfrm>
            <a:off x="1920239" y="2926079"/>
            <a:ext cx="182881" cy="182881"/>
          </a:xfrm>
          <a:prstGeom prst="rect">
            <a:avLst/>
          </a:prstGeom>
          <a:ln w="12700">
            <a:miter lim="400000"/>
          </a:ln>
        </p:spPr>
      </p:pic>
      <p:sp>
        <p:nvSpPr>
          <p:cNvPr id="196" name="Shape 7"/>
          <p:cNvSpPr/>
          <p:nvPr/>
        </p:nvSpPr>
        <p:spPr>
          <a:xfrm>
            <a:off x="2057400" y="1737360"/>
            <a:ext cx="1600200" cy="292608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197" name="Shape 8"/>
          <p:cNvSpPr/>
          <p:nvPr/>
        </p:nvSpPr>
        <p:spPr>
          <a:xfrm>
            <a:off x="2606039" y="1874520"/>
            <a:ext cx="502921" cy="502921"/>
          </a:xfrm>
          <a:prstGeom prst="ellipse">
            <a:avLst/>
          </a:prstGeom>
          <a:solidFill>
            <a:srgbClr val="2A8A8A"/>
          </a:solidFill>
          <a:ln w="12700">
            <a:miter lim="400000"/>
          </a:ln>
        </p:spPr>
        <p:txBody>
          <a:bodyPr lIns="45718" tIns="45718" rIns="45718" bIns="45718"/>
          <a:lstStyle/>
          <a:p>
            <a:pPr/>
          </a:p>
        </p:txBody>
      </p:sp>
      <p:sp>
        <p:nvSpPr>
          <p:cNvPr id="198" name="Text 9"/>
          <p:cNvSpPr txBox="1"/>
          <p:nvPr/>
        </p:nvSpPr>
        <p:spPr>
          <a:xfrm>
            <a:off x="2606039" y="1992629"/>
            <a:ext cx="50292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FFFFFF"/>
                </a:solidFill>
                <a:latin typeface="Georgia"/>
                <a:ea typeface="Georgia"/>
                <a:cs typeface="Georgia"/>
                <a:sym typeface="Georgia"/>
              </a:defRPr>
            </a:lvl1pPr>
          </a:lstStyle>
          <a:p>
            <a:pPr/>
            <a:r>
              <a:t>2</a:t>
            </a:r>
          </a:p>
        </p:txBody>
      </p:sp>
      <p:sp>
        <p:nvSpPr>
          <p:cNvPr id="199" name="Text 10"/>
          <p:cNvSpPr txBox="1"/>
          <p:nvPr/>
        </p:nvSpPr>
        <p:spPr>
          <a:xfrm>
            <a:off x="2148839" y="2560585"/>
            <a:ext cx="1417321" cy="31950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15000"/>
              </a:lnSpc>
              <a:defRPr b="1" sz="1100">
                <a:solidFill>
                  <a:srgbClr val="1A2332"/>
                </a:solidFill>
              </a:defRPr>
            </a:pPr>
            <a:r>
              <a:t>Data</a:t>
            </a:r>
          </a:p>
          <a:p>
            <a:pPr algn="ctr">
              <a:lnSpc>
                <a:spcPct val="115000"/>
              </a:lnSpc>
              <a:defRPr b="1" sz="1100">
                <a:solidFill>
                  <a:srgbClr val="1A2332"/>
                </a:solidFill>
              </a:defRPr>
            </a:pPr>
            <a:r>
              <a:t>Foundation</a:t>
            </a:r>
          </a:p>
        </p:txBody>
      </p:sp>
      <p:sp>
        <p:nvSpPr>
          <p:cNvPr id="200" name="Text 11"/>
          <p:cNvSpPr txBox="1"/>
          <p:nvPr/>
        </p:nvSpPr>
        <p:spPr>
          <a:xfrm>
            <a:off x="2148839" y="3277713"/>
            <a:ext cx="1417321" cy="4854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40000"/>
              </a:lnSpc>
              <a:defRPr sz="900">
                <a:solidFill>
                  <a:srgbClr val="3D4F63"/>
                </a:solidFill>
              </a:defRPr>
            </a:pPr>
            <a:r>
              <a:t>User-level attribution.</a:t>
            </a:r>
          </a:p>
          <a:p>
            <a:pPr algn="ctr">
              <a:lnSpc>
                <a:spcPct val="140000"/>
              </a:lnSpc>
              <a:defRPr sz="900">
                <a:solidFill>
                  <a:srgbClr val="3D4F63"/>
                </a:solidFill>
              </a:defRPr>
            </a:pPr>
            <a:r>
              <a:t>Product data.</a:t>
            </a:r>
          </a:p>
          <a:p>
            <a:pPr algn="ctr">
              <a:lnSpc>
                <a:spcPct val="140000"/>
              </a:lnSpc>
              <a:defRPr sz="900">
                <a:solidFill>
                  <a:srgbClr val="3D4F63"/>
                </a:solidFill>
              </a:defRPr>
            </a:pPr>
            <a:r>
              <a:t>User catalog.</a:t>
            </a:r>
          </a:p>
        </p:txBody>
      </p:sp>
      <p:pic>
        <p:nvPicPr>
          <p:cNvPr id="201" name="Image 1" descr="Image 1"/>
          <p:cNvPicPr>
            <a:picLocks noChangeAspect="1"/>
          </p:cNvPicPr>
          <p:nvPr/>
        </p:nvPicPr>
        <p:blipFill>
          <a:blip r:embed="rId2">
            <a:extLst/>
          </a:blip>
          <a:stretch>
            <a:fillRect/>
          </a:stretch>
        </p:blipFill>
        <p:spPr>
          <a:xfrm>
            <a:off x="3703320" y="2926079"/>
            <a:ext cx="182881" cy="182881"/>
          </a:xfrm>
          <a:prstGeom prst="rect">
            <a:avLst/>
          </a:prstGeom>
          <a:ln w="12700">
            <a:miter lim="400000"/>
          </a:ln>
        </p:spPr>
      </p:pic>
      <p:sp>
        <p:nvSpPr>
          <p:cNvPr id="202" name="Shape 12"/>
          <p:cNvSpPr/>
          <p:nvPr/>
        </p:nvSpPr>
        <p:spPr>
          <a:xfrm>
            <a:off x="3840479" y="1737360"/>
            <a:ext cx="1600201" cy="292608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203" name="Shape 13"/>
          <p:cNvSpPr/>
          <p:nvPr/>
        </p:nvSpPr>
        <p:spPr>
          <a:xfrm>
            <a:off x="4389120" y="1874520"/>
            <a:ext cx="502921" cy="502921"/>
          </a:xfrm>
          <a:prstGeom prst="ellipse">
            <a:avLst/>
          </a:prstGeom>
          <a:solidFill>
            <a:srgbClr val="2A8A8A"/>
          </a:solidFill>
          <a:ln w="12700">
            <a:miter lim="400000"/>
          </a:ln>
        </p:spPr>
        <p:txBody>
          <a:bodyPr lIns="45718" tIns="45718" rIns="45718" bIns="45718"/>
          <a:lstStyle/>
          <a:p>
            <a:pPr/>
          </a:p>
        </p:txBody>
      </p:sp>
      <p:sp>
        <p:nvSpPr>
          <p:cNvPr id="204" name="Text 14"/>
          <p:cNvSpPr txBox="1"/>
          <p:nvPr/>
        </p:nvSpPr>
        <p:spPr>
          <a:xfrm>
            <a:off x="4389120" y="1992629"/>
            <a:ext cx="50292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FFFFFF"/>
                </a:solidFill>
                <a:latin typeface="Georgia"/>
                <a:ea typeface="Georgia"/>
                <a:cs typeface="Georgia"/>
                <a:sym typeface="Georgia"/>
              </a:defRPr>
            </a:lvl1pPr>
          </a:lstStyle>
          <a:p>
            <a:pPr/>
            <a:r>
              <a:t>3</a:t>
            </a:r>
          </a:p>
        </p:txBody>
      </p:sp>
      <p:sp>
        <p:nvSpPr>
          <p:cNvPr id="205" name="Text 15"/>
          <p:cNvSpPr txBox="1"/>
          <p:nvPr/>
        </p:nvSpPr>
        <p:spPr>
          <a:xfrm>
            <a:off x="3931920" y="2653205"/>
            <a:ext cx="141732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lnSpc>
                <a:spcPct val="115000"/>
              </a:lnSpc>
              <a:defRPr b="1" sz="1100">
                <a:solidFill>
                  <a:srgbClr val="1A2332"/>
                </a:solidFill>
              </a:defRPr>
            </a:lvl1pPr>
          </a:lstStyle>
          <a:p>
            <a:pPr/>
            <a:r>
              <a:t>Activation</a:t>
            </a:r>
          </a:p>
        </p:txBody>
      </p:sp>
      <p:sp>
        <p:nvSpPr>
          <p:cNvPr id="206" name="Text 16"/>
          <p:cNvSpPr txBox="1"/>
          <p:nvPr/>
        </p:nvSpPr>
        <p:spPr>
          <a:xfrm>
            <a:off x="3931920" y="3277713"/>
            <a:ext cx="1417321" cy="4854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40000"/>
              </a:lnSpc>
              <a:defRPr sz="900">
                <a:solidFill>
                  <a:srgbClr val="3D4F63"/>
                </a:solidFill>
              </a:defRPr>
            </a:pPr>
            <a:r>
              <a:t>Production.</a:t>
            </a:r>
          </a:p>
          <a:p>
            <a:pPr algn="ctr">
              <a:lnSpc>
                <a:spcPct val="140000"/>
              </a:lnSpc>
              <a:defRPr sz="900">
                <a:solidFill>
                  <a:srgbClr val="3D4F63"/>
                </a:solidFill>
              </a:defRPr>
            </a:pPr>
            <a:r>
              <a:t>Backfill.</a:t>
            </a:r>
          </a:p>
          <a:p>
            <a:pPr algn="ctr">
              <a:lnSpc>
                <a:spcPct val="140000"/>
              </a:lnSpc>
              <a:defRPr sz="900">
                <a:solidFill>
                  <a:srgbClr val="3D4F63"/>
                </a:solidFill>
              </a:defRPr>
            </a:pPr>
            <a:r>
              <a:t>Migration support.</a:t>
            </a:r>
          </a:p>
        </p:txBody>
      </p:sp>
      <p:pic>
        <p:nvPicPr>
          <p:cNvPr id="207" name="Image 2" descr="Image 2"/>
          <p:cNvPicPr>
            <a:picLocks noChangeAspect="1"/>
          </p:cNvPicPr>
          <p:nvPr/>
        </p:nvPicPr>
        <p:blipFill>
          <a:blip r:embed="rId2">
            <a:extLst/>
          </a:blip>
          <a:stretch>
            <a:fillRect/>
          </a:stretch>
        </p:blipFill>
        <p:spPr>
          <a:xfrm>
            <a:off x="5486400" y="2926079"/>
            <a:ext cx="182880" cy="182881"/>
          </a:xfrm>
          <a:prstGeom prst="rect">
            <a:avLst/>
          </a:prstGeom>
          <a:ln w="12700">
            <a:miter lim="400000"/>
          </a:ln>
        </p:spPr>
      </p:pic>
      <p:sp>
        <p:nvSpPr>
          <p:cNvPr id="208" name="Shape 17"/>
          <p:cNvSpPr/>
          <p:nvPr/>
        </p:nvSpPr>
        <p:spPr>
          <a:xfrm>
            <a:off x="5623559" y="1737360"/>
            <a:ext cx="1600201" cy="292608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209" name="Shape 18"/>
          <p:cNvSpPr/>
          <p:nvPr/>
        </p:nvSpPr>
        <p:spPr>
          <a:xfrm>
            <a:off x="6172200" y="1874520"/>
            <a:ext cx="502921" cy="502921"/>
          </a:xfrm>
          <a:prstGeom prst="ellipse">
            <a:avLst/>
          </a:prstGeom>
          <a:solidFill>
            <a:srgbClr val="2A8A8A"/>
          </a:solidFill>
          <a:ln w="12700">
            <a:miter lim="400000"/>
          </a:ln>
        </p:spPr>
        <p:txBody>
          <a:bodyPr lIns="45718" tIns="45718" rIns="45718" bIns="45718"/>
          <a:lstStyle/>
          <a:p>
            <a:pPr/>
          </a:p>
        </p:txBody>
      </p:sp>
      <p:sp>
        <p:nvSpPr>
          <p:cNvPr id="210" name="Text 19"/>
          <p:cNvSpPr txBox="1"/>
          <p:nvPr/>
        </p:nvSpPr>
        <p:spPr>
          <a:xfrm>
            <a:off x="6172200" y="1992629"/>
            <a:ext cx="50292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FFFFFF"/>
                </a:solidFill>
                <a:latin typeface="Georgia"/>
                <a:ea typeface="Georgia"/>
                <a:cs typeface="Georgia"/>
                <a:sym typeface="Georgia"/>
              </a:defRPr>
            </a:lvl1pPr>
          </a:lstStyle>
          <a:p>
            <a:pPr/>
            <a:r>
              <a:t>4</a:t>
            </a:r>
          </a:p>
        </p:txBody>
      </p:sp>
      <p:sp>
        <p:nvSpPr>
          <p:cNvPr id="211" name="Text 20"/>
          <p:cNvSpPr txBox="1"/>
          <p:nvPr/>
        </p:nvSpPr>
        <p:spPr>
          <a:xfrm>
            <a:off x="5715000" y="2560585"/>
            <a:ext cx="1417320" cy="31950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15000"/>
              </a:lnSpc>
              <a:defRPr b="1" sz="1100">
                <a:solidFill>
                  <a:srgbClr val="1A2332"/>
                </a:solidFill>
              </a:defRPr>
            </a:pPr>
            <a:r>
              <a:t>AI-Ready</a:t>
            </a:r>
          </a:p>
          <a:p>
            <a:pPr algn="ctr">
              <a:lnSpc>
                <a:spcPct val="115000"/>
              </a:lnSpc>
              <a:defRPr b="1" sz="1100">
                <a:solidFill>
                  <a:srgbClr val="1A2332"/>
                </a:solidFill>
              </a:defRPr>
            </a:pPr>
            <a:r>
              <a:t>Data</a:t>
            </a:r>
          </a:p>
        </p:txBody>
      </p:sp>
      <p:sp>
        <p:nvSpPr>
          <p:cNvPr id="212" name="Text 21"/>
          <p:cNvSpPr txBox="1"/>
          <p:nvPr/>
        </p:nvSpPr>
        <p:spPr>
          <a:xfrm>
            <a:off x="5715000" y="3277713"/>
            <a:ext cx="1417320" cy="4854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40000"/>
              </a:lnSpc>
              <a:defRPr sz="900">
                <a:solidFill>
                  <a:srgbClr val="3D4F63"/>
                </a:solidFill>
              </a:defRPr>
            </a:pPr>
            <a:r>
              <a:t>Semantic layer.</a:t>
            </a:r>
          </a:p>
          <a:p>
            <a:pPr algn="ctr">
              <a:lnSpc>
                <a:spcPct val="140000"/>
              </a:lnSpc>
              <a:defRPr sz="900">
                <a:solidFill>
                  <a:srgbClr val="3D4F63"/>
                </a:solidFill>
              </a:defRPr>
            </a:pPr>
            <a:r>
              <a:t>Base pLTV.</a:t>
            </a:r>
          </a:p>
          <a:p>
            <a:pPr algn="ctr">
              <a:lnSpc>
                <a:spcPct val="140000"/>
              </a:lnSpc>
              <a:defRPr sz="900">
                <a:solidFill>
                  <a:srgbClr val="3D4F63"/>
                </a:solidFill>
              </a:defRPr>
            </a:pPr>
            <a:r>
              <a:t>Metric governance.</a:t>
            </a:r>
          </a:p>
        </p:txBody>
      </p:sp>
      <p:pic>
        <p:nvPicPr>
          <p:cNvPr id="213" name="Image 3" descr="Image 3"/>
          <p:cNvPicPr>
            <a:picLocks noChangeAspect="1"/>
          </p:cNvPicPr>
          <p:nvPr/>
        </p:nvPicPr>
        <p:blipFill>
          <a:blip r:embed="rId2">
            <a:extLst/>
          </a:blip>
          <a:stretch>
            <a:fillRect/>
          </a:stretch>
        </p:blipFill>
        <p:spPr>
          <a:xfrm>
            <a:off x="7269480" y="2926079"/>
            <a:ext cx="182881" cy="182881"/>
          </a:xfrm>
          <a:prstGeom prst="rect">
            <a:avLst/>
          </a:prstGeom>
          <a:ln w="12700">
            <a:miter lim="400000"/>
          </a:ln>
        </p:spPr>
      </p:pic>
      <p:sp>
        <p:nvSpPr>
          <p:cNvPr id="214" name="Shape 22"/>
          <p:cNvSpPr/>
          <p:nvPr/>
        </p:nvSpPr>
        <p:spPr>
          <a:xfrm>
            <a:off x="7406640" y="1737360"/>
            <a:ext cx="1600201" cy="292608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215" name="Shape 23"/>
          <p:cNvSpPr/>
          <p:nvPr/>
        </p:nvSpPr>
        <p:spPr>
          <a:xfrm>
            <a:off x="7955280" y="1874520"/>
            <a:ext cx="502921" cy="502921"/>
          </a:xfrm>
          <a:prstGeom prst="ellipse">
            <a:avLst/>
          </a:prstGeom>
          <a:solidFill>
            <a:srgbClr val="2A8A8A"/>
          </a:solidFill>
          <a:ln w="12700">
            <a:miter lim="400000"/>
          </a:ln>
        </p:spPr>
        <p:txBody>
          <a:bodyPr lIns="45718" tIns="45718" rIns="45718" bIns="45718"/>
          <a:lstStyle/>
          <a:p>
            <a:pPr/>
          </a:p>
        </p:txBody>
      </p:sp>
      <p:sp>
        <p:nvSpPr>
          <p:cNvPr id="216" name="Text 24"/>
          <p:cNvSpPr txBox="1"/>
          <p:nvPr/>
        </p:nvSpPr>
        <p:spPr>
          <a:xfrm>
            <a:off x="7955280" y="1992629"/>
            <a:ext cx="502920"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a:solidFill>
                  <a:srgbClr val="FFFFFF"/>
                </a:solidFill>
                <a:latin typeface="Georgia"/>
                <a:ea typeface="Georgia"/>
                <a:cs typeface="Georgia"/>
                <a:sym typeface="Georgia"/>
              </a:defRPr>
            </a:lvl1pPr>
          </a:lstStyle>
          <a:p>
            <a:pPr/>
            <a:r>
              <a:t>5</a:t>
            </a:r>
          </a:p>
        </p:txBody>
      </p:sp>
      <p:sp>
        <p:nvSpPr>
          <p:cNvPr id="217" name="Text 25"/>
          <p:cNvSpPr txBox="1"/>
          <p:nvPr/>
        </p:nvSpPr>
        <p:spPr>
          <a:xfrm>
            <a:off x="7498080" y="2560585"/>
            <a:ext cx="1417321" cy="31950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15000"/>
              </a:lnSpc>
              <a:defRPr b="1" sz="1100">
                <a:solidFill>
                  <a:srgbClr val="1A2332"/>
                </a:solidFill>
              </a:defRPr>
            </a:pPr>
            <a:r>
              <a:t>Custom</a:t>
            </a:r>
          </a:p>
          <a:p>
            <a:pPr algn="ctr">
              <a:lnSpc>
                <a:spcPct val="115000"/>
              </a:lnSpc>
              <a:defRPr b="1" sz="1100">
                <a:solidFill>
                  <a:srgbClr val="1A2332"/>
                </a:solidFill>
              </a:defRPr>
            </a:pPr>
            <a:r>
              <a:t>Models</a:t>
            </a:r>
          </a:p>
        </p:txBody>
      </p:sp>
      <p:sp>
        <p:nvSpPr>
          <p:cNvPr id="218" name="Text 26"/>
          <p:cNvSpPr txBox="1"/>
          <p:nvPr/>
        </p:nvSpPr>
        <p:spPr>
          <a:xfrm>
            <a:off x="7498080" y="3277713"/>
            <a:ext cx="1417321" cy="4854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lnSpc>
                <a:spcPct val="140000"/>
              </a:lnSpc>
              <a:defRPr sz="900">
                <a:solidFill>
                  <a:srgbClr val="3D4F63"/>
                </a:solidFill>
              </a:defRPr>
            </a:pPr>
            <a:r>
              <a:t>Custom pLTV.</a:t>
            </a:r>
          </a:p>
          <a:p>
            <a:pPr algn="ctr">
              <a:lnSpc>
                <a:spcPct val="140000"/>
              </a:lnSpc>
              <a:defRPr sz="900">
                <a:solidFill>
                  <a:srgbClr val="3D4F63"/>
                </a:solidFill>
              </a:defRPr>
            </a:pPr>
            <a:r>
              <a:t>Payout prediction.</a:t>
            </a:r>
          </a:p>
          <a:p>
            <a:pPr algn="ctr">
              <a:lnSpc>
                <a:spcPct val="140000"/>
              </a:lnSpc>
              <a:defRPr sz="900">
                <a:solidFill>
                  <a:srgbClr val="3D4F63"/>
                </a:solidFill>
              </a:defRPr>
            </a:pPr>
            <a:r>
              <a:t>CTV attribution.</a:t>
            </a:r>
          </a:p>
        </p:txBody>
      </p:sp>
      <p:sp>
        <p:nvSpPr>
          <p:cNvPr id="219" name="Shape 27"/>
          <p:cNvSpPr/>
          <p:nvPr/>
        </p:nvSpPr>
        <p:spPr>
          <a:xfrm>
            <a:off x="274320" y="4709159"/>
            <a:ext cx="1600201" cy="45721"/>
          </a:xfrm>
          <a:prstGeom prst="rect">
            <a:avLst/>
          </a:prstGeom>
          <a:solidFill>
            <a:srgbClr val="E85D4A"/>
          </a:solidFill>
          <a:ln w="12700">
            <a:miter lim="400000"/>
          </a:ln>
        </p:spPr>
        <p:txBody>
          <a:bodyPr lIns="45718" tIns="45718" rIns="45718" bIns="45718"/>
          <a:lstStyle/>
          <a:p>
            <a:pPr/>
          </a:p>
        </p:txBody>
      </p:sp>
      <p:sp>
        <p:nvSpPr>
          <p:cNvPr id="220" name="Text 28"/>
          <p:cNvSpPr txBox="1"/>
          <p:nvPr/>
        </p:nvSpPr>
        <p:spPr>
          <a:xfrm>
            <a:off x="731520" y="4869224"/>
            <a:ext cx="7680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000">
                <a:solidFill>
                  <a:srgbClr val="2A8A8A"/>
                </a:solidFill>
              </a:defRPr>
            </a:lvl1pPr>
          </a:lstStyle>
          <a:p>
            <a:pPr/>
            <a:r>
              <a:t>Phase 1 is standalone. Low commitment. Clear deliverables. No build until sign-off.</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222" name="Shape 0"/>
          <p:cNvSpPr/>
          <p:nvPr/>
        </p:nvSpPr>
        <p:spPr>
          <a:xfrm>
            <a:off x="0" y="4892040"/>
            <a:ext cx="9144000" cy="256033"/>
          </a:xfrm>
          <a:prstGeom prst="rect">
            <a:avLst/>
          </a:prstGeom>
          <a:solidFill>
            <a:srgbClr val="2A8A8A"/>
          </a:solidFill>
          <a:ln w="12700">
            <a:miter lim="400000"/>
          </a:ln>
        </p:spPr>
        <p:txBody>
          <a:bodyPr lIns="45719" rIns="45719"/>
          <a:lstStyle/>
          <a:p>
            <a:pPr/>
          </a:p>
        </p:txBody>
      </p:sp>
      <p:sp>
        <p:nvSpPr>
          <p:cNvPr id="223" name="Text 1"/>
          <p:cNvSpPr txBox="1"/>
          <p:nvPr/>
        </p:nvSpPr>
        <p:spPr>
          <a:xfrm>
            <a:off x="640080" y="481506"/>
            <a:ext cx="7315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4ECDC4"/>
                </a:solidFill>
              </a:defRPr>
            </a:lvl1pPr>
          </a:lstStyle>
          <a:p>
            <a:pPr/>
            <a:r>
              <a:t>START SMALL</a:t>
            </a:r>
          </a:p>
        </p:txBody>
      </p:sp>
      <p:sp>
        <p:nvSpPr>
          <p:cNvPr id="224" name="Text 2"/>
          <p:cNvSpPr txBox="1"/>
          <p:nvPr/>
        </p:nvSpPr>
        <p:spPr>
          <a:xfrm>
            <a:off x="640080" y="896620"/>
            <a:ext cx="7315201" cy="1041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600">
                <a:solidFill>
                  <a:srgbClr val="FFFFFF"/>
                </a:solidFill>
                <a:latin typeface="Georgia"/>
                <a:ea typeface="Georgia"/>
                <a:cs typeface="Georgia"/>
                <a:sym typeface="Georgia"/>
              </a:defRPr>
            </a:pPr>
            <a:r>
              <a:t>Data audit only.</a:t>
            </a:r>
          </a:p>
          <a:p>
            <a:pPr>
              <a:defRPr b="1" sz="3600">
                <a:solidFill>
                  <a:srgbClr val="FFFFFF"/>
                </a:solidFill>
                <a:latin typeface="Georgia"/>
                <a:ea typeface="Georgia"/>
                <a:cs typeface="Georgia"/>
                <a:sym typeface="Georgia"/>
              </a:defRPr>
            </a:pPr>
            <a:r>
              <a:t>No commitment to full build.</a:t>
            </a:r>
          </a:p>
        </p:txBody>
      </p:sp>
      <p:sp>
        <p:nvSpPr>
          <p:cNvPr id="225" name="Shape 3"/>
          <p:cNvSpPr/>
          <p:nvPr/>
        </p:nvSpPr>
        <p:spPr>
          <a:xfrm>
            <a:off x="640080" y="2286000"/>
            <a:ext cx="5029201" cy="2286000"/>
          </a:xfrm>
          <a:prstGeom prst="rect">
            <a:avLst/>
          </a:prstGeom>
          <a:solidFill>
            <a:srgbClr val="1F2D40"/>
          </a:solidFill>
          <a:ln w="12700">
            <a:miter lim="400000"/>
          </a:ln>
        </p:spPr>
        <p:txBody>
          <a:bodyPr lIns="45719" rIns="45719"/>
          <a:lstStyle/>
          <a:p>
            <a:pPr/>
          </a:p>
        </p:txBody>
      </p:sp>
      <p:sp>
        <p:nvSpPr>
          <p:cNvPr id="226" name="Text 4"/>
          <p:cNvSpPr txBox="1"/>
          <p:nvPr/>
        </p:nvSpPr>
        <p:spPr>
          <a:xfrm>
            <a:off x="868680" y="2489902"/>
            <a:ext cx="4572001"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500">
                <a:solidFill>
                  <a:srgbClr val="4ECDC4"/>
                </a:solidFill>
              </a:defRPr>
            </a:lvl1pPr>
          </a:lstStyle>
          <a:p>
            <a:pPr/>
            <a:r>
              <a:t>What the audit delivers</a:t>
            </a:r>
          </a:p>
        </p:txBody>
      </p:sp>
      <p:pic>
        <p:nvPicPr>
          <p:cNvPr id="227" name="Image 0" descr="Image 0"/>
          <p:cNvPicPr>
            <a:picLocks noChangeAspect="1"/>
          </p:cNvPicPr>
          <p:nvPr/>
        </p:nvPicPr>
        <p:blipFill>
          <a:blip r:embed="rId2">
            <a:extLst/>
          </a:blip>
          <a:stretch>
            <a:fillRect/>
          </a:stretch>
        </p:blipFill>
        <p:spPr>
          <a:xfrm>
            <a:off x="868680" y="2880360"/>
            <a:ext cx="201169" cy="201169"/>
          </a:xfrm>
          <a:prstGeom prst="rect">
            <a:avLst/>
          </a:prstGeom>
          <a:ln w="12700">
            <a:miter lim="400000"/>
          </a:ln>
        </p:spPr>
      </p:pic>
      <p:sp>
        <p:nvSpPr>
          <p:cNvPr id="228" name="Text 5"/>
          <p:cNvSpPr txBox="1"/>
          <p:nvPr/>
        </p:nvSpPr>
        <p:spPr>
          <a:xfrm>
            <a:off x="1188720" y="2911279"/>
            <a:ext cx="4297680"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8ECF0"/>
                </a:solidFill>
              </a:defRPr>
            </a:lvl1pPr>
          </a:lstStyle>
          <a:p>
            <a:pPr/>
            <a:r>
              <a:t>Where decisions are currently unreliable</a:t>
            </a:r>
          </a:p>
        </p:txBody>
      </p:sp>
      <p:pic>
        <p:nvPicPr>
          <p:cNvPr id="229" name="Image 1" descr="Image 1"/>
          <p:cNvPicPr>
            <a:picLocks noChangeAspect="1"/>
          </p:cNvPicPr>
          <p:nvPr/>
        </p:nvPicPr>
        <p:blipFill>
          <a:blip r:embed="rId2">
            <a:extLst/>
          </a:blip>
          <a:stretch>
            <a:fillRect/>
          </a:stretch>
        </p:blipFill>
        <p:spPr>
          <a:xfrm>
            <a:off x="868680" y="3264408"/>
            <a:ext cx="201169" cy="201169"/>
          </a:xfrm>
          <a:prstGeom prst="rect">
            <a:avLst/>
          </a:prstGeom>
          <a:ln w="12700">
            <a:miter lim="400000"/>
          </a:ln>
        </p:spPr>
      </p:pic>
      <p:sp>
        <p:nvSpPr>
          <p:cNvPr id="230" name="Text 6"/>
          <p:cNvSpPr txBox="1"/>
          <p:nvPr/>
        </p:nvSpPr>
        <p:spPr>
          <a:xfrm>
            <a:off x="1188720" y="3295327"/>
            <a:ext cx="4297680"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8ECF0"/>
                </a:solidFill>
              </a:defRPr>
            </a:lvl1pPr>
          </a:lstStyle>
          <a:p>
            <a:pPr/>
            <a:r>
              <a:t>What needs to change in your data foundation</a:t>
            </a:r>
          </a:p>
        </p:txBody>
      </p:sp>
      <p:pic>
        <p:nvPicPr>
          <p:cNvPr id="231" name="Image 2" descr="Image 2"/>
          <p:cNvPicPr>
            <a:picLocks noChangeAspect="1"/>
          </p:cNvPicPr>
          <p:nvPr/>
        </p:nvPicPr>
        <p:blipFill>
          <a:blip r:embed="rId2">
            <a:extLst/>
          </a:blip>
          <a:stretch>
            <a:fillRect/>
          </a:stretch>
        </p:blipFill>
        <p:spPr>
          <a:xfrm>
            <a:off x="868680" y="3648455"/>
            <a:ext cx="201169" cy="201169"/>
          </a:xfrm>
          <a:prstGeom prst="rect">
            <a:avLst/>
          </a:prstGeom>
          <a:ln w="12700">
            <a:miter lim="400000"/>
          </a:ln>
        </p:spPr>
      </p:pic>
      <p:sp>
        <p:nvSpPr>
          <p:cNvPr id="232" name="Text 7"/>
          <p:cNvSpPr txBox="1"/>
          <p:nvPr/>
        </p:nvSpPr>
        <p:spPr>
          <a:xfrm>
            <a:off x="1188720" y="3679374"/>
            <a:ext cx="429768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8ECF0"/>
                </a:solidFill>
              </a:defRPr>
            </a:lvl1pPr>
          </a:lstStyle>
          <a:p>
            <a:pPr/>
            <a:r>
              <a:t>SSOT blueprint and architecture design</a:t>
            </a:r>
          </a:p>
        </p:txBody>
      </p:sp>
      <p:pic>
        <p:nvPicPr>
          <p:cNvPr id="233" name="Image 3" descr="Image 3"/>
          <p:cNvPicPr>
            <a:picLocks noChangeAspect="1"/>
          </p:cNvPicPr>
          <p:nvPr/>
        </p:nvPicPr>
        <p:blipFill>
          <a:blip r:embed="rId2">
            <a:extLst/>
          </a:blip>
          <a:stretch>
            <a:fillRect/>
          </a:stretch>
        </p:blipFill>
        <p:spPr>
          <a:xfrm>
            <a:off x="868680" y="4032503"/>
            <a:ext cx="201169" cy="201169"/>
          </a:xfrm>
          <a:prstGeom prst="rect">
            <a:avLst/>
          </a:prstGeom>
          <a:ln w="12700">
            <a:miter lim="400000"/>
          </a:ln>
        </p:spPr>
      </p:pic>
      <p:sp>
        <p:nvSpPr>
          <p:cNvPr id="234" name="Text 8"/>
          <p:cNvSpPr txBox="1"/>
          <p:nvPr/>
        </p:nvSpPr>
        <p:spPr>
          <a:xfrm>
            <a:off x="1188720" y="4063423"/>
            <a:ext cx="4297680" cy="16676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E8ECF0"/>
                </a:solidFill>
              </a:defRPr>
            </a:lvl1pPr>
          </a:lstStyle>
          <a:p>
            <a:pPr/>
            <a:r>
              <a:t>Clear project plan for full build (if you decide to proceed)</a:t>
            </a:r>
          </a:p>
        </p:txBody>
      </p:sp>
      <p:sp>
        <p:nvSpPr>
          <p:cNvPr id="235" name="Shape 9"/>
          <p:cNvSpPr/>
          <p:nvPr/>
        </p:nvSpPr>
        <p:spPr>
          <a:xfrm>
            <a:off x="6035040" y="2286000"/>
            <a:ext cx="2468881" cy="2286000"/>
          </a:xfrm>
          <a:prstGeom prst="rect">
            <a:avLst/>
          </a:prstGeom>
          <a:solidFill>
            <a:srgbClr val="2A8A8A"/>
          </a:solidFill>
          <a:ln w="12700">
            <a:miter lim="400000"/>
          </a:ln>
        </p:spPr>
        <p:txBody>
          <a:bodyPr lIns="45719" rIns="45719"/>
          <a:lstStyle/>
          <a:p>
            <a:pPr/>
          </a:p>
        </p:txBody>
      </p:sp>
      <p:sp>
        <p:nvSpPr>
          <p:cNvPr id="236" name="Text 10"/>
          <p:cNvSpPr txBox="1"/>
          <p:nvPr/>
        </p:nvSpPr>
        <p:spPr>
          <a:xfrm>
            <a:off x="6217920" y="2776220"/>
            <a:ext cx="2103121" cy="139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FFFFFF"/>
                </a:solidFill>
                <a:latin typeface="Georgia"/>
                <a:ea typeface="Georgia"/>
                <a:cs typeface="Georgia"/>
                <a:sym typeface="Georgia"/>
              </a:defRPr>
            </a:lvl1pPr>
          </a:lstStyle>
          <a:p>
            <a:pPr/>
            <a:r>
              <a:t>You'll see immediately if this improves your decision-making.</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238" name="Text 0"/>
          <p:cNvSpPr txBox="1"/>
          <p:nvPr/>
        </p:nvSpPr>
        <p:spPr>
          <a:xfrm>
            <a:off x="640080" y="481506"/>
            <a:ext cx="73152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400" sz="1100">
                <a:solidFill>
                  <a:srgbClr val="2A8A8A"/>
                </a:solidFill>
              </a:defRPr>
            </a:lvl1pPr>
          </a:lstStyle>
          <a:p>
            <a:pPr/>
            <a:r>
              <a:t>NEXT STEPS</a:t>
            </a:r>
          </a:p>
        </p:txBody>
      </p:sp>
      <p:sp>
        <p:nvSpPr>
          <p:cNvPr id="239" name="Text 1"/>
          <p:cNvSpPr txBox="1"/>
          <p:nvPr/>
        </p:nvSpPr>
        <p:spPr>
          <a:xfrm>
            <a:off x="640080" y="882649"/>
            <a:ext cx="7315201" cy="5207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600">
                <a:solidFill>
                  <a:srgbClr val="1A2332"/>
                </a:solidFill>
                <a:latin typeface="Georgia"/>
                <a:ea typeface="Georgia"/>
                <a:cs typeface="Georgia"/>
                <a:sym typeface="Georgia"/>
              </a:defRPr>
            </a:lvl1pPr>
          </a:lstStyle>
          <a:p>
            <a:pPr/>
            <a:r>
              <a:t>Two options. Your call.</a:t>
            </a:r>
          </a:p>
        </p:txBody>
      </p:sp>
      <p:sp>
        <p:nvSpPr>
          <p:cNvPr id="240" name="Shape 2"/>
          <p:cNvSpPr/>
          <p:nvPr/>
        </p:nvSpPr>
        <p:spPr>
          <a:xfrm>
            <a:off x="640079" y="1737360"/>
            <a:ext cx="3749042" cy="2743201"/>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9" rIns="45719"/>
          <a:lstStyle/>
          <a:p>
            <a:pPr/>
          </a:p>
        </p:txBody>
      </p:sp>
      <p:sp>
        <p:nvSpPr>
          <p:cNvPr id="241" name="Shape 3"/>
          <p:cNvSpPr/>
          <p:nvPr/>
        </p:nvSpPr>
        <p:spPr>
          <a:xfrm>
            <a:off x="640079" y="1737360"/>
            <a:ext cx="3749042" cy="54865"/>
          </a:xfrm>
          <a:prstGeom prst="rect">
            <a:avLst/>
          </a:prstGeom>
          <a:solidFill>
            <a:srgbClr val="2A8A8A"/>
          </a:solidFill>
          <a:ln w="12700">
            <a:miter lim="400000"/>
          </a:ln>
        </p:spPr>
        <p:txBody>
          <a:bodyPr lIns="45719" rIns="45719"/>
          <a:lstStyle/>
          <a:p>
            <a:pPr/>
          </a:p>
        </p:txBody>
      </p:sp>
      <p:sp>
        <p:nvSpPr>
          <p:cNvPr id="242" name="Text 4"/>
          <p:cNvSpPr txBox="1"/>
          <p:nvPr/>
        </p:nvSpPr>
        <p:spPr>
          <a:xfrm>
            <a:off x="822960" y="1945639"/>
            <a:ext cx="4572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2A8A8A"/>
                </a:solidFill>
                <a:latin typeface="Georgia"/>
                <a:ea typeface="Georgia"/>
                <a:cs typeface="Georgia"/>
                <a:sym typeface="Georgia"/>
              </a:defRPr>
            </a:lvl1pPr>
          </a:lstStyle>
          <a:p>
            <a:pPr/>
            <a:r>
              <a:t>A</a:t>
            </a:r>
          </a:p>
        </p:txBody>
      </p:sp>
      <p:sp>
        <p:nvSpPr>
          <p:cNvPr id="243" name="Text 5"/>
          <p:cNvSpPr txBox="1"/>
          <p:nvPr/>
        </p:nvSpPr>
        <p:spPr>
          <a:xfrm>
            <a:off x="1371600" y="2044263"/>
            <a:ext cx="274320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A2332"/>
                </a:solidFill>
              </a:defRPr>
            </a:lvl1pPr>
          </a:lstStyle>
          <a:p>
            <a:pPr/>
            <a:r>
              <a:t>Start the data audit</a:t>
            </a:r>
          </a:p>
        </p:txBody>
      </p:sp>
      <p:sp>
        <p:nvSpPr>
          <p:cNvPr id="244" name="Text 6"/>
          <p:cNvSpPr txBox="1"/>
          <p:nvPr/>
        </p:nvSpPr>
        <p:spPr>
          <a:xfrm>
            <a:off x="822960" y="2949379"/>
            <a:ext cx="3383281" cy="7763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3D4F63"/>
                </a:solidFill>
              </a:defRPr>
            </a:lvl1pPr>
          </a:lstStyle>
          <a:p>
            <a:pPr/>
            <a:r>
              <a:t>Grant warehouse access and we begin the automated data audit within the week. You get a structured report, SSOT blueprint, and a clear project plan.</a:t>
            </a:r>
          </a:p>
        </p:txBody>
      </p:sp>
      <p:sp>
        <p:nvSpPr>
          <p:cNvPr id="245" name="Shape 7"/>
          <p:cNvSpPr/>
          <p:nvPr/>
        </p:nvSpPr>
        <p:spPr>
          <a:xfrm>
            <a:off x="4754879" y="1737360"/>
            <a:ext cx="3749041" cy="2743201"/>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9" rIns="45719"/>
          <a:lstStyle/>
          <a:p>
            <a:pPr/>
          </a:p>
        </p:txBody>
      </p:sp>
      <p:sp>
        <p:nvSpPr>
          <p:cNvPr id="246" name="Shape 8"/>
          <p:cNvSpPr/>
          <p:nvPr/>
        </p:nvSpPr>
        <p:spPr>
          <a:xfrm>
            <a:off x="4754879" y="1737360"/>
            <a:ext cx="3749041" cy="54865"/>
          </a:xfrm>
          <a:prstGeom prst="rect">
            <a:avLst/>
          </a:prstGeom>
          <a:solidFill>
            <a:srgbClr val="3D4F63"/>
          </a:solidFill>
          <a:ln w="12700">
            <a:miter lim="400000"/>
          </a:ln>
        </p:spPr>
        <p:txBody>
          <a:bodyPr lIns="45719" rIns="45719"/>
          <a:lstStyle/>
          <a:p>
            <a:pPr/>
          </a:p>
        </p:txBody>
      </p:sp>
      <p:sp>
        <p:nvSpPr>
          <p:cNvPr id="247" name="Text 9"/>
          <p:cNvSpPr txBox="1"/>
          <p:nvPr/>
        </p:nvSpPr>
        <p:spPr>
          <a:xfrm>
            <a:off x="4937759" y="1945639"/>
            <a:ext cx="457201"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3D4F63"/>
                </a:solidFill>
                <a:latin typeface="Georgia"/>
                <a:ea typeface="Georgia"/>
                <a:cs typeface="Georgia"/>
                <a:sym typeface="Georgia"/>
              </a:defRPr>
            </a:lvl1pPr>
          </a:lstStyle>
          <a:p>
            <a:pPr/>
            <a:r>
              <a:t>B</a:t>
            </a:r>
          </a:p>
        </p:txBody>
      </p:sp>
      <p:sp>
        <p:nvSpPr>
          <p:cNvPr id="248" name="Text 10"/>
          <p:cNvSpPr txBox="1"/>
          <p:nvPr/>
        </p:nvSpPr>
        <p:spPr>
          <a:xfrm>
            <a:off x="5486400" y="2044263"/>
            <a:ext cx="2743200" cy="2091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A2332"/>
                </a:solidFill>
              </a:defRPr>
            </a:lvl1pPr>
          </a:lstStyle>
          <a:p>
            <a:pPr/>
            <a:r>
              <a:t>Align internally first</a:t>
            </a:r>
          </a:p>
        </p:txBody>
      </p:sp>
      <p:sp>
        <p:nvSpPr>
          <p:cNvPr id="249" name="Text 11"/>
          <p:cNvSpPr txBox="1"/>
          <p:nvPr/>
        </p:nvSpPr>
        <p:spPr>
          <a:xfrm>
            <a:off x="4937759" y="3050979"/>
            <a:ext cx="3383281" cy="5731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3D4F63"/>
                </a:solidFill>
              </a:defRPr>
            </a:lvl1pPr>
          </a:lstStyle>
          <a:p>
            <a:pPr/>
            <a:r>
              <a:t>Take this back to the team, discuss internally, and we reconvene with a focused technical session. No pressure, no timeline.</a:t>
            </a:r>
          </a:p>
        </p:txBody>
      </p:sp>
      <p:sp>
        <p:nvSpPr>
          <p:cNvPr id="250" name="Text 12"/>
          <p:cNvSpPr txBox="1"/>
          <p:nvPr/>
        </p:nvSpPr>
        <p:spPr>
          <a:xfrm>
            <a:off x="640079" y="4774500"/>
            <a:ext cx="7863842" cy="18936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400">
                <a:solidFill>
                  <a:srgbClr val="2A8A8A"/>
                </a:solidFill>
              </a:defRPr>
            </a:lvl1pPr>
          </a:lstStyle>
          <a:p>
            <a:pPr/>
            <a:r>
              <a:t>Either way, the next step is clear and low-risk.</a:t>
            </a:r>
          </a:p>
        </p:txBody>
      </p:sp>
      <p:pic>
        <p:nvPicPr>
          <p:cNvPr id="251" name="Image 0" descr="Image 0"/>
          <p:cNvPicPr>
            <a:picLocks noChangeAspect="1"/>
          </p:cNvPicPr>
          <p:nvPr/>
        </p:nvPicPr>
        <p:blipFill>
          <a:blip r:embed="rId2">
            <a:extLst/>
          </a:blip>
          <a:stretch>
            <a:fillRect/>
          </a:stretch>
        </p:blipFill>
        <p:spPr>
          <a:xfrm>
            <a:off x="7498080" y="4343400"/>
            <a:ext cx="411481" cy="466345"/>
          </a:xfrm>
          <a:prstGeom prst="rect">
            <a:avLst/>
          </a:prstGeom>
          <a:ln w="12700">
            <a:miter lim="400000"/>
          </a:ln>
        </p:spPr>
      </p:pic>
      <p:sp>
        <p:nvSpPr>
          <p:cNvPr id="252" name="Text 13"/>
          <p:cNvSpPr txBox="1"/>
          <p:nvPr/>
        </p:nvSpPr>
        <p:spPr>
          <a:xfrm>
            <a:off x="7955280" y="4483100"/>
            <a:ext cx="640081"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3D4F63"/>
                </a:solidFill>
                <a:latin typeface="Georgia"/>
                <a:ea typeface="Georgia"/>
                <a:cs typeface="Georgia"/>
                <a:sym typeface="Georgia"/>
              </a:defRPr>
            </a:lvl1pPr>
          </a:lstStyle>
          <a:p>
            <a:pPr/>
            <a:r>
              <a:t>LUPE</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pic>
        <p:nvPicPr>
          <p:cNvPr id="254" name="Image 0" descr="Image 0"/>
          <p:cNvPicPr>
            <a:picLocks noChangeAspect="1"/>
          </p:cNvPicPr>
          <p:nvPr/>
        </p:nvPicPr>
        <p:blipFill>
          <a:blip r:embed="rId2">
            <a:extLst/>
          </a:blip>
          <a:stretch>
            <a:fillRect/>
          </a:stretch>
        </p:blipFill>
        <p:spPr>
          <a:xfrm>
            <a:off x="731519" y="822960"/>
            <a:ext cx="1005842" cy="1005840"/>
          </a:xfrm>
          <a:prstGeom prst="rect">
            <a:avLst/>
          </a:prstGeom>
          <a:ln w="12700">
            <a:miter lim="400000"/>
          </a:ln>
        </p:spPr>
      </p:pic>
      <p:sp>
        <p:nvSpPr>
          <p:cNvPr id="255" name="Text 0"/>
          <p:cNvSpPr txBox="1"/>
          <p:nvPr/>
        </p:nvSpPr>
        <p:spPr>
          <a:xfrm>
            <a:off x="731519" y="2129789"/>
            <a:ext cx="7315201" cy="12268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0000"/>
              </a:lnSpc>
              <a:defRPr b="1" sz="4000">
                <a:solidFill>
                  <a:srgbClr val="FFFFFF"/>
                </a:solidFill>
                <a:latin typeface="Georgia"/>
                <a:ea typeface="Georgia"/>
                <a:cs typeface="Georgia"/>
                <a:sym typeface="Georgia"/>
              </a:defRPr>
            </a:pPr>
            <a:r>
              <a:t>Protect your return</a:t>
            </a:r>
          </a:p>
          <a:p>
            <a:pPr>
              <a:lnSpc>
                <a:spcPct val="110000"/>
              </a:lnSpc>
              <a:defRPr b="1" sz="4000">
                <a:solidFill>
                  <a:srgbClr val="FFFFFF"/>
                </a:solidFill>
                <a:latin typeface="Georgia"/>
                <a:ea typeface="Georgia"/>
                <a:cs typeface="Georgia"/>
                <a:sym typeface="Georgia"/>
              </a:defRPr>
            </a:pPr>
            <a:r>
              <a:t>on ad spend.</a:t>
            </a:r>
          </a:p>
        </p:txBody>
      </p:sp>
      <p:sp>
        <p:nvSpPr>
          <p:cNvPr id="256" name="Text 1"/>
          <p:cNvSpPr txBox="1"/>
          <p:nvPr/>
        </p:nvSpPr>
        <p:spPr>
          <a:xfrm>
            <a:off x="731519" y="3624335"/>
            <a:ext cx="6858001" cy="79804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8895A7"/>
                </a:solidFill>
              </a:defRPr>
            </a:pPr>
            <a:r>
              <a:t>A single view of all relevant data down to device level.</a:t>
            </a:r>
          </a:p>
          <a:p>
            <a:pPr>
              <a:lnSpc>
                <a:spcPct val="140000"/>
              </a:lnSpc>
              <a:defRPr sz="1400">
                <a:solidFill>
                  <a:srgbClr val="8895A7"/>
                </a:solidFill>
              </a:defRPr>
            </a:pPr>
            <a:r>
              <a:t>AI agents surface growth potential, where you're wasting budget,</a:t>
            </a:r>
          </a:p>
          <a:p>
            <a:pPr>
              <a:lnSpc>
                <a:spcPct val="140000"/>
              </a:lnSpc>
              <a:defRPr sz="1400">
                <a:solidFill>
                  <a:srgbClr val="8895A7"/>
                </a:solidFill>
              </a:defRPr>
            </a:pPr>
            <a:r>
              <a:t>and where to act.</a:t>
            </a:r>
          </a:p>
        </p:txBody>
      </p:sp>
      <p:sp>
        <p:nvSpPr>
          <p:cNvPr id="257" name="Shape 2"/>
          <p:cNvSpPr/>
          <p:nvPr/>
        </p:nvSpPr>
        <p:spPr>
          <a:xfrm>
            <a:off x="0" y="4892040"/>
            <a:ext cx="9144000" cy="251460"/>
          </a:xfrm>
          <a:prstGeom prst="rect">
            <a:avLst/>
          </a:prstGeom>
          <a:solidFill>
            <a:srgbClr val="2A8A8A"/>
          </a:solidFill>
          <a:ln w="12700">
            <a:miter lim="400000"/>
          </a:ln>
        </p:spPr>
        <p:txBody>
          <a:bodyPr lIns="45718" tIns="45718" rIns="45718" bIns="45718"/>
          <a:lstStyle/>
          <a:p>
            <a:pPr/>
          </a:p>
        </p:txBody>
      </p:sp>
      <p:sp>
        <p:nvSpPr>
          <p:cNvPr id="258" name="LUPE"/>
          <p:cNvSpPr txBox="1"/>
          <p:nvPr/>
        </p:nvSpPr>
        <p:spPr>
          <a:xfrm>
            <a:off x="1730573" y="1140461"/>
            <a:ext cx="875893" cy="37083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a:solidFill>
                  <a:srgbClr val="FFFFFF"/>
                </a:solidFill>
                <a:latin typeface="BrunoAce-Regular"/>
                <a:ea typeface="BrunoAce-Regular"/>
                <a:cs typeface="BrunoAce-Regular"/>
                <a:sym typeface="BrunoAce-Regular"/>
              </a:defRPr>
            </a:lvl1pPr>
          </a:lstStyle>
          <a:p>
            <a:pPr/>
            <a:r>
              <a:t>LUPE</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260" name="Text 0"/>
          <p:cNvSpPr txBox="1"/>
          <p:nvPr/>
        </p:nvSpPr>
        <p:spPr>
          <a:xfrm>
            <a:off x="777239" y="388664"/>
            <a:ext cx="44805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pc="300" sz="1000">
                <a:solidFill>
                  <a:srgbClr val="2A8A8A"/>
                </a:solidFill>
              </a:defRPr>
            </a:lvl1pPr>
          </a:lstStyle>
          <a:p>
            <a:pPr/>
            <a:r>
              <a:t>WHAT LUPE BUILT</a:t>
            </a:r>
          </a:p>
        </p:txBody>
      </p:sp>
      <p:sp>
        <p:nvSpPr>
          <p:cNvPr id="261" name="Text 1"/>
          <p:cNvSpPr txBox="1"/>
          <p:nvPr/>
        </p:nvSpPr>
        <p:spPr>
          <a:xfrm>
            <a:off x="777239" y="728662"/>
            <a:ext cx="7223761" cy="828676"/>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nSpc>
                <a:spcPct val="115000"/>
              </a:lnSpc>
              <a:defRPr b="1" sz="2400">
                <a:solidFill>
                  <a:srgbClr val="1A2332"/>
                </a:solidFill>
                <a:latin typeface="Georgia"/>
                <a:ea typeface="Georgia"/>
                <a:cs typeface="Georgia"/>
                <a:sym typeface="Georgia"/>
              </a:defRPr>
            </a:pPr>
            <a:r>
              <a:t>A context layer for</a:t>
            </a:r>
          </a:p>
          <a:p>
            <a:pPr>
              <a:lnSpc>
                <a:spcPct val="115000"/>
              </a:lnSpc>
              <a:defRPr b="1" sz="2400">
                <a:solidFill>
                  <a:srgbClr val="1A2332"/>
                </a:solidFill>
                <a:latin typeface="Georgia"/>
                <a:ea typeface="Georgia"/>
                <a:cs typeface="Georgia"/>
                <a:sym typeface="Georgia"/>
              </a:defRPr>
            </a:pPr>
            <a:r>
              <a:t>mobile marketing teams.</a:t>
            </a:r>
          </a:p>
        </p:txBody>
      </p:sp>
      <p:sp>
        <p:nvSpPr>
          <p:cNvPr id="262" name="Shape 2"/>
          <p:cNvSpPr/>
          <p:nvPr/>
        </p:nvSpPr>
        <p:spPr>
          <a:xfrm>
            <a:off x="457200" y="1828800"/>
            <a:ext cx="2286000" cy="2468880"/>
          </a:xfrm>
          <a:prstGeom prst="roundRect">
            <a:avLst>
              <a:gd name="adj" fmla="val 4000"/>
            </a:avLst>
          </a:prstGeom>
          <a:solidFill>
            <a:srgbClr val="1A2332"/>
          </a:solidFill>
          <a:ln w="12700">
            <a:miter lim="400000"/>
          </a:ln>
        </p:spPr>
        <p:txBody>
          <a:bodyPr lIns="45718" tIns="45718" rIns="45718" bIns="45718"/>
          <a:lstStyle/>
          <a:p>
            <a:pPr/>
          </a:p>
        </p:txBody>
      </p:sp>
      <p:sp>
        <p:nvSpPr>
          <p:cNvPr id="263" name="Text 3"/>
          <p:cNvSpPr txBox="1"/>
          <p:nvPr/>
        </p:nvSpPr>
        <p:spPr>
          <a:xfrm>
            <a:off x="502919" y="1954443"/>
            <a:ext cx="2194562"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pc="200" sz="900">
                <a:solidFill>
                  <a:srgbClr val="3AADAD"/>
                </a:solidFill>
              </a:defRPr>
            </a:lvl1pPr>
          </a:lstStyle>
          <a:p>
            <a:pPr/>
            <a:r>
              <a:t>DATA SOURCES</a:t>
            </a:r>
          </a:p>
        </p:txBody>
      </p:sp>
      <p:sp>
        <p:nvSpPr>
          <p:cNvPr id="264" name="Shape 4"/>
          <p:cNvSpPr/>
          <p:nvPr/>
        </p:nvSpPr>
        <p:spPr>
          <a:xfrm>
            <a:off x="640080" y="2286000"/>
            <a:ext cx="1920240"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65" name="Text 5"/>
          <p:cNvSpPr txBox="1"/>
          <p:nvPr/>
        </p:nvSpPr>
        <p:spPr>
          <a:xfrm>
            <a:off x="685800" y="2345480"/>
            <a:ext cx="182880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Ad Networks</a:t>
            </a:r>
          </a:p>
        </p:txBody>
      </p:sp>
      <p:sp>
        <p:nvSpPr>
          <p:cNvPr id="266" name="Shape 6"/>
          <p:cNvSpPr/>
          <p:nvPr/>
        </p:nvSpPr>
        <p:spPr>
          <a:xfrm>
            <a:off x="640080" y="2743200"/>
            <a:ext cx="1920240"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67" name="Text 7"/>
          <p:cNvSpPr txBox="1"/>
          <p:nvPr/>
        </p:nvSpPr>
        <p:spPr>
          <a:xfrm>
            <a:off x="685800" y="2802680"/>
            <a:ext cx="182880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MMPs</a:t>
            </a:r>
          </a:p>
        </p:txBody>
      </p:sp>
      <p:sp>
        <p:nvSpPr>
          <p:cNvPr id="268" name="Shape 8"/>
          <p:cNvSpPr/>
          <p:nvPr/>
        </p:nvSpPr>
        <p:spPr>
          <a:xfrm>
            <a:off x="640080" y="3200400"/>
            <a:ext cx="1920240"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69" name="Text 9"/>
          <p:cNvSpPr txBox="1"/>
          <p:nvPr/>
        </p:nvSpPr>
        <p:spPr>
          <a:xfrm>
            <a:off x="685800" y="3259880"/>
            <a:ext cx="182880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Revenue Platforms</a:t>
            </a:r>
          </a:p>
        </p:txBody>
      </p:sp>
      <p:sp>
        <p:nvSpPr>
          <p:cNvPr id="270" name="Shape 10"/>
          <p:cNvSpPr/>
          <p:nvPr/>
        </p:nvSpPr>
        <p:spPr>
          <a:xfrm>
            <a:off x="640080" y="3657600"/>
            <a:ext cx="1920240"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71" name="Text 11"/>
          <p:cNvSpPr txBox="1"/>
          <p:nvPr/>
        </p:nvSpPr>
        <p:spPr>
          <a:xfrm>
            <a:off x="685800" y="3717080"/>
            <a:ext cx="182880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Analytics Tools</a:t>
            </a:r>
          </a:p>
        </p:txBody>
      </p:sp>
      <p:sp>
        <p:nvSpPr>
          <p:cNvPr id="272" name="Shape 12"/>
          <p:cNvSpPr/>
          <p:nvPr/>
        </p:nvSpPr>
        <p:spPr>
          <a:xfrm>
            <a:off x="2880360" y="1828800"/>
            <a:ext cx="3383280" cy="2468880"/>
          </a:xfrm>
          <a:prstGeom prst="roundRect">
            <a:avLst>
              <a:gd name="adj" fmla="val 3704"/>
            </a:avLst>
          </a:prstGeom>
          <a:solidFill>
            <a:srgbClr val="1A2332"/>
          </a:solidFill>
          <a:ln w="12700">
            <a:miter lim="400000"/>
          </a:ln>
        </p:spPr>
        <p:txBody>
          <a:bodyPr lIns="45718" tIns="45718" rIns="45718" bIns="45718"/>
          <a:lstStyle/>
          <a:p>
            <a:pPr/>
          </a:p>
        </p:txBody>
      </p:sp>
      <p:sp>
        <p:nvSpPr>
          <p:cNvPr id="273" name="Text 13"/>
          <p:cNvSpPr txBox="1"/>
          <p:nvPr/>
        </p:nvSpPr>
        <p:spPr>
          <a:xfrm>
            <a:off x="2926080" y="3514090"/>
            <a:ext cx="3291840" cy="332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600">
                <a:solidFill>
                  <a:srgbClr val="FFFFFF"/>
                </a:solidFill>
                <a:latin typeface="Georgia"/>
                <a:ea typeface="Georgia"/>
                <a:cs typeface="Georgia"/>
                <a:sym typeface="Georgia"/>
              </a:defRPr>
            </a:lvl1pPr>
          </a:lstStyle>
          <a:p>
            <a:pPr/>
            <a:r>
              <a:t>SSOT</a:t>
            </a:r>
          </a:p>
        </p:txBody>
      </p:sp>
      <p:sp>
        <p:nvSpPr>
          <p:cNvPr id="274" name="Text 14"/>
          <p:cNvSpPr txBox="1"/>
          <p:nvPr/>
        </p:nvSpPr>
        <p:spPr>
          <a:xfrm>
            <a:off x="2926080" y="3840479"/>
            <a:ext cx="3291840" cy="20591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900">
                <a:solidFill>
                  <a:srgbClr val="8895A7"/>
                </a:solidFill>
              </a:defRPr>
            </a:lvl1pPr>
          </a:lstStyle>
          <a:p>
            <a:pPr/>
            <a:r>
              <a:t>Single Source of Truth</a:t>
            </a:r>
          </a:p>
        </p:txBody>
      </p:sp>
      <p:sp>
        <p:nvSpPr>
          <p:cNvPr id="275" name="Shape 15"/>
          <p:cNvSpPr/>
          <p:nvPr/>
        </p:nvSpPr>
        <p:spPr>
          <a:xfrm>
            <a:off x="3017520" y="1920239"/>
            <a:ext cx="3108961" cy="1600201"/>
          </a:xfrm>
          <a:prstGeom prst="roundRect">
            <a:avLst>
              <a:gd name="adj" fmla="val 4571"/>
            </a:avLst>
          </a:prstGeom>
          <a:solidFill>
            <a:srgbClr val="2A8A8A"/>
          </a:solidFill>
          <a:ln w="12700">
            <a:miter lim="400000"/>
          </a:ln>
        </p:spPr>
        <p:txBody>
          <a:bodyPr lIns="45718" tIns="45718" rIns="45718" bIns="45718"/>
          <a:lstStyle/>
          <a:p>
            <a:pPr/>
          </a:p>
        </p:txBody>
      </p:sp>
      <p:sp>
        <p:nvSpPr>
          <p:cNvPr id="276" name="Text 16"/>
          <p:cNvSpPr txBox="1"/>
          <p:nvPr/>
        </p:nvSpPr>
        <p:spPr>
          <a:xfrm>
            <a:off x="3063239" y="2019807"/>
            <a:ext cx="3017522"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FFFFFF"/>
                </a:solidFill>
                <a:latin typeface="Georgia"/>
                <a:ea typeface="Georgia"/>
                <a:cs typeface="Georgia"/>
                <a:sym typeface="Georgia"/>
              </a:defRPr>
            </a:lvl1pPr>
          </a:lstStyle>
          <a:p>
            <a:pPr/>
            <a:r>
              <a:t>Context Agent</a:t>
            </a:r>
          </a:p>
        </p:txBody>
      </p:sp>
      <p:sp>
        <p:nvSpPr>
          <p:cNvPr id="277" name="Shape 17"/>
          <p:cNvSpPr/>
          <p:nvPr/>
        </p:nvSpPr>
        <p:spPr>
          <a:xfrm>
            <a:off x="3154679" y="2423160"/>
            <a:ext cx="1371601" cy="329185"/>
          </a:xfrm>
          <a:prstGeom prst="roundRect">
            <a:avLst>
              <a:gd name="adj" fmla="val 13889"/>
            </a:avLst>
          </a:prstGeom>
          <a:solidFill>
            <a:srgbClr val="23776E"/>
          </a:solidFill>
          <a:ln w="12700">
            <a:miter lim="400000"/>
          </a:ln>
        </p:spPr>
        <p:txBody>
          <a:bodyPr lIns="45718" tIns="45718" rIns="45718" bIns="45718"/>
          <a:lstStyle/>
          <a:p>
            <a:pPr/>
          </a:p>
        </p:txBody>
      </p:sp>
      <p:sp>
        <p:nvSpPr>
          <p:cNvPr id="278" name="Text 18"/>
          <p:cNvSpPr txBox="1"/>
          <p:nvPr/>
        </p:nvSpPr>
        <p:spPr>
          <a:xfrm>
            <a:off x="3200400" y="2484795"/>
            <a:ext cx="1280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Semantic Layer</a:t>
            </a:r>
          </a:p>
        </p:txBody>
      </p:sp>
      <p:sp>
        <p:nvSpPr>
          <p:cNvPr id="279" name="Shape 19"/>
          <p:cNvSpPr/>
          <p:nvPr/>
        </p:nvSpPr>
        <p:spPr>
          <a:xfrm>
            <a:off x="4617720" y="2423160"/>
            <a:ext cx="1371601" cy="329185"/>
          </a:xfrm>
          <a:prstGeom prst="roundRect">
            <a:avLst>
              <a:gd name="adj" fmla="val 13889"/>
            </a:avLst>
          </a:prstGeom>
          <a:solidFill>
            <a:srgbClr val="23776E"/>
          </a:solidFill>
          <a:ln w="12700">
            <a:miter lim="400000"/>
          </a:ln>
        </p:spPr>
        <p:txBody>
          <a:bodyPr lIns="45718" tIns="45718" rIns="45718" bIns="45718"/>
          <a:lstStyle/>
          <a:p>
            <a:pPr/>
          </a:p>
        </p:txBody>
      </p:sp>
      <p:sp>
        <p:nvSpPr>
          <p:cNvPr id="280" name="Text 20"/>
          <p:cNvSpPr txBox="1"/>
          <p:nvPr/>
        </p:nvSpPr>
        <p:spPr>
          <a:xfrm>
            <a:off x="4663440" y="2484795"/>
            <a:ext cx="1280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Vertical Context</a:t>
            </a:r>
          </a:p>
        </p:txBody>
      </p:sp>
      <p:sp>
        <p:nvSpPr>
          <p:cNvPr id="281" name="Shape 21"/>
          <p:cNvSpPr/>
          <p:nvPr/>
        </p:nvSpPr>
        <p:spPr>
          <a:xfrm>
            <a:off x="3154679" y="2862072"/>
            <a:ext cx="1371601" cy="329185"/>
          </a:xfrm>
          <a:prstGeom prst="roundRect">
            <a:avLst>
              <a:gd name="adj" fmla="val 13889"/>
            </a:avLst>
          </a:prstGeom>
          <a:solidFill>
            <a:srgbClr val="23776E"/>
          </a:solidFill>
          <a:ln w="12700">
            <a:miter lim="400000"/>
          </a:ln>
        </p:spPr>
        <p:txBody>
          <a:bodyPr lIns="45718" tIns="45718" rIns="45718" bIns="45718"/>
          <a:lstStyle/>
          <a:p>
            <a:pPr/>
          </a:p>
        </p:txBody>
      </p:sp>
      <p:sp>
        <p:nvSpPr>
          <p:cNvPr id="282" name="Text 22"/>
          <p:cNvSpPr txBox="1"/>
          <p:nvPr/>
        </p:nvSpPr>
        <p:spPr>
          <a:xfrm>
            <a:off x="3200400" y="2923707"/>
            <a:ext cx="1280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Business Context</a:t>
            </a:r>
          </a:p>
        </p:txBody>
      </p:sp>
      <p:sp>
        <p:nvSpPr>
          <p:cNvPr id="283" name="Shape 23"/>
          <p:cNvSpPr/>
          <p:nvPr/>
        </p:nvSpPr>
        <p:spPr>
          <a:xfrm>
            <a:off x="4617720" y="2862072"/>
            <a:ext cx="1371601" cy="329185"/>
          </a:xfrm>
          <a:prstGeom prst="roundRect">
            <a:avLst>
              <a:gd name="adj" fmla="val 13889"/>
            </a:avLst>
          </a:prstGeom>
          <a:solidFill>
            <a:srgbClr val="23776E"/>
          </a:solidFill>
          <a:ln w="12700">
            <a:miter lim="400000"/>
          </a:ln>
        </p:spPr>
        <p:txBody>
          <a:bodyPr lIns="45718" tIns="45718" rIns="45718" bIns="45718"/>
          <a:lstStyle/>
          <a:p>
            <a:pPr/>
          </a:p>
        </p:txBody>
      </p:sp>
      <p:sp>
        <p:nvSpPr>
          <p:cNvPr id="284" name="Text 24"/>
          <p:cNvSpPr txBox="1"/>
          <p:nvPr/>
        </p:nvSpPr>
        <p:spPr>
          <a:xfrm>
            <a:off x="4663440" y="2923707"/>
            <a:ext cx="12801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900">
                <a:solidFill>
                  <a:srgbClr val="FFFFFF"/>
                </a:solidFill>
              </a:defRPr>
            </a:lvl1pPr>
          </a:lstStyle>
          <a:p>
            <a:pPr/>
            <a:r>
              <a:t>User Context</a:t>
            </a:r>
          </a:p>
        </p:txBody>
      </p:sp>
      <p:sp>
        <p:nvSpPr>
          <p:cNvPr id="285" name="Text 25"/>
          <p:cNvSpPr txBox="1"/>
          <p:nvPr/>
        </p:nvSpPr>
        <p:spPr>
          <a:xfrm>
            <a:off x="2743200" y="2896696"/>
            <a:ext cx="274321"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2A8A8A"/>
                </a:solidFill>
              </a:defRPr>
            </a:lvl1pPr>
          </a:lstStyle>
          <a:p>
            <a:pPr/>
            <a:r>
              <a:t>→</a:t>
            </a:r>
          </a:p>
        </p:txBody>
      </p:sp>
      <p:sp>
        <p:nvSpPr>
          <p:cNvPr id="286" name="Text 26"/>
          <p:cNvSpPr txBox="1"/>
          <p:nvPr/>
        </p:nvSpPr>
        <p:spPr>
          <a:xfrm>
            <a:off x="6263640" y="2896696"/>
            <a:ext cx="274321" cy="33308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a:solidFill>
                  <a:srgbClr val="2A8A8A"/>
                </a:solidFill>
              </a:defRPr>
            </a:lvl1pPr>
          </a:lstStyle>
          <a:p>
            <a:pPr/>
            <a:r>
              <a:t>→</a:t>
            </a:r>
          </a:p>
        </p:txBody>
      </p:sp>
      <p:sp>
        <p:nvSpPr>
          <p:cNvPr id="287" name="Shape 27"/>
          <p:cNvSpPr/>
          <p:nvPr/>
        </p:nvSpPr>
        <p:spPr>
          <a:xfrm>
            <a:off x="6400800" y="1828800"/>
            <a:ext cx="2286000" cy="2468880"/>
          </a:xfrm>
          <a:prstGeom prst="roundRect">
            <a:avLst>
              <a:gd name="adj" fmla="val 4000"/>
            </a:avLst>
          </a:prstGeom>
          <a:solidFill>
            <a:srgbClr val="1A2332"/>
          </a:solidFill>
          <a:ln w="12700">
            <a:miter lim="400000"/>
          </a:ln>
        </p:spPr>
        <p:txBody>
          <a:bodyPr lIns="45718" tIns="45718" rIns="45718" bIns="45718"/>
          <a:lstStyle/>
          <a:p>
            <a:pPr/>
          </a:p>
        </p:txBody>
      </p:sp>
      <p:sp>
        <p:nvSpPr>
          <p:cNvPr id="288" name="Text 28"/>
          <p:cNvSpPr txBox="1"/>
          <p:nvPr/>
        </p:nvSpPr>
        <p:spPr>
          <a:xfrm>
            <a:off x="6446520" y="1954443"/>
            <a:ext cx="2194561" cy="205914"/>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pc="200" sz="900">
                <a:solidFill>
                  <a:srgbClr val="3AADAD"/>
                </a:solidFill>
              </a:defRPr>
            </a:lvl1pPr>
          </a:lstStyle>
          <a:p>
            <a:pPr/>
            <a:r>
              <a:t>FEATURES</a:t>
            </a:r>
          </a:p>
        </p:txBody>
      </p:sp>
      <p:sp>
        <p:nvSpPr>
          <p:cNvPr id="289" name="Shape 29"/>
          <p:cNvSpPr/>
          <p:nvPr/>
        </p:nvSpPr>
        <p:spPr>
          <a:xfrm>
            <a:off x="6583680" y="2286000"/>
            <a:ext cx="1920241"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90" name="Text 30"/>
          <p:cNvSpPr txBox="1"/>
          <p:nvPr/>
        </p:nvSpPr>
        <p:spPr>
          <a:xfrm>
            <a:off x="6629400" y="2345480"/>
            <a:ext cx="1828800"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Daily Report</a:t>
            </a:r>
          </a:p>
        </p:txBody>
      </p:sp>
      <p:sp>
        <p:nvSpPr>
          <p:cNvPr id="291" name="Shape 31"/>
          <p:cNvSpPr/>
          <p:nvPr/>
        </p:nvSpPr>
        <p:spPr>
          <a:xfrm>
            <a:off x="6583680" y="2743200"/>
            <a:ext cx="1920241"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92" name="Text 32"/>
          <p:cNvSpPr txBox="1"/>
          <p:nvPr/>
        </p:nvSpPr>
        <p:spPr>
          <a:xfrm>
            <a:off x="6629400" y="2802680"/>
            <a:ext cx="1828800"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Weekly Summary</a:t>
            </a:r>
          </a:p>
        </p:txBody>
      </p:sp>
      <p:sp>
        <p:nvSpPr>
          <p:cNvPr id="293" name="Shape 33"/>
          <p:cNvSpPr/>
          <p:nvPr/>
        </p:nvSpPr>
        <p:spPr>
          <a:xfrm>
            <a:off x="6583680" y="3200400"/>
            <a:ext cx="1920241"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94" name="Text 34"/>
          <p:cNvSpPr txBox="1"/>
          <p:nvPr/>
        </p:nvSpPr>
        <p:spPr>
          <a:xfrm>
            <a:off x="6629400" y="3259880"/>
            <a:ext cx="1828800"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Explain Feature</a:t>
            </a:r>
          </a:p>
        </p:txBody>
      </p:sp>
      <p:sp>
        <p:nvSpPr>
          <p:cNvPr id="295" name="Shape 35"/>
          <p:cNvSpPr/>
          <p:nvPr/>
        </p:nvSpPr>
        <p:spPr>
          <a:xfrm>
            <a:off x="6583680" y="3657600"/>
            <a:ext cx="1920241" cy="347473"/>
          </a:xfrm>
          <a:prstGeom prst="roundRect">
            <a:avLst>
              <a:gd name="adj" fmla="val 13158"/>
            </a:avLst>
          </a:prstGeom>
          <a:solidFill>
            <a:srgbClr val="243044"/>
          </a:solidFill>
          <a:ln w="12700">
            <a:miter lim="400000"/>
          </a:ln>
        </p:spPr>
        <p:txBody>
          <a:bodyPr lIns="45718" tIns="45718" rIns="45718" bIns="45718"/>
          <a:lstStyle/>
          <a:p>
            <a:pPr/>
          </a:p>
        </p:txBody>
      </p:sp>
      <p:sp>
        <p:nvSpPr>
          <p:cNvPr id="296" name="Text 36"/>
          <p:cNvSpPr txBox="1"/>
          <p:nvPr/>
        </p:nvSpPr>
        <p:spPr>
          <a:xfrm>
            <a:off x="6629400" y="3717080"/>
            <a:ext cx="1828800"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000">
                <a:solidFill>
                  <a:srgbClr val="FFFFFF"/>
                </a:solidFill>
              </a:defRPr>
            </a:lvl1pPr>
          </a:lstStyle>
          <a:p>
            <a:pPr/>
            <a:r>
              <a:t>NL Querying</a:t>
            </a:r>
          </a:p>
        </p:txBody>
      </p:sp>
      <p:sp>
        <p:nvSpPr>
          <p:cNvPr id="297" name="Text 37"/>
          <p:cNvSpPr txBox="1"/>
          <p:nvPr/>
        </p:nvSpPr>
        <p:spPr>
          <a:xfrm>
            <a:off x="777239" y="4457744"/>
            <a:ext cx="7223761" cy="228512"/>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solidFill>
                  <a:srgbClr val="8895A7"/>
                </a:solidFill>
              </a:defRPr>
            </a:lvl1pPr>
          </a:lstStyle>
          <a:p>
            <a:pPr/>
            <a:r>
              <a:t>Accessible through Slack Bot &amp; Dashboard</a:t>
            </a:r>
          </a:p>
        </p:txBody>
      </p:sp>
      <p:sp>
        <p:nvSpPr>
          <p:cNvPr id="298" name="Shape 38"/>
          <p:cNvSpPr/>
          <p:nvPr/>
        </p:nvSpPr>
        <p:spPr>
          <a:xfrm>
            <a:off x="0" y="4892040"/>
            <a:ext cx="9144000" cy="251460"/>
          </a:xfrm>
          <a:prstGeom prst="rect">
            <a:avLst/>
          </a:prstGeom>
          <a:solidFill>
            <a:srgbClr val="2A8A8A"/>
          </a:solidFill>
          <a:ln w="12700">
            <a:miter lim="400000"/>
          </a:ln>
        </p:spPr>
        <p:txBody>
          <a:bodyPr lIns="45718" tIns="45718" rIns="45718" bIns="45718"/>
          <a:lstStyle/>
          <a:p>
            <a:pP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300" name="Text 0"/>
          <p:cNvSpPr txBox="1"/>
          <p:nvPr/>
        </p:nvSpPr>
        <p:spPr>
          <a:xfrm>
            <a:off x="731518" y="480103"/>
            <a:ext cx="365760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DAILY MARKETING REPORT</a:t>
            </a:r>
          </a:p>
        </p:txBody>
      </p:sp>
      <p:sp>
        <p:nvSpPr>
          <p:cNvPr id="301" name="Text 1"/>
          <p:cNvSpPr txBox="1"/>
          <p:nvPr/>
        </p:nvSpPr>
        <p:spPr>
          <a:xfrm>
            <a:off x="731518" y="819783"/>
            <a:ext cx="3657603"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Wake up knowing where</a:t>
            </a:r>
          </a:p>
          <a:p>
            <a:pPr>
              <a:lnSpc>
                <a:spcPct val="115000"/>
              </a:lnSpc>
              <a:defRPr b="1" sz="2000">
                <a:solidFill>
                  <a:srgbClr val="1A2332"/>
                </a:solidFill>
                <a:latin typeface="Georgia"/>
                <a:ea typeface="Georgia"/>
                <a:cs typeface="Georgia"/>
                <a:sym typeface="Georgia"/>
              </a:defRPr>
            </a:pPr>
            <a:r>
              <a:t>you're losing money.</a:t>
            </a:r>
          </a:p>
        </p:txBody>
      </p:sp>
      <p:sp>
        <p:nvSpPr>
          <p:cNvPr id="302" name="Text 2"/>
          <p:cNvSpPr txBox="1"/>
          <p:nvPr/>
        </p:nvSpPr>
        <p:spPr>
          <a:xfrm>
            <a:off x="731518" y="1733354"/>
            <a:ext cx="3657603" cy="8309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Every morning, Lupe's AI agents analyze your campaigns across every channel and flag where budget is being wasted. You get a prioritized breakdown: which campaigns to pause, which to scale, and where your next dollar works hardest.</a:t>
            </a:r>
          </a:p>
        </p:txBody>
      </p:sp>
      <p:pic>
        <p:nvPicPr>
          <p:cNvPr id="303" name="Image 0" descr="Image 0"/>
          <p:cNvPicPr>
            <a:picLocks noChangeAspect="1"/>
          </p:cNvPicPr>
          <p:nvPr/>
        </p:nvPicPr>
        <p:blipFill>
          <a:blip r:embed="rId2">
            <a:extLst/>
          </a:blip>
          <a:stretch>
            <a:fillRect/>
          </a:stretch>
        </p:blipFill>
        <p:spPr>
          <a:xfrm>
            <a:off x="731519" y="2880360"/>
            <a:ext cx="228602" cy="228602"/>
          </a:xfrm>
          <a:prstGeom prst="rect">
            <a:avLst/>
          </a:prstGeom>
          <a:ln w="12700">
            <a:miter lim="400000"/>
          </a:ln>
        </p:spPr>
      </p:pic>
      <p:sp>
        <p:nvSpPr>
          <p:cNvPr id="304" name="Text 3"/>
          <p:cNvSpPr txBox="1"/>
          <p:nvPr/>
        </p:nvSpPr>
        <p:spPr>
          <a:xfrm>
            <a:off x="1097280" y="292752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Delivered to Slack every morning</a:t>
            </a:r>
          </a:p>
        </p:txBody>
      </p:sp>
      <p:pic>
        <p:nvPicPr>
          <p:cNvPr id="305" name="Image 1" descr="Image 1"/>
          <p:cNvPicPr>
            <a:picLocks noChangeAspect="1"/>
          </p:cNvPicPr>
          <p:nvPr/>
        </p:nvPicPr>
        <p:blipFill>
          <a:blip r:embed="rId3">
            <a:extLst/>
          </a:blip>
          <a:stretch>
            <a:fillRect/>
          </a:stretch>
        </p:blipFill>
        <p:spPr>
          <a:xfrm>
            <a:off x="731519" y="3337559"/>
            <a:ext cx="228602" cy="228602"/>
          </a:xfrm>
          <a:prstGeom prst="rect">
            <a:avLst/>
          </a:prstGeom>
          <a:ln w="12700">
            <a:miter lim="400000"/>
          </a:ln>
        </p:spPr>
      </p:pic>
      <p:sp>
        <p:nvSpPr>
          <p:cNvPr id="306" name="Text 4"/>
          <p:cNvSpPr txBox="1"/>
          <p:nvPr/>
        </p:nvSpPr>
        <p:spPr>
          <a:xfrm>
            <a:off x="1097280" y="338472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Full dashboard with drill-down</a:t>
            </a:r>
          </a:p>
        </p:txBody>
      </p:sp>
      <p:sp>
        <p:nvSpPr>
          <p:cNvPr id="307" name="Shape 5"/>
          <p:cNvSpPr/>
          <p:nvPr/>
        </p:nvSpPr>
        <p:spPr>
          <a:xfrm>
            <a:off x="4754879" y="320040"/>
            <a:ext cx="4114802" cy="4480560"/>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8" tIns="45718" rIns="45718" bIns="45718"/>
          <a:lstStyle/>
          <a:p>
            <a:pPr/>
          </a:p>
        </p:txBody>
      </p:sp>
      <p:pic>
        <p:nvPicPr>
          <p:cNvPr id="308" name="daily_feature.png" descr="daily_feature.png"/>
          <p:cNvPicPr>
            <a:picLocks noChangeAspect="1"/>
          </p:cNvPicPr>
          <p:nvPr/>
        </p:nvPicPr>
        <p:blipFill>
          <a:blip r:embed="rId4">
            <a:extLst/>
          </a:blip>
          <a:srcRect l="0" t="4817" r="0" b="0"/>
          <a:stretch>
            <a:fillRect/>
          </a:stretch>
        </p:blipFill>
        <p:spPr>
          <a:xfrm>
            <a:off x="5314958" y="429814"/>
            <a:ext cx="2773252" cy="4264662"/>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310" name="Text 0"/>
          <p:cNvSpPr txBox="1"/>
          <p:nvPr/>
        </p:nvSpPr>
        <p:spPr>
          <a:xfrm>
            <a:off x="731518" y="480103"/>
            <a:ext cx="365760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WEEKLY EXECUTIVE SUMMARY</a:t>
            </a:r>
          </a:p>
        </p:txBody>
      </p:sp>
      <p:sp>
        <p:nvSpPr>
          <p:cNvPr id="311" name="Text 1"/>
          <p:cNvSpPr txBox="1"/>
          <p:nvPr/>
        </p:nvSpPr>
        <p:spPr>
          <a:xfrm>
            <a:off x="731518" y="819783"/>
            <a:ext cx="3657603"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Strategic performance</a:t>
            </a:r>
          </a:p>
          <a:p>
            <a:pPr>
              <a:lnSpc>
                <a:spcPct val="115000"/>
              </a:lnSpc>
              <a:defRPr b="1" sz="2000">
                <a:solidFill>
                  <a:srgbClr val="1A2332"/>
                </a:solidFill>
                <a:latin typeface="Georgia"/>
                <a:ea typeface="Georgia"/>
                <a:cs typeface="Georgia"/>
                <a:sym typeface="Georgia"/>
              </a:defRPr>
            </a:pPr>
            <a:r>
              <a:t>overview, every week.</a:t>
            </a:r>
          </a:p>
        </p:txBody>
      </p:sp>
      <p:sp>
        <p:nvSpPr>
          <p:cNvPr id="312" name="Text 2"/>
          <p:cNvSpPr txBox="1"/>
          <p:nvPr/>
        </p:nvSpPr>
        <p:spPr>
          <a:xfrm>
            <a:off x="731518" y="1733354"/>
            <a:ext cx="3657603" cy="8309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Revenue, Spend, Installs, ROAS, DAU at a glance. AI-generated insights classify findings as risks or opportunities with confidence scoring. Each summary includes a prioritized action plan with urgency levels.</a:t>
            </a:r>
          </a:p>
        </p:txBody>
      </p:sp>
      <p:pic>
        <p:nvPicPr>
          <p:cNvPr id="313" name="Image 0" descr="Image 0"/>
          <p:cNvPicPr>
            <a:picLocks noChangeAspect="1"/>
          </p:cNvPicPr>
          <p:nvPr/>
        </p:nvPicPr>
        <p:blipFill>
          <a:blip r:embed="rId2">
            <a:extLst/>
          </a:blip>
          <a:stretch>
            <a:fillRect/>
          </a:stretch>
        </p:blipFill>
        <p:spPr>
          <a:xfrm>
            <a:off x="731519" y="2880360"/>
            <a:ext cx="228602" cy="228602"/>
          </a:xfrm>
          <a:prstGeom prst="rect">
            <a:avLst/>
          </a:prstGeom>
          <a:ln w="12700">
            <a:miter lim="400000"/>
          </a:ln>
        </p:spPr>
      </p:pic>
      <p:sp>
        <p:nvSpPr>
          <p:cNvPr id="314" name="Text 3"/>
          <p:cNvSpPr txBox="1"/>
          <p:nvPr/>
        </p:nvSpPr>
        <p:spPr>
          <a:xfrm>
            <a:off x="1097280" y="292752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Delivered to Slack weekly</a:t>
            </a:r>
          </a:p>
        </p:txBody>
      </p:sp>
      <p:pic>
        <p:nvPicPr>
          <p:cNvPr id="315" name="Image 1" descr="Image 1"/>
          <p:cNvPicPr>
            <a:picLocks noChangeAspect="1"/>
          </p:cNvPicPr>
          <p:nvPr/>
        </p:nvPicPr>
        <p:blipFill>
          <a:blip r:embed="rId3">
            <a:extLst/>
          </a:blip>
          <a:stretch>
            <a:fillRect/>
          </a:stretch>
        </p:blipFill>
        <p:spPr>
          <a:xfrm>
            <a:off x="731519" y="3337559"/>
            <a:ext cx="228602" cy="228602"/>
          </a:xfrm>
          <a:prstGeom prst="rect">
            <a:avLst/>
          </a:prstGeom>
          <a:ln w="12700">
            <a:miter lim="400000"/>
          </a:ln>
        </p:spPr>
      </p:pic>
      <p:sp>
        <p:nvSpPr>
          <p:cNvPr id="316" name="Text 4"/>
          <p:cNvSpPr txBox="1"/>
          <p:nvPr/>
        </p:nvSpPr>
        <p:spPr>
          <a:xfrm>
            <a:off x="1097280" y="338472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KPI dashboard with trend lines</a:t>
            </a:r>
          </a:p>
        </p:txBody>
      </p:sp>
      <p:sp>
        <p:nvSpPr>
          <p:cNvPr id="317" name="Shape 5"/>
          <p:cNvSpPr/>
          <p:nvPr/>
        </p:nvSpPr>
        <p:spPr>
          <a:xfrm>
            <a:off x="4754879" y="320039"/>
            <a:ext cx="4114802" cy="4271962"/>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8" tIns="45718" rIns="45718" bIns="45718"/>
          <a:lstStyle/>
          <a:p>
            <a:pPr/>
          </a:p>
        </p:txBody>
      </p:sp>
      <p:pic>
        <p:nvPicPr>
          <p:cNvPr id="318" name="pasted-movie.png" descr="pasted-movie.png"/>
          <p:cNvPicPr>
            <a:picLocks noChangeAspect="1"/>
          </p:cNvPicPr>
          <p:nvPr/>
        </p:nvPicPr>
        <p:blipFill>
          <a:blip r:embed="rId4">
            <a:extLst/>
          </a:blip>
          <a:stretch>
            <a:fillRect/>
          </a:stretch>
        </p:blipFill>
        <p:spPr>
          <a:xfrm>
            <a:off x="4862126" y="469900"/>
            <a:ext cx="3910127" cy="3660301"/>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320" name="Text 0"/>
          <p:cNvSpPr txBox="1"/>
          <p:nvPr/>
        </p:nvSpPr>
        <p:spPr>
          <a:xfrm>
            <a:off x="731518" y="480103"/>
            <a:ext cx="365760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EXPLAIN FEATURE</a:t>
            </a:r>
          </a:p>
        </p:txBody>
      </p:sp>
      <p:sp>
        <p:nvSpPr>
          <p:cNvPr id="321" name="Text 1"/>
          <p:cNvSpPr txBox="1"/>
          <p:nvPr/>
        </p:nvSpPr>
        <p:spPr>
          <a:xfrm>
            <a:off x="731518" y="819783"/>
            <a:ext cx="3657603"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Understand why your</a:t>
            </a:r>
          </a:p>
          <a:p>
            <a:pPr>
              <a:lnSpc>
                <a:spcPct val="115000"/>
              </a:lnSpc>
              <a:defRPr b="1" sz="2000">
                <a:solidFill>
                  <a:srgbClr val="1A2332"/>
                </a:solidFill>
                <a:latin typeface="Georgia"/>
                <a:ea typeface="Georgia"/>
                <a:cs typeface="Georgia"/>
                <a:sym typeface="Georgia"/>
              </a:defRPr>
            </a:pPr>
            <a:r>
              <a:t>metrics changed.</a:t>
            </a:r>
          </a:p>
        </p:txBody>
      </p:sp>
      <p:sp>
        <p:nvSpPr>
          <p:cNvPr id="322" name="Text 2"/>
          <p:cNvSpPr txBox="1"/>
          <p:nvPr/>
        </p:nvSpPr>
        <p:spPr>
          <a:xfrm>
            <a:off x="731518" y="1733354"/>
            <a:ext cx="3657603" cy="83097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Ask "why did spend change?" and get a driver breakdown by channel. Evidence-scored analysis shows exactly which channels drove the shift, with magnitude and direction. Suggested next steps let you investigate further or take action immediately.</a:t>
            </a:r>
          </a:p>
        </p:txBody>
      </p:sp>
      <p:pic>
        <p:nvPicPr>
          <p:cNvPr id="323" name="Image 0" descr="Image 0"/>
          <p:cNvPicPr>
            <a:picLocks noChangeAspect="1"/>
          </p:cNvPicPr>
          <p:nvPr/>
        </p:nvPicPr>
        <p:blipFill>
          <a:blip r:embed="rId2">
            <a:extLst/>
          </a:blip>
          <a:stretch>
            <a:fillRect/>
          </a:stretch>
        </p:blipFill>
        <p:spPr>
          <a:xfrm>
            <a:off x="731519" y="2880360"/>
            <a:ext cx="228602" cy="228602"/>
          </a:xfrm>
          <a:prstGeom prst="rect">
            <a:avLst/>
          </a:prstGeom>
          <a:ln w="12700">
            <a:miter lim="400000"/>
          </a:ln>
        </p:spPr>
      </p:pic>
      <p:sp>
        <p:nvSpPr>
          <p:cNvPr id="324" name="Text 3"/>
          <p:cNvSpPr txBox="1"/>
          <p:nvPr/>
        </p:nvSpPr>
        <p:spPr>
          <a:xfrm>
            <a:off x="1097280" y="292752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Driver analysis with evidence scoring</a:t>
            </a:r>
          </a:p>
        </p:txBody>
      </p:sp>
      <p:pic>
        <p:nvPicPr>
          <p:cNvPr id="325" name="Image 1" descr="Image 1"/>
          <p:cNvPicPr>
            <a:picLocks noChangeAspect="1"/>
          </p:cNvPicPr>
          <p:nvPr/>
        </p:nvPicPr>
        <p:blipFill>
          <a:blip r:embed="rId3">
            <a:extLst/>
          </a:blip>
          <a:stretch>
            <a:fillRect/>
          </a:stretch>
        </p:blipFill>
        <p:spPr>
          <a:xfrm>
            <a:off x="731519" y="3337559"/>
            <a:ext cx="228602" cy="228602"/>
          </a:xfrm>
          <a:prstGeom prst="rect">
            <a:avLst/>
          </a:prstGeom>
          <a:ln w="12700">
            <a:miter lim="400000"/>
          </a:ln>
        </p:spPr>
      </p:pic>
      <p:sp>
        <p:nvSpPr>
          <p:cNvPr id="326" name="Text 4"/>
          <p:cNvSpPr txBox="1"/>
          <p:nvPr/>
        </p:nvSpPr>
        <p:spPr>
          <a:xfrm>
            <a:off x="1097280" y="338472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Available in Slack and Dashboard</a:t>
            </a:r>
          </a:p>
        </p:txBody>
      </p:sp>
      <p:sp>
        <p:nvSpPr>
          <p:cNvPr id="327" name="Shape 5"/>
          <p:cNvSpPr/>
          <p:nvPr/>
        </p:nvSpPr>
        <p:spPr>
          <a:xfrm>
            <a:off x="4754879" y="645441"/>
            <a:ext cx="4114802" cy="3852618"/>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8" tIns="45718" rIns="45718" bIns="45718"/>
          <a:lstStyle/>
          <a:p>
            <a:pPr/>
          </a:p>
        </p:txBody>
      </p:sp>
      <p:pic>
        <p:nvPicPr>
          <p:cNvPr id="328" name="image-6-3.png" descr="image-6-3.png"/>
          <p:cNvPicPr>
            <a:picLocks noChangeAspect="1"/>
          </p:cNvPicPr>
          <p:nvPr/>
        </p:nvPicPr>
        <p:blipFill>
          <a:blip r:embed="rId4">
            <a:extLst/>
          </a:blip>
          <a:stretch>
            <a:fillRect/>
          </a:stretch>
        </p:blipFill>
        <p:spPr>
          <a:xfrm>
            <a:off x="4850784" y="755306"/>
            <a:ext cx="3922993" cy="3443458"/>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330" name="Text 0"/>
          <p:cNvSpPr txBox="1"/>
          <p:nvPr/>
        </p:nvSpPr>
        <p:spPr>
          <a:xfrm>
            <a:off x="731518" y="480103"/>
            <a:ext cx="3657603"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NATURAL LANGUAGE QUERYING</a:t>
            </a:r>
          </a:p>
        </p:txBody>
      </p:sp>
      <p:sp>
        <p:nvSpPr>
          <p:cNvPr id="331" name="Text 1"/>
          <p:cNvSpPr txBox="1"/>
          <p:nvPr/>
        </p:nvSpPr>
        <p:spPr>
          <a:xfrm>
            <a:off x="731518" y="819783"/>
            <a:ext cx="3657603"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From question to answer</a:t>
            </a:r>
          </a:p>
          <a:p>
            <a:pPr>
              <a:lnSpc>
                <a:spcPct val="115000"/>
              </a:lnSpc>
              <a:defRPr b="1" sz="2000">
                <a:solidFill>
                  <a:srgbClr val="1A2332"/>
                </a:solidFill>
                <a:latin typeface="Georgia"/>
                <a:ea typeface="Georgia"/>
                <a:cs typeface="Georgia"/>
                <a:sym typeface="Georgia"/>
              </a:defRPr>
            </a:pPr>
            <a:r>
              <a:t>in seconds, not days.</a:t>
            </a:r>
          </a:p>
        </p:txBody>
      </p:sp>
      <p:sp>
        <p:nvSpPr>
          <p:cNvPr id="332" name="Text 2"/>
          <p:cNvSpPr txBox="1"/>
          <p:nvPr/>
        </p:nvSpPr>
        <p:spPr>
          <a:xfrm>
            <a:off x="731518" y="1546841"/>
            <a:ext cx="3657603" cy="12954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3D4F63"/>
                </a:solidFill>
              </a:defRPr>
            </a:lvl1pPr>
          </a:lstStyle>
          <a:p>
            <a:pPr/>
            <a:r>
              <a:t>Ask questions in plain English. "Show me the top 5 campaigns by average D90 ROAS forecast, filtering only campaigns with more than $100 average daily spend for the month of January 2026" Lupe queries your unified data, builds the table, runs the analysis, and explains key observations. No SQL. No analyst bottleneck. Follow-up suggestions keep the conversation going.</a:t>
            </a:r>
          </a:p>
        </p:txBody>
      </p:sp>
      <p:pic>
        <p:nvPicPr>
          <p:cNvPr id="333" name="Image 0" descr="Image 0"/>
          <p:cNvPicPr>
            <a:picLocks noChangeAspect="1"/>
          </p:cNvPicPr>
          <p:nvPr/>
        </p:nvPicPr>
        <p:blipFill>
          <a:blip r:embed="rId2">
            <a:extLst/>
          </a:blip>
          <a:stretch>
            <a:fillRect/>
          </a:stretch>
        </p:blipFill>
        <p:spPr>
          <a:xfrm>
            <a:off x="731519" y="2971800"/>
            <a:ext cx="228602" cy="228600"/>
          </a:xfrm>
          <a:prstGeom prst="rect">
            <a:avLst/>
          </a:prstGeom>
          <a:ln w="12700">
            <a:miter lim="400000"/>
          </a:ln>
        </p:spPr>
      </p:pic>
      <p:sp>
        <p:nvSpPr>
          <p:cNvPr id="334" name="Text 3"/>
          <p:cNvSpPr txBox="1"/>
          <p:nvPr/>
        </p:nvSpPr>
        <p:spPr>
          <a:xfrm>
            <a:off x="1097280" y="301896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Chat interface with context-aware follow-ups</a:t>
            </a:r>
          </a:p>
        </p:txBody>
      </p:sp>
      <p:pic>
        <p:nvPicPr>
          <p:cNvPr id="335" name="Image 1" descr="Image 1"/>
          <p:cNvPicPr>
            <a:picLocks noChangeAspect="1"/>
          </p:cNvPicPr>
          <p:nvPr/>
        </p:nvPicPr>
        <p:blipFill>
          <a:blip r:embed="rId3">
            <a:extLst/>
          </a:blip>
          <a:stretch>
            <a:fillRect/>
          </a:stretch>
        </p:blipFill>
        <p:spPr>
          <a:xfrm>
            <a:off x="731519" y="3429000"/>
            <a:ext cx="228602" cy="228600"/>
          </a:xfrm>
          <a:prstGeom prst="rect">
            <a:avLst/>
          </a:prstGeom>
          <a:ln w="12700">
            <a:miter lim="400000"/>
          </a:ln>
        </p:spPr>
      </p:pic>
      <p:sp>
        <p:nvSpPr>
          <p:cNvPr id="336" name="Text 4"/>
          <p:cNvSpPr txBox="1"/>
          <p:nvPr/>
        </p:nvSpPr>
        <p:spPr>
          <a:xfrm>
            <a:off x="1097280" y="3476165"/>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100">
                <a:solidFill>
                  <a:srgbClr val="3D4F63"/>
                </a:solidFill>
              </a:defRPr>
            </a:lvl1pPr>
          </a:lstStyle>
          <a:p>
            <a:pPr/>
            <a:r>
              <a:t>Available in Slack and Dashboard</a:t>
            </a:r>
          </a:p>
        </p:txBody>
      </p:sp>
      <p:sp>
        <p:nvSpPr>
          <p:cNvPr id="337" name="Shape 5"/>
          <p:cNvSpPr/>
          <p:nvPr/>
        </p:nvSpPr>
        <p:spPr>
          <a:xfrm>
            <a:off x="4754879" y="637855"/>
            <a:ext cx="4114802" cy="3867790"/>
          </a:xfrm>
          <a:prstGeom prst="rect">
            <a:avLst/>
          </a:prstGeom>
          <a:solidFill>
            <a:srgbClr val="FFFFFF"/>
          </a:solidFill>
          <a:ln w="12700">
            <a:miter lim="400000"/>
          </a:ln>
          <a:effectLst>
            <a:outerShdw sx="100000" sy="100000" kx="0" ky="0" algn="b" rotWithShape="0" blurRad="101600" dist="38100" dir="8100000">
              <a:srgbClr val="000000">
                <a:alpha val="10000"/>
              </a:srgbClr>
            </a:outerShdw>
          </a:effectLst>
        </p:spPr>
        <p:txBody>
          <a:bodyPr lIns="45718" tIns="45718" rIns="45718" bIns="45718"/>
          <a:lstStyle/>
          <a:p>
            <a:pPr/>
          </a:p>
        </p:txBody>
      </p:sp>
      <p:pic>
        <p:nvPicPr>
          <p:cNvPr id="338" name="pasted-movie.png" descr="pasted-movie.png"/>
          <p:cNvPicPr>
            <a:picLocks noChangeAspect="1"/>
          </p:cNvPicPr>
          <p:nvPr/>
        </p:nvPicPr>
        <p:blipFill>
          <a:blip r:embed="rId4">
            <a:extLst/>
          </a:blip>
          <a:stretch>
            <a:fillRect/>
          </a:stretch>
        </p:blipFill>
        <p:spPr>
          <a:xfrm>
            <a:off x="4867593" y="816354"/>
            <a:ext cx="3889373" cy="3510792"/>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340" name="Text 0"/>
          <p:cNvSpPr txBox="1"/>
          <p:nvPr/>
        </p:nvSpPr>
        <p:spPr>
          <a:xfrm>
            <a:off x="731519" y="43438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3AADAD"/>
                </a:solidFill>
              </a:defRPr>
            </a:lvl1pPr>
          </a:lstStyle>
          <a:p>
            <a:pPr/>
            <a:r>
              <a:t>JUSTPLAY ENGAGEMENT</a:t>
            </a:r>
          </a:p>
        </p:txBody>
      </p:sp>
      <p:sp>
        <p:nvSpPr>
          <p:cNvPr id="341" name="Text 1"/>
          <p:cNvSpPr txBox="1"/>
          <p:nvPr/>
        </p:nvSpPr>
        <p:spPr>
          <a:xfrm>
            <a:off x="731520" y="1582420"/>
            <a:ext cx="7680960" cy="1041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3600">
                <a:solidFill>
                  <a:srgbClr val="FFFFFF"/>
                </a:solidFill>
                <a:latin typeface="Georgia"/>
                <a:ea typeface="Georgia"/>
                <a:cs typeface="Georgia"/>
                <a:sym typeface="Georgia"/>
              </a:defRPr>
            </a:pPr>
            <a:r>
              <a:t>Your path to unified</a:t>
            </a:r>
          </a:p>
          <a:p>
            <a:pPr>
              <a:defRPr b="1" sz="3600">
                <a:solidFill>
                  <a:srgbClr val="FFFFFF"/>
                </a:solidFill>
                <a:latin typeface="Georgia"/>
                <a:ea typeface="Georgia"/>
                <a:cs typeface="Georgia"/>
                <a:sym typeface="Georgia"/>
              </a:defRPr>
            </a:pPr>
            <a:r>
              <a:t>marketing intelligence.</a:t>
            </a:r>
          </a:p>
        </p:txBody>
      </p:sp>
      <p:sp>
        <p:nvSpPr>
          <p:cNvPr id="342" name="Text 2"/>
          <p:cNvSpPr txBox="1"/>
          <p:nvPr/>
        </p:nvSpPr>
        <p:spPr>
          <a:xfrm>
            <a:off x="731520" y="2816388"/>
            <a:ext cx="7680960" cy="49370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40000"/>
              </a:lnSpc>
              <a:defRPr sz="1400">
                <a:solidFill>
                  <a:srgbClr val="8895A7"/>
                </a:solidFill>
              </a:defRPr>
            </a:pPr>
            <a:r>
              <a:t>A phased engagement built around JustPlay's</a:t>
            </a:r>
          </a:p>
          <a:p>
            <a:pPr>
              <a:lnSpc>
                <a:spcPct val="140000"/>
              </a:lnSpc>
              <a:defRPr sz="1400">
                <a:solidFill>
                  <a:srgbClr val="8895A7"/>
                </a:solidFill>
              </a:defRPr>
            </a:pPr>
            <a:r>
              <a:t>data landscape, team, and business goals.</a:t>
            </a:r>
          </a:p>
        </p:txBody>
      </p:sp>
      <p:sp>
        <p:nvSpPr>
          <p:cNvPr id="343" name="Shape 3"/>
          <p:cNvSpPr/>
          <p:nvPr/>
        </p:nvSpPr>
        <p:spPr>
          <a:xfrm>
            <a:off x="0" y="4892040"/>
            <a:ext cx="9144000" cy="251460"/>
          </a:xfrm>
          <a:prstGeom prst="rect">
            <a:avLst/>
          </a:prstGeom>
          <a:solidFill>
            <a:srgbClr val="2A8A8A"/>
          </a:solidFill>
          <a:ln w="12700">
            <a:miter lim="400000"/>
          </a:ln>
        </p:spPr>
        <p:txBody>
          <a:bodyPr lIns="45718" tIns="45718" rIns="45718" bIns="45718"/>
          <a:lstStyle/>
          <a:p>
            <a:pP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345" name="Text 0"/>
          <p:cNvSpPr txBox="1"/>
          <p:nvPr/>
        </p:nvSpPr>
        <p:spPr>
          <a:xfrm>
            <a:off x="731519" y="480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3AADAD"/>
                </a:solidFill>
              </a:defRPr>
            </a:lvl1pPr>
          </a:lstStyle>
          <a:p>
            <a:pPr/>
            <a:r>
              <a:t>PHASE 1</a:t>
            </a:r>
          </a:p>
        </p:txBody>
      </p:sp>
      <p:sp>
        <p:nvSpPr>
          <p:cNvPr id="346" name="Text 1"/>
          <p:cNvSpPr txBox="1"/>
          <p:nvPr/>
        </p:nvSpPr>
        <p:spPr>
          <a:xfrm>
            <a:off x="731519" y="819784"/>
            <a:ext cx="4114801"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FFFFFF"/>
                </a:solidFill>
                <a:latin typeface="Georgia"/>
                <a:ea typeface="Georgia"/>
                <a:cs typeface="Georgia"/>
                <a:sym typeface="Georgia"/>
              </a:defRPr>
            </a:pPr>
            <a:r>
              <a:t>Data Audit &amp;</a:t>
            </a:r>
          </a:p>
          <a:p>
            <a:pPr>
              <a:lnSpc>
                <a:spcPct val="115000"/>
              </a:lnSpc>
              <a:defRPr b="1" sz="2000">
                <a:solidFill>
                  <a:srgbClr val="FFFFFF"/>
                </a:solidFill>
                <a:latin typeface="Georgia"/>
                <a:ea typeface="Georgia"/>
                <a:cs typeface="Georgia"/>
                <a:sym typeface="Georgia"/>
              </a:defRPr>
            </a:pPr>
            <a:r>
              <a:t>SSOT Planning</a:t>
            </a:r>
          </a:p>
        </p:txBody>
      </p:sp>
      <p:pic>
        <p:nvPicPr>
          <p:cNvPr id="347" name="Image 0" descr="Image 0"/>
          <p:cNvPicPr>
            <a:picLocks noChangeAspect="1"/>
          </p:cNvPicPr>
          <p:nvPr/>
        </p:nvPicPr>
        <p:blipFill>
          <a:blip r:embed="rId2">
            <a:extLst/>
          </a:blip>
          <a:stretch>
            <a:fillRect/>
          </a:stretch>
        </p:blipFill>
        <p:spPr>
          <a:xfrm>
            <a:off x="731519" y="1691639"/>
            <a:ext cx="164593" cy="164593"/>
          </a:xfrm>
          <a:prstGeom prst="rect">
            <a:avLst/>
          </a:prstGeom>
          <a:ln w="12700">
            <a:miter lim="400000"/>
          </a:ln>
        </p:spPr>
      </p:pic>
      <p:sp>
        <p:nvSpPr>
          <p:cNvPr id="348" name="Text 2"/>
          <p:cNvSpPr txBox="1"/>
          <p:nvPr/>
        </p:nvSpPr>
        <p:spPr>
          <a:xfrm>
            <a:off x="1005839" y="1673351"/>
            <a:ext cx="3749042"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Automated data audit: gaps, discrepancies, duplications across all granularities</a:t>
            </a:r>
          </a:p>
        </p:txBody>
      </p:sp>
      <p:pic>
        <p:nvPicPr>
          <p:cNvPr id="349" name="Image 1" descr="Image 1"/>
          <p:cNvPicPr>
            <a:picLocks noChangeAspect="1"/>
          </p:cNvPicPr>
          <p:nvPr/>
        </p:nvPicPr>
        <p:blipFill>
          <a:blip r:embed="rId2">
            <a:extLst/>
          </a:blip>
          <a:stretch>
            <a:fillRect/>
          </a:stretch>
        </p:blipFill>
        <p:spPr>
          <a:xfrm>
            <a:off x="731519" y="2039111"/>
            <a:ext cx="164593" cy="164593"/>
          </a:xfrm>
          <a:prstGeom prst="rect">
            <a:avLst/>
          </a:prstGeom>
          <a:ln w="12700">
            <a:miter lim="400000"/>
          </a:ln>
        </p:spPr>
      </p:pic>
      <p:sp>
        <p:nvSpPr>
          <p:cNvPr id="350" name="Text 3"/>
          <p:cNvSpPr txBox="1"/>
          <p:nvPr/>
        </p:nvSpPr>
        <p:spPr>
          <a:xfrm>
            <a:off x="1005839" y="2020823"/>
            <a:ext cx="37490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App initialisation audit: ID consistency across all data sources</a:t>
            </a:r>
          </a:p>
        </p:txBody>
      </p:sp>
      <p:pic>
        <p:nvPicPr>
          <p:cNvPr id="351" name="Image 2" descr="Image 2"/>
          <p:cNvPicPr>
            <a:picLocks noChangeAspect="1"/>
          </p:cNvPicPr>
          <p:nvPr/>
        </p:nvPicPr>
        <p:blipFill>
          <a:blip r:embed="rId2">
            <a:extLst/>
          </a:blip>
          <a:stretch>
            <a:fillRect/>
          </a:stretch>
        </p:blipFill>
        <p:spPr>
          <a:xfrm>
            <a:off x="731519" y="2386583"/>
            <a:ext cx="164593" cy="164593"/>
          </a:xfrm>
          <a:prstGeom prst="rect">
            <a:avLst/>
          </a:prstGeom>
          <a:ln w="12700">
            <a:miter lim="400000"/>
          </a:ln>
        </p:spPr>
      </p:pic>
      <p:sp>
        <p:nvSpPr>
          <p:cNvPr id="352" name="Text 4"/>
          <p:cNvSpPr txBox="1"/>
          <p:nvPr/>
        </p:nvSpPr>
        <p:spPr>
          <a:xfrm>
            <a:off x="1005839" y="2368295"/>
            <a:ext cx="37490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Assessment of data quality, event taxonomy, and tracking consistency</a:t>
            </a:r>
          </a:p>
        </p:txBody>
      </p:sp>
      <p:pic>
        <p:nvPicPr>
          <p:cNvPr id="353" name="Image 3" descr="Image 3"/>
          <p:cNvPicPr>
            <a:picLocks noChangeAspect="1"/>
          </p:cNvPicPr>
          <p:nvPr/>
        </p:nvPicPr>
        <p:blipFill>
          <a:blip r:embed="rId2">
            <a:extLst/>
          </a:blip>
          <a:stretch>
            <a:fillRect/>
          </a:stretch>
        </p:blipFill>
        <p:spPr>
          <a:xfrm>
            <a:off x="731519" y="2734055"/>
            <a:ext cx="164593" cy="164593"/>
          </a:xfrm>
          <a:prstGeom prst="rect">
            <a:avLst/>
          </a:prstGeom>
          <a:ln w="12700">
            <a:miter lim="400000"/>
          </a:ln>
        </p:spPr>
      </p:pic>
      <p:sp>
        <p:nvSpPr>
          <p:cNvPr id="354" name="Text 5"/>
          <p:cNvSpPr txBox="1"/>
          <p:nvPr/>
        </p:nvSpPr>
        <p:spPr>
          <a:xfrm>
            <a:off x="1005839" y="2715767"/>
            <a:ext cx="37490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Mapping of existing attribution setup and gap identification</a:t>
            </a:r>
          </a:p>
        </p:txBody>
      </p:sp>
      <p:pic>
        <p:nvPicPr>
          <p:cNvPr id="355" name="Image 4" descr="Image 4"/>
          <p:cNvPicPr>
            <a:picLocks noChangeAspect="1"/>
          </p:cNvPicPr>
          <p:nvPr/>
        </p:nvPicPr>
        <p:blipFill>
          <a:blip r:embed="rId2">
            <a:extLst/>
          </a:blip>
          <a:stretch>
            <a:fillRect/>
          </a:stretch>
        </p:blipFill>
        <p:spPr>
          <a:xfrm>
            <a:off x="731519" y="3081527"/>
            <a:ext cx="164593" cy="164593"/>
          </a:xfrm>
          <a:prstGeom prst="rect">
            <a:avLst/>
          </a:prstGeom>
          <a:ln w="12700">
            <a:miter lim="400000"/>
          </a:ln>
        </p:spPr>
      </p:pic>
      <p:sp>
        <p:nvSpPr>
          <p:cNvPr id="356" name="Text 6"/>
          <p:cNvSpPr txBox="1"/>
          <p:nvPr/>
        </p:nvSpPr>
        <p:spPr>
          <a:xfrm>
            <a:off x="1005839" y="3063239"/>
            <a:ext cx="37490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SSOT architecture design: data model, table structure, refresh cadence</a:t>
            </a:r>
          </a:p>
        </p:txBody>
      </p:sp>
      <p:pic>
        <p:nvPicPr>
          <p:cNvPr id="357" name="Image 5" descr="Image 5"/>
          <p:cNvPicPr>
            <a:picLocks noChangeAspect="1"/>
          </p:cNvPicPr>
          <p:nvPr/>
        </p:nvPicPr>
        <p:blipFill>
          <a:blip r:embed="rId2">
            <a:extLst/>
          </a:blip>
          <a:stretch>
            <a:fillRect/>
          </a:stretch>
        </p:blipFill>
        <p:spPr>
          <a:xfrm>
            <a:off x="731519" y="3429000"/>
            <a:ext cx="164593" cy="164593"/>
          </a:xfrm>
          <a:prstGeom prst="rect">
            <a:avLst/>
          </a:prstGeom>
          <a:ln w="12700">
            <a:miter lim="400000"/>
          </a:ln>
        </p:spPr>
      </p:pic>
      <p:sp>
        <p:nvSpPr>
          <p:cNvPr id="358" name="Text 7"/>
          <p:cNvSpPr txBox="1"/>
          <p:nvPr/>
        </p:nvSpPr>
        <p:spPr>
          <a:xfrm>
            <a:off x="1005839" y="3410711"/>
            <a:ext cx="3749042" cy="3021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895A7"/>
                </a:solidFill>
              </a:defRPr>
            </a:lvl1pPr>
          </a:lstStyle>
          <a:p>
            <a:pPr/>
            <a:r>
              <a:t>Joint review and sign-off session with technical and marketing stakeholders</a:t>
            </a:r>
          </a:p>
        </p:txBody>
      </p:sp>
      <p:sp>
        <p:nvSpPr>
          <p:cNvPr id="359" name="Shape 8"/>
          <p:cNvSpPr/>
          <p:nvPr/>
        </p:nvSpPr>
        <p:spPr>
          <a:xfrm>
            <a:off x="5029200" y="1691639"/>
            <a:ext cx="3657600" cy="2651761"/>
          </a:xfrm>
          <a:prstGeom prst="rect">
            <a:avLst/>
          </a:prstGeom>
          <a:solidFill>
            <a:srgbClr val="1F2D40"/>
          </a:solidFill>
          <a:ln w="12700">
            <a:miter lim="400000"/>
          </a:ln>
        </p:spPr>
        <p:txBody>
          <a:bodyPr lIns="45718" tIns="45718" rIns="45718" bIns="45718"/>
          <a:lstStyle/>
          <a:p>
            <a:pPr/>
          </a:p>
        </p:txBody>
      </p:sp>
      <p:sp>
        <p:nvSpPr>
          <p:cNvPr id="360" name="Text 9"/>
          <p:cNvSpPr txBox="1"/>
          <p:nvPr/>
        </p:nvSpPr>
        <p:spPr>
          <a:xfrm>
            <a:off x="5212079" y="1882579"/>
            <a:ext cx="3291842"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3AADAD"/>
                </a:solidFill>
              </a:defRPr>
            </a:lvl1pPr>
          </a:lstStyle>
          <a:p>
            <a:pPr/>
            <a:r>
              <a:t>Deliverables</a:t>
            </a:r>
          </a:p>
        </p:txBody>
      </p:sp>
      <p:pic>
        <p:nvPicPr>
          <p:cNvPr id="361" name="Image 6" descr="Image 6"/>
          <p:cNvPicPr>
            <a:picLocks noChangeAspect="1"/>
          </p:cNvPicPr>
          <p:nvPr/>
        </p:nvPicPr>
        <p:blipFill>
          <a:blip r:embed="rId3">
            <a:extLst/>
          </a:blip>
          <a:stretch>
            <a:fillRect/>
          </a:stretch>
        </p:blipFill>
        <p:spPr>
          <a:xfrm>
            <a:off x="5212079" y="2286000"/>
            <a:ext cx="164593" cy="164593"/>
          </a:xfrm>
          <a:prstGeom prst="rect">
            <a:avLst/>
          </a:prstGeom>
          <a:ln w="12700">
            <a:miter lim="400000"/>
          </a:ln>
        </p:spPr>
      </p:pic>
      <p:sp>
        <p:nvSpPr>
          <p:cNvPr id="362" name="Text 10"/>
          <p:cNvSpPr txBox="1"/>
          <p:nvPr/>
        </p:nvSpPr>
        <p:spPr>
          <a:xfrm>
            <a:off x="5486400" y="2297233"/>
            <a:ext cx="3017521" cy="3432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Instructions for your data engineers to fix missing or incomplete data streams</a:t>
            </a:r>
          </a:p>
        </p:txBody>
      </p:sp>
      <p:pic>
        <p:nvPicPr>
          <p:cNvPr id="363" name="Image 7" descr="Image 7"/>
          <p:cNvPicPr>
            <a:picLocks noChangeAspect="1"/>
          </p:cNvPicPr>
          <p:nvPr/>
        </p:nvPicPr>
        <p:blipFill>
          <a:blip r:embed="rId3">
            <a:extLst/>
          </a:blip>
          <a:stretch>
            <a:fillRect/>
          </a:stretch>
        </p:blipFill>
        <p:spPr>
          <a:xfrm>
            <a:off x="5212079" y="2788920"/>
            <a:ext cx="164593" cy="164593"/>
          </a:xfrm>
          <a:prstGeom prst="rect">
            <a:avLst/>
          </a:prstGeom>
          <a:ln w="12700">
            <a:miter lim="400000"/>
          </a:ln>
        </p:spPr>
      </p:pic>
      <p:sp>
        <p:nvSpPr>
          <p:cNvPr id="364" name="Text 11"/>
          <p:cNvSpPr txBox="1"/>
          <p:nvPr/>
        </p:nvSpPr>
        <p:spPr>
          <a:xfrm>
            <a:off x="5486400" y="2903264"/>
            <a:ext cx="30175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Project definition and timeline for Phase 2</a:t>
            </a:r>
          </a:p>
        </p:txBody>
      </p:sp>
      <p:pic>
        <p:nvPicPr>
          <p:cNvPr id="365" name="Image 8" descr="Image 8"/>
          <p:cNvPicPr>
            <a:picLocks noChangeAspect="1"/>
          </p:cNvPicPr>
          <p:nvPr/>
        </p:nvPicPr>
        <p:blipFill>
          <a:blip r:embed="rId3">
            <a:extLst/>
          </a:blip>
          <a:stretch>
            <a:fillRect/>
          </a:stretch>
        </p:blipFill>
        <p:spPr>
          <a:xfrm>
            <a:off x="5212079" y="3291840"/>
            <a:ext cx="164593" cy="164593"/>
          </a:xfrm>
          <a:prstGeom prst="rect">
            <a:avLst/>
          </a:prstGeom>
          <a:ln w="12700">
            <a:miter lim="400000"/>
          </a:ln>
        </p:spPr>
      </p:pic>
      <p:sp>
        <p:nvSpPr>
          <p:cNvPr id="366" name="Text 12"/>
          <p:cNvSpPr txBox="1"/>
          <p:nvPr/>
        </p:nvSpPr>
        <p:spPr>
          <a:xfrm>
            <a:off x="5486400" y="3303074"/>
            <a:ext cx="3017521" cy="3432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Canonical user catalog schema to be implemented in Phase 2</a:t>
            </a:r>
          </a:p>
        </p:txBody>
      </p:sp>
      <p:sp>
        <p:nvSpPr>
          <p:cNvPr id="367" name="Text 13"/>
          <p:cNvSpPr txBox="1"/>
          <p:nvPr/>
        </p:nvSpPr>
        <p:spPr>
          <a:xfrm>
            <a:off x="731520" y="4777784"/>
            <a:ext cx="7680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895A7"/>
                </a:solidFill>
              </a:defRPr>
            </a:lvl1pPr>
          </a:lstStyle>
          <a:p>
            <a:pPr/>
            <a:r>
              <a:t>Phase 2 does not start until deliverables are reviewed and signed off.</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369" name="Text 0"/>
          <p:cNvSpPr txBox="1"/>
          <p:nvPr/>
        </p:nvSpPr>
        <p:spPr>
          <a:xfrm>
            <a:off x="731519" y="480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PHASE 2</a:t>
            </a:r>
          </a:p>
        </p:txBody>
      </p:sp>
      <p:sp>
        <p:nvSpPr>
          <p:cNvPr id="370" name="Text 1"/>
          <p:cNvSpPr txBox="1"/>
          <p:nvPr/>
        </p:nvSpPr>
        <p:spPr>
          <a:xfrm>
            <a:off x="731520" y="819784"/>
            <a:ext cx="7680960"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Data Foundation: Marketing,</a:t>
            </a:r>
          </a:p>
          <a:p>
            <a:pPr>
              <a:lnSpc>
                <a:spcPct val="115000"/>
              </a:lnSpc>
              <a:defRPr b="1" sz="2000">
                <a:solidFill>
                  <a:srgbClr val="1A2332"/>
                </a:solidFill>
                <a:latin typeface="Georgia"/>
                <a:ea typeface="Georgia"/>
                <a:cs typeface="Georgia"/>
                <a:sym typeface="Georgia"/>
              </a:defRPr>
            </a:pPr>
            <a:r>
              <a:t>Product Data &amp; User Catalog</a:t>
            </a:r>
          </a:p>
        </p:txBody>
      </p:sp>
      <p:sp>
        <p:nvSpPr>
          <p:cNvPr id="371" name="Shape 2"/>
          <p:cNvSpPr/>
          <p:nvPr/>
        </p:nvSpPr>
        <p:spPr>
          <a:xfrm>
            <a:off x="365759" y="1691639"/>
            <a:ext cx="2651762" cy="274320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372" name="Text 3"/>
          <p:cNvSpPr txBox="1"/>
          <p:nvPr/>
        </p:nvSpPr>
        <p:spPr>
          <a:xfrm>
            <a:off x="502919" y="1864667"/>
            <a:ext cx="237744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User-Level Attribution</a:t>
            </a:r>
          </a:p>
        </p:txBody>
      </p:sp>
      <p:pic>
        <p:nvPicPr>
          <p:cNvPr id="373" name="Image 0" descr="Image 0"/>
          <p:cNvPicPr>
            <a:picLocks noChangeAspect="1"/>
          </p:cNvPicPr>
          <p:nvPr/>
        </p:nvPicPr>
        <p:blipFill>
          <a:blip r:embed="rId2">
            <a:extLst/>
          </a:blip>
          <a:stretch>
            <a:fillRect/>
          </a:stretch>
        </p:blipFill>
        <p:spPr>
          <a:xfrm>
            <a:off x="502919" y="2240279"/>
            <a:ext cx="164593" cy="164593"/>
          </a:xfrm>
          <a:prstGeom prst="rect">
            <a:avLst/>
          </a:prstGeom>
          <a:ln w="12700">
            <a:miter lim="400000"/>
          </a:ln>
        </p:spPr>
      </p:pic>
      <p:sp>
        <p:nvSpPr>
          <p:cNvPr id="374" name="Text 4"/>
          <p:cNvSpPr txBox="1"/>
          <p:nvPr/>
        </p:nvSpPr>
        <p:spPr>
          <a:xfrm>
            <a:off x="749807" y="2212848"/>
            <a:ext cx="2103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SAN networks: full iOS visibility</a:t>
            </a:r>
          </a:p>
        </p:txBody>
      </p:sp>
      <p:pic>
        <p:nvPicPr>
          <p:cNvPr id="375" name="Image 1" descr="Image 1"/>
          <p:cNvPicPr>
            <a:picLocks noChangeAspect="1"/>
          </p:cNvPicPr>
          <p:nvPr/>
        </p:nvPicPr>
        <p:blipFill>
          <a:blip r:embed="rId2">
            <a:extLst/>
          </a:blip>
          <a:stretch>
            <a:fillRect/>
          </a:stretch>
        </p:blipFill>
        <p:spPr>
          <a:xfrm>
            <a:off x="502919" y="2624327"/>
            <a:ext cx="164593" cy="164593"/>
          </a:xfrm>
          <a:prstGeom prst="rect">
            <a:avLst/>
          </a:prstGeom>
          <a:ln w="12700">
            <a:miter lim="400000"/>
          </a:ln>
        </p:spPr>
      </p:pic>
      <p:sp>
        <p:nvSpPr>
          <p:cNvPr id="376" name="Text 5"/>
          <p:cNvSpPr txBox="1"/>
          <p:nvPr/>
        </p:nvSpPr>
        <p:spPr>
          <a:xfrm>
            <a:off x="749807" y="2596895"/>
            <a:ext cx="2103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Google: iOS attribution</a:t>
            </a:r>
          </a:p>
        </p:txBody>
      </p:sp>
      <p:pic>
        <p:nvPicPr>
          <p:cNvPr id="377" name="Image 2" descr="Image 2"/>
          <p:cNvPicPr>
            <a:picLocks noChangeAspect="1"/>
          </p:cNvPicPr>
          <p:nvPr/>
        </p:nvPicPr>
        <p:blipFill>
          <a:blip r:embed="rId2">
            <a:extLst/>
          </a:blip>
          <a:stretch>
            <a:fillRect/>
          </a:stretch>
        </p:blipFill>
        <p:spPr>
          <a:xfrm>
            <a:off x="502919" y="3008376"/>
            <a:ext cx="164593" cy="164593"/>
          </a:xfrm>
          <a:prstGeom prst="rect">
            <a:avLst/>
          </a:prstGeom>
          <a:ln w="12700">
            <a:miter lim="400000"/>
          </a:ln>
        </p:spPr>
      </p:pic>
      <p:sp>
        <p:nvSpPr>
          <p:cNvPr id="378" name="Text 6"/>
          <p:cNvSpPr txBox="1"/>
          <p:nvPr/>
        </p:nvSpPr>
        <p:spPr>
          <a:xfrm>
            <a:off x="749807" y="2980944"/>
            <a:ext cx="2103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Meta iOS: AEM-based attribution</a:t>
            </a:r>
          </a:p>
        </p:txBody>
      </p:sp>
      <p:pic>
        <p:nvPicPr>
          <p:cNvPr id="379" name="Image 3" descr="Image 3"/>
          <p:cNvPicPr>
            <a:picLocks noChangeAspect="1"/>
          </p:cNvPicPr>
          <p:nvPr/>
        </p:nvPicPr>
        <p:blipFill>
          <a:blip r:embed="rId2">
            <a:extLst/>
          </a:blip>
          <a:stretch>
            <a:fillRect/>
          </a:stretch>
        </p:blipFill>
        <p:spPr>
          <a:xfrm>
            <a:off x="502919" y="3392423"/>
            <a:ext cx="164593" cy="164593"/>
          </a:xfrm>
          <a:prstGeom prst="rect">
            <a:avLst/>
          </a:prstGeom>
          <a:ln w="12700">
            <a:miter lim="400000"/>
          </a:ln>
        </p:spPr>
      </p:pic>
      <p:sp>
        <p:nvSpPr>
          <p:cNvPr id="380" name="Text 7"/>
          <p:cNvSpPr txBox="1"/>
          <p:nvPr/>
        </p:nvSpPr>
        <p:spPr>
          <a:xfrm>
            <a:off x="749807" y="3364991"/>
            <a:ext cx="2103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Meta: Android full visibility</a:t>
            </a:r>
          </a:p>
        </p:txBody>
      </p:sp>
      <p:pic>
        <p:nvPicPr>
          <p:cNvPr id="381" name="Image 4" descr="Image 4"/>
          <p:cNvPicPr>
            <a:picLocks noChangeAspect="1"/>
          </p:cNvPicPr>
          <p:nvPr/>
        </p:nvPicPr>
        <p:blipFill>
          <a:blip r:embed="rId2">
            <a:extLst/>
          </a:blip>
          <a:stretch>
            <a:fillRect/>
          </a:stretch>
        </p:blipFill>
        <p:spPr>
          <a:xfrm>
            <a:off x="502919" y="3776471"/>
            <a:ext cx="164593" cy="164593"/>
          </a:xfrm>
          <a:prstGeom prst="rect">
            <a:avLst/>
          </a:prstGeom>
          <a:ln w="12700">
            <a:miter lim="400000"/>
          </a:ln>
        </p:spPr>
      </p:pic>
      <p:sp>
        <p:nvSpPr>
          <p:cNvPr id="382" name="Text 8"/>
          <p:cNvSpPr txBox="1"/>
          <p:nvPr/>
        </p:nvSpPr>
        <p:spPr>
          <a:xfrm>
            <a:off x="749807" y="3749040"/>
            <a:ext cx="210312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Revenue + spend at user level</a:t>
            </a:r>
          </a:p>
        </p:txBody>
      </p:sp>
      <p:sp>
        <p:nvSpPr>
          <p:cNvPr id="383" name="Shape 9"/>
          <p:cNvSpPr/>
          <p:nvPr/>
        </p:nvSpPr>
        <p:spPr>
          <a:xfrm>
            <a:off x="3291840" y="1691639"/>
            <a:ext cx="2651761" cy="274320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384" name="Text 10"/>
          <p:cNvSpPr txBox="1"/>
          <p:nvPr/>
        </p:nvSpPr>
        <p:spPr>
          <a:xfrm>
            <a:off x="3429000" y="1864667"/>
            <a:ext cx="237744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Product Data</a:t>
            </a:r>
          </a:p>
        </p:txBody>
      </p:sp>
      <p:pic>
        <p:nvPicPr>
          <p:cNvPr id="385" name="Image 5" descr="Image 5"/>
          <p:cNvPicPr>
            <a:picLocks noChangeAspect="1"/>
          </p:cNvPicPr>
          <p:nvPr/>
        </p:nvPicPr>
        <p:blipFill>
          <a:blip r:embed="rId2">
            <a:extLst/>
          </a:blip>
          <a:stretch>
            <a:fillRect/>
          </a:stretch>
        </p:blipFill>
        <p:spPr>
          <a:xfrm>
            <a:off x="3429000" y="2240279"/>
            <a:ext cx="164593" cy="164593"/>
          </a:xfrm>
          <a:prstGeom prst="rect">
            <a:avLst/>
          </a:prstGeom>
          <a:ln w="12700">
            <a:miter lim="400000"/>
          </a:ln>
        </p:spPr>
      </p:pic>
      <p:sp>
        <p:nvSpPr>
          <p:cNvPr id="386" name="Text 11"/>
          <p:cNvSpPr txBox="1"/>
          <p:nvPr/>
        </p:nvSpPr>
        <p:spPr>
          <a:xfrm>
            <a:off x="3675888" y="2212848"/>
            <a:ext cx="21031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Normalisation at user level</a:t>
            </a:r>
          </a:p>
        </p:txBody>
      </p:sp>
      <p:pic>
        <p:nvPicPr>
          <p:cNvPr id="387" name="Image 6" descr="Image 6"/>
          <p:cNvPicPr>
            <a:picLocks noChangeAspect="1"/>
          </p:cNvPicPr>
          <p:nvPr/>
        </p:nvPicPr>
        <p:blipFill>
          <a:blip r:embed="rId2">
            <a:extLst/>
          </a:blip>
          <a:stretch>
            <a:fillRect/>
          </a:stretch>
        </p:blipFill>
        <p:spPr>
          <a:xfrm>
            <a:off x="3429000" y="2624327"/>
            <a:ext cx="164593" cy="164593"/>
          </a:xfrm>
          <a:prstGeom prst="rect">
            <a:avLst/>
          </a:prstGeom>
          <a:ln w="12700">
            <a:miter lim="400000"/>
          </a:ln>
        </p:spPr>
      </p:pic>
      <p:sp>
        <p:nvSpPr>
          <p:cNvPr id="388" name="Text 12"/>
          <p:cNvSpPr txBox="1"/>
          <p:nvPr/>
        </p:nvSpPr>
        <p:spPr>
          <a:xfrm>
            <a:off x="3675888" y="2596895"/>
            <a:ext cx="21031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Agreed event taxonomy from Phase 1</a:t>
            </a:r>
          </a:p>
        </p:txBody>
      </p:sp>
      <p:pic>
        <p:nvPicPr>
          <p:cNvPr id="389" name="Image 7" descr="Image 7"/>
          <p:cNvPicPr>
            <a:picLocks noChangeAspect="1"/>
          </p:cNvPicPr>
          <p:nvPr/>
        </p:nvPicPr>
        <p:blipFill>
          <a:blip r:embed="rId2">
            <a:extLst/>
          </a:blip>
          <a:stretch>
            <a:fillRect/>
          </a:stretch>
        </p:blipFill>
        <p:spPr>
          <a:xfrm>
            <a:off x="3429000" y="3008376"/>
            <a:ext cx="164593" cy="164593"/>
          </a:xfrm>
          <a:prstGeom prst="rect">
            <a:avLst/>
          </a:prstGeom>
          <a:ln w="12700">
            <a:miter lim="400000"/>
          </a:ln>
        </p:spPr>
      </p:pic>
      <p:sp>
        <p:nvSpPr>
          <p:cNvPr id="390" name="Text 13"/>
          <p:cNvSpPr txBox="1"/>
          <p:nvPr/>
        </p:nvSpPr>
        <p:spPr>
          <a:xfrm>
            <a:off x="3675888" y="2980944"/>
            <a:ext cx="21031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Transformation logic documented</a:t>
            </a:r>
          </a:p>
        </p:txBody>
      </p:sp>
      <p:sp>
        <p:nvSpPr>
          <p:cNvPr id="391" name="Shape 14"/>
          <p:cNvSpPr/>
          <p:nvPr/>
        </p:nvSpPr>
        <p:spPr>
          <a:xfrm>
            <a:off x="6217920" y="1691639"/>
            <a:ext cx="2651761" cy="2743201"/>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392" name="Text 15"/>
          <p:cNvSpPr txBox="1"/>
          <p:nvPr/>
        </p:nvSpPr>
        <p:spPr>
          <a:xfrm>
            <a:off x="6355079" y="1864667"/>
            <a:ext cx="237744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A2332"/>
                </a:solidFill>
              </a:defRPr>
            </a:lvl1pPr>
          </a:lstStyle>
          <a:p>
            <a:pPr/>
            <a:r>
              <a:t>User Catalog &amp; QA</a:t>
            </a:r>
          </a:p>
        </p:txBody>
      </p:sp>
      <p:pic>
        <p:nvPicPr>
          <p:cNvPr id="393" name="Image 8" descr="Image 8"/>
          <p:cNvPicPr>
            <a:picLocks noChangeAspect="1"/>
          </p:cNvPicPr>
          <p:nvPr/>
        </p:nvPicPr>
        <p:blipFill>
          <a:blip r:embed="rId2">
            <a:extLst/>
          </a:blip>
          <a:stretch>
            <a:fillRect/>
          </a:stretch>
        </p:blipFill>
        <p:spPr>
          <a:xfrm>
            <a:off x="6355079" y="2240279"/>
            <a:ext cx="164593" cy="164593"/>
          </a:xfrm>
          <a:prstGeom prst="rect">
            <a:avLst/>
          </a:prstGeom>
          <a:ln w="12700">
            <a:miter lim="400000"/>
          </a:ln>
        </p:spPr>
      </p:pic>
      <p:sp>
        <p:nvSpPr>
          <p:cNvPr id="394" name="Text 16"/>
          <p:cNvSpPr txBox="1"/>
          <p:nvPr/>
        </p:nvSpPr>
        <p:spPr>
          <a:xfrm>
            <a:off x="6601968" y="2212848"/>
            <a:ext cx="2103121" cy="2541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Identity resolution: device, user, MMP IDs unified</a:t>
            </a:r>
          </a:p>
        </p:txBody>
      </p:sp>
      <p:pic>
        <p:nvPicPr>
          <p:cNvPr id="395" name="Image 9" descr="Image 9"/>
          <p:cNvPicPr>
            <a:picLocks noChangeAspect="1"/>
          </p:cNvPicPr>
          <p:nvPr/>
        </p:nvPicPr>
        <p:blipFill>
          <a:blip r:embed="rId2">
            <a:extLst/>
          </a:blip>
          <a:stretch>
            <a:fillRect/>
          </a:stretch>
        </p:blipFill>
        <p:spPr>
          <a:xfrm>
            <a:off x="6355079" y="2624327"/>
            <a:ext cx="164593" cy="164593"/>
          </a:xfrm>
          <a:prstGeom prst="rect">
            <a:avLst/>
          </a:prstGeom>
          <a:ln w="12700">
            <a:miter lim="400000"/>
          </a:ln>
        </p:spPr>
      </p:pic>
      <p:sp>
        <p:nvSpPr>
          <p:cNvPr id="396" name="Text 17"/>
          <p:cNvSpPr txBox="1"/>
          <p:nvPr/>
        </p:nvSpPr>
        <p:spPr>
          <a:xfrm>
            <a:off x="6601968" y="2596895"/>
            <a:ext cx="2103121" cy="2541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Automated validation: completeness, freshness, join integrity</a:t>
            </a:r>
          </a:p>
        </p:txBody>
      </p:sp>
      <p:pic>
        <p:nvPicPr>
          <p:cNvPr id="397" name="Image 10" descr="Image 10"/>
          <p:cNvPicPr>
            <a:picLocks noChangeAspect="1"/>
          </p:cNvPicPr>
          <p:nvPr/>
        </p:nvPicPr>
        <p:blipFill>
          <a:blip r:embed="rId2">
            <a:extLst/>
          </a:blip>
          <a:stretch>
            <a:fillRect/>
          </a:stretch>
        </p:blipFill>
        <p:spPr>
          <a:xfrm>
            <a:off x="6355079" y="3008376"/>
            <a:ext cx="164593" cy="164593"/>
          </a:xfrm>
          <a:prstGeom prst="rect">
            <a:avLst/>
          </a:prstGeom>
          <a:ln w="12700">
            <a:miter lim="400000"/>
          </a:ln>
        </p:spPr>
      </p:pic>
      <p:sp>
        <p:nvSpPr>
          <p:cNvPr id="398" name="Text 18"/>
          <p:cNvSpPr txBox="1"/>
          <p:nvPr/>
        </p:nvSpPr>
        <p:spPr>
          <a:xfrm>
            <a:off x="6601968" y="2980944"/>
            <a:ext cx="21031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900">
                <a:solidFill>
                  <a:srgbClr val="3D4F63"/>
                </a:solidFill>
              </a:defRPr>
            </a:lvl1pPr>
          </a:lstStyle>
          <a:p>
            <a:pPr/>
            <a:r>
              <a:t>Full documentation of all tables and fields</a:t>
            </a:r>
          </a:p>
        </p:txBody>
      </p:sp>
      <p:sp>
        <p:nvSpPr>
          <p:cNvPr id="399" name="Text 19"/>
          <p:cNvSpPr txBox="1"/>
          <p:nvPr/>
        </p:nvSpPr>
        <p:spPr>
          <a:xfrm>
            <a:off x="731520" y="4686344"/>
            <a:ext cx="7680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000">
                <a:solidFill>
                  <a:srgbClr val="2A8A8A"/>
                </a:solidFill>
              </a:defRPr>
            </a:lvl1pPr>
          </a:lstStyle>
          <a:p>
            <a:pPr/>
            <a:r>
              <a:t>Dependency: JustPlay's data team delivers ingestion pipelines for all agreed sources before Phase 2 starts.</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401" name="Text 0"/>
          <p:cNvSpPr txBox="1"/>
          <p:nvPr/>
        </p:nvSpPr>
        <p:spPr>
          <a:xfrm>
            <a:off x="731519" y="480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3AADAD"/>
                </a:solidFill>
              </a:defRPr>
            </a:lvl1pPr>
          </a:lstStyle>
          <a:p>
            <a:pPr/>
            <a:r>
              <a:t>PHASE 3</a:t>
            </a:r>
          </a:p>
        </p:txBody>
      </p:sp>
      <p:sp>
        <p:nvSpPr>
          <p:cNvPr id="402" name="Text 1"/>
          <p:cNvSpPr txBox="1"/>
          <p:nvPr/>
        </p:nvSpPr>
        <p:spPr>
          <a:xfrm>
            <a:off x="731520" y="819784"/>
            <a:ext cx="7680960"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FFFFFF"/>
                </a:solidFill>
                <a:latin typeface="Georgia"/>
                <a:ea typeface="Georgia"/>
                <a:cs typeface="Georgia"/>
                <a:sym typeface="Georgia"/>
              </a:defRPr>
            </a:pPr>
            <a:r>
              <a:t>Activation: Production,</a:t>
            </a:r>
          </a:p>
          <a:p>
            <a:pPr>
              <a:lnSpc>
                <a:spcPct val="115000"/>
              </a:lnSpc>
              <a:defRPr b="1" sz="2000">
                <a:solidFill>
                  <a:srgbClr val="FFFFFF"/>
                </a:solidFill>
                <a:latin typeface="Georgia"/>
                <a:ea typeface="Georgia"/>
                <a:cs typeface="Georgia"/>
                <a:sym typeface="Georgia"/>
              </a:defRPr>
            </a:pPr>
            <a:r>
              <a:t>Backfill &amp; Migration Support</a:t>
            </a:r>
          </a:p>
        </p:txBody>
      </p:sp>
      <p:sp>
        <p:nvSpPr>
          <p:cNvPr id="403" name="Text 2"/>
          <p:cNvSpPr txBox="1"/>
          <p:nvPr/>
        </p:nvSpPr>
        <p:spPr>
          <a:xfrm>
            <a:off x="731520" y="1738806"/>
            <a:ext cx="768096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50000"/>
              </a:lnSpc>
              <a:defRPr sz="1100">
                <a:solidFill>
                  <a:srgbClr val="8895A7"/>
                </a:solidFill>
              </a:defRPr>
            </a:lvl1pPr>
          </a:lstStyle>
          <a:p>
            <a:pPr/>
            <a:r>
              <a:t>Move the SSOT from build to production. Your team migrates existing dashboards and reports. We support the transition.</a:t>
            </a:r>
          </a:p>
        </p:txBody>
      </p:sp>
      <p:pic>
        <p:nvPicPr>
          <p:cNvPr id="404" name="Image 0" descr="Image 0"/>
          <p:cNvPicPr>
            <a:picLocks noChangeAspect="1"/>
          </p:cNvPicPr>
          <p:nvPr/>
        </p:nvPicPr>
        <p:blipFill>
          <a:blip r:embed="rId2">
            <a:extLst/>
          </a:blip>
          <a:stretch>
            <a:fillRect/>
          </a:stretch>
        </p:blipFill>
        <p:spPr>
          <a:xfrm>
            <a:off x="457200" y="2331720"/>
            <a:ext cx="256032" cy="256033"/>
          </a:xfrm>
          <a:prstGeom prst="rect">
            <a:avLst/>
          </a:prstGeom>
          <a:ln w="12700">
            <a:miter lim="400000"/>
          </a:ln>
        </p:spPr>
      </p:pic>
      <p:sp>
        <p:nvSpPr>
          <p:cNvPr id="405" name="Text 3"/>
          <p:cNvSpPr txBox="1"/>
          <p:nvPr/>
        </p:nvSpPr>
        <p:spPr>
          <a:xfrm>
            <a:off x="822960" y="2356026"/>
            <a:ext cx="14630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defRPr>
            </a:lvl1pPr>
          </a:lstStyle>
          <a:p>
            <a:pPr/>
            <a:r>
              <a:t>Incremental refresh</a:t>
            </a:r>
          </a:p>
        </p:txBody>
      </p:sp>
      <p:sp>
        <p:nvSpPr>
          <p:cNvPr id="406" name="Text 4"/>
          <p:cNvSpPr txBox="1"/>
          <p:nvPr/>
        </p:nvSpPr>
        <p:spPr>
          <a:xfrm>
            <a:off x="822960" y="2628944"/>
            <a:ext cx="34747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8895A7"/>
                </a:solidFill>
              </a:defRPr>
            </a:lvl1pPr>
          </a:lstStyle>
          <a:p>
            <a:pPr/>
            <a:r>
              <a:t>All master tables running on production cadence</a:t>
            </a:r>
          </a:p>
        </p:txBody>
      </p:sp>
      <p:pic>
        <p:nvPicPr>
          <p:cNvPr id="407" name="Image 1" descr="Image 1"/>
          <p:cNvPicPr>
            <a:picLocks noChangeAspect="1"/>
          </p:cNvPicPr>
          <p:nvPr/>
        </p:nvPicPr>
        <p:blipFill>
          <a:blip r:embed="rId3">
            <a:extLst/>
          </a:blip>
          <a:stretch>
            <a:fillRect/>
          </a:stretch>
        </p:blipFill>
        <p:spPr>
          <a:xfrm>
            <a:off x="4800600" y="2331720"/>
            <a:ext cx="256032" cy="256033"/>
          </a:xfrm>
          <a:prstGeom prst="rect">
            <a:avLst/>
          </a:prstGeom>
          <a:ln w="12700">
            <a:miter lim="400000"/>
          </a:ln>
        </p:spPr>
      </p:pic>
      <p:sp>
        <p:nvSpPr>
          <p:cNvPr id="408" name="Text 5"/>
          <p:cNvSpPr txBox="1"/>
          <p:nvPr/>
        </p:nvSpPr>
        <p:spPr>
          <a:xfrm>
            <a:off x="5166359" y="2356026"/>
            <a:ext cx="14630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defRPr>
            </a:lvl1pPr>
          </a:lstStyle>
          <a:p>
            <a:pPr/>
            <a:r>
              <a:t>Historical backfill</a:t>
            </a:r>
          </a:p>
        </p:txBody>
      </p:sp>
      <p:sp>
        <p:nvSpPr>
          <p:cNvPr id="409" name="Text 6"/>
          <p:cNvSpPr txBox="1"/>
          <p:nvPr/>
        </p:nvSpPr>
        <p:spPr>
          <a:xfrm>
            <a:off x="5166359" y="2628944"/>
            <a:ext cx="34747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8895A7"/>
                </a:solidFill>
              </a:defRPr>
            </a:lvl1pPr>
          </a:lstStyle>
          <a:p>
            <a:pPr/>
            <a:r>
              <a:t>Full backfill for the agreed lookback period</a:t>
            </a:r>
          </a:p>
        </p:txBody>
      </p:sp>
      <p:pic>
        <p:nvPicPr>
          <p:cNvPr id="410" name="Image 2" descr="Image 2"/>
          <p:cNvPicPr>
            <a:picLocks noChangeAspect="1"/>
          </p:cNvPicPr>
          <p:nvPr/>
        </p:nvPicPr>
        <p:blipFill>
          <a:blip r:embed="rId4">
            <a:extLst/>
          </a:blip>
          <a:stretch>
            <a:fillRect/>
          </a:stretch>
        </p:blipFill>
        <p:spPr>
          <a:xfrm>
            <a:off x="457200" y="3108960"/>
            <a:ext cx="256032" cy="256033"/>
          </a:xfrm>
          <a:prstGeom prst="rect">
            <a:avLst/>
          </a:prstGeom>
          <a:ln w="12700">
            <a:miter lim="400000"/>
          </a:ln>
        </p:spPr>
      </p:pic>
      <p:sp>
        <p:nvSpPr>
          <p:cNvPr id="411" name="Text 7"/>
          <p:cNvSpPr txBox="1"/>
          <p:nvPr/>
        </p:nvSpPr>
        <p:spPr>
          <a:xfrm>
            <a:off x="822960" y="3133266"/>
            <a:ext cx="14630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defRPr>
            </a:lvl1pPr>
          </a:lstStyle>
          <a:p>
            <a:pPr/>
            <a:r>
              <a:t>Data quality monitoring</a:t>
            </a:r>
          </a:p>
        </p:txBody>
      </p:sp>
      <p:sp>
        <p:nvSpPr>
          <p:cNvPr id="412" name="Text 8"/>
          <p:cNvSpPr txBox="1"/>
          <p:nvPr/>
        </p:nvSpPr>
        <p:spPr>
          <a:xfrm>
            <a:off x="822960" y="3406184"/>
            <a:ext cx="34747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8895A7"/>
                </a:solidFill>
              </a:defRPr>
            </a:lvl1pPr>
          </a:lstStyle>
          <a:p>
            <a:pPr/>
            <a:r>
              <a:t>Alerting on pipeline failures, gaps, and anomalies</a:t>
            </a:r>
          </a:p>
        </p:txBody>
      </p:sp>
      <p:pic>
        <p:nvPicPr>
          <p:cNvPr id="413" name="Image 3" descr="Image 3"/>
          <p:cNvPicPr>
            <a:picLocks noChangeAspect="1"/>
          </p:cNvPicPr>
          <p:nvPr/>
        </p:nvPicPr>
        <p:blipFill>
          <a:blip r:embed="rId5">
            <a:extLst/>
          </a:blip>
          <a:stretch>
            <a:fillRect/>
          </a:stretch>
        </p:blipFill>
        <p:spPr>
          <a:xfrm>
            <a:off x="4800600" y="3108960"/>
            <a:ext cx="256032" cy="256033"/>
          </a:xfrm>
          <a:prstGeom prst="rect">
            <a:avLst/>
          </a:prstGeom>
          <a:ln w="12700">
            <a:miter lim="400000"/>
          </a:ln>
        </p:spPr>
      </p:pic>
      <p:sp>
        <p:nvSpPr>
          <p:cNvPr id="414" name="Text 9"/>
          <p:cNvSpPr txBox="1"/>
          <p:nvPr/>
        </p:nvSpPr>
        <p:spPr>
          <a:xfrm>
            <a:off x="5166359" y="3133266"/>
            <a:ext cx="14630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defRPr>
            </a:lvl1pPr>
          </a:lstStyle>
          <a:p>
            <a:pPr/>
            <a:r>
              <a:t>Migration support</a:t>
            </a:r>
          </a:p>
        </p:txBody>
      </p:sp>
      <p:sp>
        <p:nvSpPr>
          <p:cNvPr id="415" name="Text 10"/>
          <p:cNvSpPr txBox="1"/>
          <p:nvPr/>
        </p:nvSpPr>
        <p:spPr>
          <a:xfrm>
            <a:off x="5166359" y="3406184"/>
            <a:ext cx="34747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8895A7"/>
                </a:solidFill>
              </a:defRPr>
            </a:lvl1pPr>
          </a:lstStyle>
          <a:p>
            <a:pPr/>
            <a:r>
              <a:t>Technical support while your team migrates dashboards</a:t>
            </a:r>
          </a:p>
        </p:txBody>
      </p:sp>
      <p:pic>
        <p:nvPicPr>
          <p:cNvPr id="416" name="Image 4" descr="Image 4"/>
          <p:cNvPicPr>
            <a:picLocks noChangeAspect="1"/>
          </p:cNvPicPr>
          <p:nvPr/>
        </p:nvPicPr>
        <p:blipFill>
          <a:blip r:embed="rId6">
            <a:extLst/>
          </a:blip>
          <a:stretch>
            <a:fillRect/>
          </a:stretch>
        </p:blipFill>
        <p:spPr>
          <a:xfrm>
            <a:off x="457200" y="3886200"/>
            <a:ext cx="256032" cy="256032"/>
          </a:xfrm>
          <a:prstGeom prst="rect">
            <a:avLst/>
          </a:prstGeom>
          <a:ln w="12700">
            <a:miter lim="400000"/>
          </a:ln>
        </p:spPr>
      </p:pic>
      <p:sp>
        <p:nvSpPr>
          <p:cNvPr id="417" name="Text 11"/>
          <p:cNvSpPr txBox="1"/>
          <p:nvPr/>
        </p:nvSpPr>
        <p:spPr>
          <a:xfrm>
            <a:off x="822960" y="3910505"/>
            <a:ext cx="14630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defRPr>
            </a:lvl1pPr>
          </a:lstStyle>
          <a:p>
            <a:pPr/>
            <a:r>
              <a:t>Handover + runbook</a:t>
            </a:r>
          </a:p>
        </p:txBody>
      </p:sp>
      <p:sp>
        <p:nvSpPr>
          <p:cNvPr id="418" name="Text 12"/>
          <p:cNvSpPr txBox="1"/>
          <p:nvPr/>
        </p:nvSpPr>
        <p:spPr>
          <a:xfrm>
            <a:off x="822960" y="4183424"/>
            <a:ext cx="34747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8895A7"/>
                </a:solidFill>
              </a:defRPr>
            </a:lvl1pPr>
          </a:lstStyle>
          <a:p>
            <a:pPr/>
            <a:r>
              <a:t>Documentation for ongoing operations</a:t>
            </a:r>
          </a:p>
        </p:txBody>
      </p:sp>
      <p:pic>
        <p:nvPicPr>
          <p:cNvPr id="419" name="Image 5" descr="Image 5"/>
          <p:cNvPicPr>
            <a:picLocks noChangeAspect="1"/>
          </p:cNvPicPr>
          <p:nvPr/>
        </p:nvPicPr>
        <p:blipFill>
          <a:blip r:embed="rId7">
            <a:extLst/>
          </a:blip>
          <a:stretch>
            <a:fillRect/>
          </a:stretch>
        </p:blipFill>
        <p:spPr>
          <a:xfrm>
            <a:off x="4800600" y="3886200"/>
            <a:ext cx="256032" cy="256032"/>
          </a:xfrm>
          <a:prstGeom prst="rect">
            <a:avLst/>
          </a:prstGeom>
          <a:ln w="12700">
            <a:miter lim="400000"/>
          </a:ln>
        </p:spPr>
      </p:pic>
      <p:sp>
        <p:nvSpPr>
          <p:cNvPr id="420" name="Text 13"/>
          <p:cNvSpPr txBox="1"/>
          <p:nvPr/>
        </p:nvSpPr>
        <p:spPr>
          <a:xfrm>
            <a:off x="5166359" y="3910505"/>
            <a:ext cx="14630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100">
                <a:solidFill>
                  <a:srgbClr val="FFFFFF"/>
                </a:solidFill>
              </a:defRPr>
            </a:lvl1pPr>
          </a:lstStyle>
          <a:p>
            <a:pPr/>
            <a:r>
              <a:t>Two-week hypercare</a:t>
            </a:r>
          </a:p>
        </p:txBody>
      </p:sp>
      <p:sp>
        <p:nvSpPr>
          <p:cNvPr id="421" name="Text 14"/>
          <p:cNvSpPr txBox="1"/>
          <p:nvPr/>
        </p:nvSpPr>
        <p:spPr>
          <a:xfrm>
            <a:off x="5166359" y="4183424"/>
            <a:ext cx="34747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8895A7"/>
                </a:solidFill>
              </a:defRPr>
            </a:lvl1pPr>
          </a:lstStyle>
          <a:p>
            <a:pPr/>
            <a:r>
              <a:t>Post-migration monitoring and issue resolution</a:t>
            </a:r>
          </a:p>
        </p:txBody>
      </p:sp>
      <p:sp>
        <p:nvSpPr>
          <p:cNvPr id="422" name="Text 15"/>
          <p:cNvSpPr txBox="1"/>
          <p:nvPr/>
        </p:nvSpPr>
        <p:spPr>
          <a:xfrm>
            <a:off x="731520" y="4777784"/>
            <a:ext cx="7680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895A7"/>
                </a:solidFill>
              </a:defRPr>
            </a:lvl1pPr>
          </a:lstStyle>
          <a:p>
            <a:pPr/>
            <a:r>
              <a:t>JustPlay's team must have capacity allocated for dashboard migration in parallel.</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424" name="Text 0"/>
          <p:cNvSpPr txBox="1"/>
          <p:nvPr/>
        </p:nvSpPr>
        <p:spPr>
          <a:xfrm>
            <a:off x="731519" y="480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PHASE 4</a:t>
            </a:r>
          </a:p>
        </p:txBody>
      </p:sp>
      <p:sp>
        <p:nvSpPr>
          <p:cNvPr id="425" name="Text 1"/>
          <p:cNvSpPr txBox="1"/>
          <p:nvPr/>
        </p:nvSpPr>
        <p:spPr>
          <a:xfrm>
            <a:off x="731520" y="819784"/>
            <a:ext cx="7680960"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AI-Ready Data: Semantic</a:t>
            </a:r>
          </a:p>
          <a:p>
            <a:pPr>
              <a:lnSpc>
                <a:spcPct val="115000"/>
              </a:lnSpc>
              <a:defRPr b="1" sz="2000">
                <a:solidFill>
                  <a:srgbClr val="1A2332"/>
                </a:solidFill>
                <a:latin typeface="Georgia"/>
                <a:ea typeface="Georgia"/>
                <a:cs typeface="Georgia"/>
                <a:sym typeface="Georgia"/>
              </a:defRPr>
            </a:pPr>
            <a:r>
              <a:t>Layer &amp; Base pLTV</a:t>
            </a:r>
          </a:p>
        </p:txBody>
      </p:sp>
      <p:sp>
        <p:nvSpPr>
          <p:cNvPr id="426" name="Shape 2"/>
          <p:cNvSpPr/>
          <p:nvPr/>
        </p:nvSpPr>
        <p:spPr>
          <a:xfrm>
            <a:off x="457199" y="1691639"/>
            <a:ext cx="3931922" cy="2926082"/>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427" name="Text 3"/>
          <p:cNvSpPr txBox="1"/>
          <p:nvPr/>
        </p:nvSpPr>
        <p:spPr>
          <a:xfrm>
            <a:off x="640079" y="1882579"/>
            <a:ext cx="3566161"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A2332"/>
                </a:solidFill>
              </a:defRPr>
            </a:lvl1pPr>
          </a:lstStyle>
          <a:p>
            <a:pPr/>
            <a:r>
              <a:t>Semantic Layer</a:t>
            </a:r>
          </a:p>
        </p:txBody>
      </p:sp>
      <p:pic>
        <p:nvPicPr>
          <p:cNvPr id="428" name="Image 0" descr="Image 0"/>
          <p:cNvPicPr>
            <a:picLocks noChangeAspect="1"/>
          </p:cNvPicPr>
          <p:nvPr/>
        </p:nvPicPr>
        <p:blipFill>
          <a:blip r:embed="rId2">
            <a:extLst/>
          </a:blip>
          <a:stretch>
            <a:fillRect/>
          </a:stretch>
        </p:blipFill>
        <p:spPr>
          <a:xfrm>
            <a:off x="640080" y="2286000"/>
            <a:ext cx="182881" cy="182880"/>
          </a:xfrm>
          <a:prstGeom prst="rect">
            <a:avLst/>
          </a:prstGeom>
          <a:ln w="12700">
            <a:miter lim="400000"/>
          </a:ln>
        </p:spPr>
      </p:pic>
      <p:sp>
        <p:nvSpPr>
          <p:cNvPr id="429" name="Text 4"/>
          <p:cNvSpPr txBox="1"/>
          <p:nvPr/>
        </p:nvSpPr>
        <p:spPr>
          <a:xfrm>
            <a:off x="914399" y="2315522"/>
            <a:ext cx="3291842" cy="3432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Encode JustPlay's business logic and metric definitions into a governed layer</a:t>
            </a:r>
          </a:p>
        </p:txBody>
      </p:sp>
      <p:pic>
        <p:nvPicPr>
          <p:cNvPr id="430" name="Image 1" descr="Image 1"/>
          <p:cNvPicPr>
            <a:picLocks noChangeAspect="1"/>
          </p:cNvPicPr>
          <p:nvPr/>
        </p:nvPicPr>
        <p:blipFill>
          <a:blip r:embed="rId2">
            <a:extLst/>
          </a:blip>
          <a:stretch>
            <a:fillRect/>
          </a:stretch>
        </p:blipFill>
        <p:spPr>
          <a:xfrm>
            <a:off x="640080" y="2788920"/>
            <a:ext cx="182881" cy="182881"/>
          </a:xfrm>
          <a:prstGeom prst="rect">
            <a:avLst/>
          </a:prstGeom>
          <a:ln w="12700">
            <a:miter lim="400000"/>
          </a:ln>
        </p:spPr>
      </p:pic>
      <p:sp>
        <p:nvSpPr>
          <p:cNvPr id="431" name="Text 5"/>
          <p:cNvSpPr txBox="1"/>
          <p:nvPr/>
        </p:nvSpPr>
        <p:spPr>
          <a:xfrm>
            <a:off x="914399" y="2818442"/>
            <a:ext cx="3291842" cy="3432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Canonical definitions: ROAS, LTV, retention, installs aligned across all consumers</a:t>
            </a:r>
          </a:p>
        </p:txBody>
      </p:sp>
      <p:pic>
        <p:nvPicPr>
          <p:cNvPr id="432" name="Image 2" descr="Image 2"/>
          <p:cNvPicPr>
            <a:picLocks noChangeAspect="1"/>
          </p:cNvPicPr>
          <p:nvPr/>
        </p:nvPicPr>
        <p:blipFill>
          <a:blip r:embed="rId2">
            <a:extLst/>
          </a:blip>
          <a:stretch>
            <a:fillRect/>
          </a:stretch>
        </p:blipFill>
        <p:spPr>
          <a:xfrm>
            <a:off x="640080" y="3291840"/>
            <a:ext cx="182881" cy="182881"/>
          </a:xfrm>
          <a:prstGeom prst="rect">
            <a:avLst/>
          </a:prstGeom>
          <a:ln w="12700">
            <a:miter lim="400000"/>
          </a:ln>
        </p:spPr>
      </p:pic>
      <p:sp>
        <p:nvSpPr>
          <p:cNvPr id="433" name="Text 6"/>
          <p:cNvSpPr txBox="1"/>
          <p:nvPr/>
        </p:nvSpPr>
        <p:spPr>
          <a:xfrm>
            <a:off x="914399" y="3321362"/>
            <a:ext cx="3291842" cy="3432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Structured workshop to capture and sign off all metric definitions</a:t>
            </a:r>
          </a:p>
        </p:txBody>
      </p:sp>
      <p:pic>
        <p:nvPicPr>
          <p:cNvPr id="434" name="Image 3" descr="Image 3"/>
          <p:cNvPicPr>
            <a:picLocks noChangeAspect="1"/>
          </p:cNvPicPr>
          <p:nvPr/>
        </p:nvPicPr>
        <p:blipFill>
          <a:blip r:embed="rId2">
            <a:extLst/>
          </a:blip>
          <a:stretch>
            <a:fillRect/>
          </a:stretch>
        </p:blipFill>
        <p:spPr>
          <a:xfrm>
            <a:off x="640080" y="3794759"/>
            <a:ext cx="182881" cy="182881"/>
          </a:xfrm>
          <a:prstGeom prst="rect">
            <a:avLst/>
          </a:prstGeom>
          <a:ln w="12700">
            <a:miter lim="400000"/>
          </a:ln>
        </p:spPr>
      </p:pic>
      <p:sp>
        <p:nvSpPr>
          <p:cNvPr id="435" name="Text 7"/>
          <p:cNvSpPr txBox="1"/>
          <p:nvPr/>
        </p:nvSpPr>
        <p:spPr>
          <a:xfrm>
            <a:off x="914399" y="392739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Every downstream feature works from the same numbers</a:t>
            </a:r>
          </a:p>
        </p:txBody>
      </p:sp>
      <p:sp>
        <p:nvSpPr>
          <p:cNvPr id="436" name="Shape 8"/>
          <p:cNvSpPr/>
          <p:nvPr/>
        </p:nvSpPr>
        <p:spPr>
          <a:xfrm>
            <a:off x="4754879" y="1691639"/>
            <a:ext cx="3931921" cy="2926082"/>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437" name="Text 9"/>
          <p:cNvSpPr txBox="1"/>
          <p:nvPr/>
        </p:nvSpPr>
        <p:spPr>
          <a:xfrm>
            <a:off x="4937759" y="1882579"/>
            <a:ext cx="3566160" cy="1667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2A8A8A"/>
                </a:solidFill>
              </a:defRPr>
            </a:lvl1pPr>
          </a:lstStyle>
          <a:p>
            <a:pPr/>
            <a:r>
              <a:t>Base pLTV Prediction</a:t>
            </a:r>
          </a:p>
        </p:txBody>
      </p:sp>
      <p:pic>
        <p:nvPicPr>
          <p:cNvPr id="438" name="Image 4" descr="Image 4"/>
          <p:cNvPicPr>
            <a:picLocks noChangeAspect="1"/>
          </p:cNvPicPr>
          <p:nvPr/>
        </p:nvPicPr>
        <p:blipFill>
          <a:blip r:embed="rId2">
            <a:extLst/>
          </a:blip>
          <a:stretch>
            <a:fillRect/>
          </a:stretch>
        </p:blipFill>
        <p:spPr>
          <a:xfrm>
            <a:off x="4937759" y="2286000"/>
            <a:ext cx="182881" cy="182880"/>
          </a:xfrm>
          <a:prstGeom prst="rect">
            <a:avLst/>
          </a:prstGeom>
          <a:ln w="12700">
            <a:miter lim="400000"/>
          </a:ln>
        </p:spPr>
      </p:pic>
      <p:sp>
        <p:nvSpPr>
          <p:cNvPr id="439" name="Text 10"/>
          <p:cNvSpPr txBox="1"/>
          <p:nvPr/>
        </p:nvSpPr>
        <p:spPr>
          <a:xfrm>
            <a:off x="5212079" y="241863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Combined growth and log model approach</a:t>
            </a:r>
          </a:p>
        </p:txBody>
      </p:sp>
      <p:pic>
        <p:nvPicPr>
          <p:cNvPr id="440" name="Image 5" descr="Image 5"/>
          <p:cNvPicPr>
            <a:picLocks noChangeAspect="1"/>
          </p:cNvPicPr>
          <p:nvPr/>
        </p:nvPicPr>
        <p:blipFill>
          <a:blip r:embed="rId2">
            <a:extLst/>
          </a:blip>
          <a:stretch>
            <a:fillRect/>
          </a:stretch>
        </p:blipFill>
        <p:spPr>
          <a:xfrm>
            <a:off x="4937759" y="2788920"/>
            <a:ext cx="182881" cy="182881"/>
          </a:xfrm>
          <a:prstGeom prst="rect">
            <a:avLst/>
          </a:prstGeom>
          <a:ln w="12700">
            <a:miter lim="400000"/>
          </a:ln>
        </p:spPr>
      </p:pic>
      <p:sp>
        <p:nvSpPr>
          <p:cNvPr id="441" name="Text 11"/>
          <p:cNvSpPr txBox="1"/>
          <p:nvPr/>
        </p:nvSpPr>
        <p:spPr>
          <a:xfrm>
            <a:off x="5212079" y="292155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Available at user level on agreed refresh cadence</a:t>
            </a:r>
          </a:p>
        </p:txBody>
      </p:sp>
      <p:pic>
        <p:nvPicPr>
          <p:cNvPr id="442" name="Image 6" descr="Image 6"/>
          <p:cNvPicPr>
            <a:picLocks noChangeAspect="1"/>
          </p:cNvPicPr>
          <p:nvPr/>
        </p:nvPicPr>
        <p:blipFill>
          <a:blip r:embed="rId2">
            <a:extLst/>
          </a:blip>
          <a:stretch>
            <a:fillRect/>
          </a:stretch>
        </p:blipFill>
        <p:spPr>
          <a:xfrm>
            <a:off x="4937759" y="3291840"/>
            <a:ext cx="182881" cy="182881"/>
          </a:xfrm>
          <a:prstGeom prst="rect">
            <a:avLst/>
          </a:prstGeom>
          <a:ln w="12700">
            <a:miter lim="400000"/>
          </a:ln>
        </p:spPr>
      </p:pic>
      <p:sp>
        <p:nvSpPr>
          <p:cNvPr id="443" name="Text 12"/>
          <p:cNvSpPr txBox="1"/>
          <p:nvPr/>
        </p:nvSpPr>
        <p:spPr>
          <a:xfrm>
            <a:off x="5212079" y="342447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Use for benchmarking against any in-house models</a:t>
            </a:r>
          </a:p>
        </p:txBody>
      </p:sp>
      <p:pic>
        <p:nvPicPr>
          <p:cNvPr id="444" name="Image 7" descr="Image 7"/>
          <p:cNvPicPr>
            <a:picLocks noChangeAspect="1"/>
          </p:cNvPicPr>
          <p:nvPr/>
        </p:nvPicPr>
        <p:blipFill>
          <a:blip r:embed="rId2">
            <a:extLst/>
          </a:blip>
          <a:stretch>
            <a:fillRect/>
          </a:stretch>
        </p:blipFill>
        <p:spPr>
          <a:xfrm>
            <a:off x="4937759" y="3794759"/>
            <a:ext cx="182881" cy="182881"/>
          </a:xfrm>
          <a:prstGeom prst="rect">
            <a:avLst/>
          </a:prstGeom>
          <a:ln w="12700">
            <a:miter lim="400000"/>
          </a:ln>
        </p:spPr>
      </p:pic>
      <p:sp>
        <p:nvSpPr>
          <p:cNvPr id="445" name="Text 13"/>
          <p:cNvSpPr txBox="1"/>
          <p:nvPr/>
        </p:nvSpPr>
        <p:spPr>
          <a:xfrm>
            <a:off x="5212079" y="392739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3D4F63"/>
                </a:solidFill>
              </a:defRPr>
            </a:lvl1pPr>
          </a:lstStyle>
          <a:p>
            <a:pPr/>
            <a:r>
              <a:t>Foundation for custom pLTV in Phase 5</a:t>
            </a:r>
          </a:p>
        </p:txBody>
      </p:sp>
      <p:sp>
        <p:nvSpPr>
          <p:cNvPr id="446" name="Text 14"/>
          <p:cNvSpPr txBox="1"/>
          <p:nvPr/>
        </p:nvSpPr>
        <p:spPr>
          <a:xfrm>
            <a:off x="731520" y="4777784"/>
            <a:ext cx="7680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000">
                <a:solidFill>
                  <a:srgbClr val="2A8A8A"/>
                </a:solidFill>
              </a:defRPr>
            </a:lvl1pPr>
          </a:lstStyle>
          <a:p>
            <a:pPr/>
            <a:r>
              <a:t>Metric definitions must be signed off before build begins. Changes after sign-off require a change order.</a:t>
            </a: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A2332"/>
        </a:solidFill>
      </p:bgPr>
    </p:bg>
    <p:spTree>
      <p:nvGrpSpPr>
        <p:cNvPr id="1" name=""/>
        <p:cNvGrpSpPr/>
        <p:nvPr/>
      </p:nvGrpSpPr>
      <p:grpSpPr>
        <a:xfrm>
          <a:off x="0" y="0"/>
          <a:ext cx="0" cy="0"/>
          <a:chOff x="0" y="0"/>
          <a:chExt cx="0" cy="0"/>
        </a:xfrm>
      </p:grpSpPr>
      <p:sp>
        <p:nvSpPr>
          <p:cNvPr id="448" name="Text 0"/>
          <p:cNvSpPr txBox="1"/>
          <p:nvPr/>
        </p:nvSpPr>
        <p:spPr>
          <a:xfrm>
            <a:off x="731519" y="480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3AADAD"/>
                </a:solidFill>
              </a:defRPr>
            </a:lvl1pPr>
          </a:lstStyle>
          <a:p>
            <a:pPr/>
            <a:r>
              <a:t>PHASE 5</a:t>
            </a:r>
          </a:p>
        </p:txBody>
      </p:sp>
      <p:sp>
        <p:nvSpPr>
          <p:cNvPr id="449" name="Text 1"/>
          <p:cNvSpPr txBox="1"/>
          <p:nvPr/>
        </p:nvSpPr>
        <p:spPr>
          <a:xfrm>
            <a:off x="731520" y="819784"/>
            <a:ext cx="7680960"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FFFFFF"/>
                </a:solidFill>
                <a:latin typeface="Georgia"/>
                <a:ea typeface="Georgia"/>
                <a:cs typeface="Georgia"/>
                <a:sym typeface="Georgia"/>
              </a:defRPr>
            </a:pPr>
            <a:r>
              <a:t>Custom pLTV &amp;</a:t>
            </a:r>
          </a:p>
          <a:p>
            <a:pPr>
              <a:lnSpc>
                <a:spcPct val="115000"/>
              </a:lnSpc>
              <a:defRPr b="1" sz="2000">
                <a:solidFill>
                  <a:srgbClr val="FFFFFF"/>
                </a:solidFill>
                <a:latin typeface="Georgia"/>
                <a:ea typeface="Georgia"/>
                <a:cs typeface="Georgia"/>
                <a:sym typeface="Georgia"/>
              </a:defRPr>
            </a:pPr>
            <a:r>
              <a:t>CTV Attribution Models</a:t>
            </a:r>
          </a:p>
        </p:txBody>
      </p:sp>
      <p:sp>
        <p:nvSpPr>
          <p:cNvPr id="450" name="Shape 2"/>
          <p:cNvSpPr/>
          <p:nvPr/>
        </p:nvSpPr>
        <p:spPr>
          <a:xfrm>
            <a:off x="457199" y="1691639"/>
            <a:ext cx="3931922" cy="2560322"/>
          </a:xfrm>
          <a:prstGeom prst="rect">
            <a:avLst/>
          </a:prstGeom>
          <a:solidFill>
            <a:srgbClr val="1F2D40"/>
          </a:solidFill>
          <a:ln w="12700">
            <a:miter lim="400000"/>
          </a:ln>
        </p:spPr>
        <p:txBody>
          <a:bodyPr lIns="45718" tIns="45718" rIns="45718" bIns="45718"/>
          <a:lstStyle/>
          <a:p>
            <a:pPr/>
          </a:p>
        </p:txBody>
      </p:sp>
      <p:sp>
        <p:nvSpPr>
          <p:cNvPr id="451" name="Text 3"/>
          <p:cNvSpPr txBox="1"/>
          <p:nvPr/>
        </p:nvSpPr>
        <p:spPr>
          <a:xfrm>
            <a:off x="640079" y="1887527"/>
            <a:ext cx="356616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FFFFFF"/>
                </a:solidFill>
              </a:defRPr>
            </a:lvl1pPr>
          </a:lstStyle>
          <a:p>
            <a:pPr/>
            <a:r>
              <a:t>Custom pLTV + Payout Prediction</a:t>
            </a:r>
          </a:p>
        </p:txBody>
      </p:sp>
      <p:pic>
        <p:nvPicPr>
          <p:cNvPr id="452" name="Image 0" descr="Image 0"/>
          <p:cNvPicPr>
            <a:picLocks noChangeAspect="1"/>
          </p:cNvPicPr>
          <p:nvPr/>
        </p:nvPicPr>
        <p:blipFill>
          <a:blip r:embed="rId2">
            <a:extLst/>
          </a:blip>
          <a:stretch>
            <a:fillRect/>
          </a:stretch>
        </p:blipFill>
        <p:spPr>
          <a:xfrm>
            <a:off x="640080" y="2331720"/>
            <a:ext cx="164593" cy="164593"/>
          </a:xfrm>
          <a:prstGeom prst="rect">
            <a:avLst/>
          </a:prstGeom>
          <a:ln w="12700">
            <a:miter lim="400000"/>
          </a:ln>
        </p:spPr>
      </p:pic>
      <p:sp>
        <p:nvSpPr>
          <p:cNvPr id="453" name="Text 4"/>
          <p:cNvSpPr txBox="1"/>
          <p:nvPr/>
        </p:nvSpPr>
        <p:spPr>
          <a:xfrm>
            <a:off x="914399" y="2342954"/>
            <a:ext cx="3291842" cy="3432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Benchmark multiple model approaches against base pLTV from Phase 4</a:t>
            </a:r>
          </a:p>
        </p:txBody>
      </p:sp>
      <p:pic>
        <p:nvPicPr>
          <p:cNvPr id="454" name="Image 1" descr="Image 1"/>
          <p:cNvPicPr>
            <a:picLocks noChangeAspect="1"/>
          </p:cNvPicPr>
          <p:nvPr/>
        </p:nvPicPr>
        <p:blipFill>
          <a:blip r:embed="rId2">
            <a:extLst/>
          </a:blip>
          <a:stretch>
            <a:fillRect/>
          </a:stretch>
        </p:blipFill>
        <p:spPr>
          <a:xfrm>
            <a:off x="640080" y="2834639"/>
            <a:ext cx="164593" cy="164593"/>
          </a:xfrm>
          <a:prstGeom prst="rect">
            <a:avLst/>
          </a:prstGeom>
          <a:ln w="12700">
            <a:miter lim="400000"/>
          </a:ln>
        </p:spPr>
      </p:pic>
      <p:sp>
        <p:nvSpPr>
          <p:cNvPr id="455" name="Text 5"/>
          <p:cNvSpPr txBox="1"/>
          <p:nvPr/>
        </p:nvSpPr>
        <p:spPr>
          <a:xfrm>
            <a:off x="914399" y="2845874"/>
            <a:ext cx="3291842" cy="34329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Payout prediction: translate LTV signals into spend and bid guidance</a:t>
            </a:r>
          </a:p>
        </p:txBody>
      </p:sp>
      <p:pic>
        <p:nvPicPr>
          <p:cNvPr id="456" name="Image 2" descr="Image 2"/>
          <p:cNvPicPr>
            <a:picLocks noChangeAspect="1"/>
          </p:cNvPicPr>
          <p:nvPr/>
        </p:nvPicPr>
        <p:blipFill>
          <a:blip r:embed="rId2">
            <a:extLst/>
          </a:blip>
          <a:stretch>
            <a:fillRect/>
          </a:stretch>
        </p:blipFill>
        <p:spPr>
          <a:xfrm>
            <a:off x="640080" y="3337559"/>
            <a:ext cx="164593" cy="164593"/>
          </a:xfrm>
          <a:prstGeom prst="rect">
            <a:avLst/>
          </a:prstGeom>
          <a:ln w="12700">
            <a:miter lim="400000"/>
          </a:ln>
        </p:spPr>
      </p:pic>
      <p:sp>
        <p:nvSpPr>
          <p:cNvPr id="457" name="Text 6"/>
          <p:cNvSpPr txBox="1"/>
          <p:nvPr/>
        </p:nvSpPr>
        <p:spPr>
          <a:xfrm>
            <a:off x="914399" y="3451904"/>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Prediction horizon and target metric signed off before build</a:t>
            </a:r>
          </a:p>
        </p:txBody>
      </p:sp>
      <p:sp>
        <p:nvSpPr>
          <p:cNvPr id="458" name="Shape 7"/>
          <p:cNvSpPr/>
          <p:nvPr/>
        </p:nvSpPr>
        <p:spPr>
          <a:xfrm>
            <a:off x="4754879" y="1691639"/>
            <a:ext cx="3931921" cy="2560322"/>
          </a:xfrm>
          <a:prstGeom prst="rect">
            <a:avLst/>
          </a:prstGeom>
          <a:solidFill>
            <a:srgbClr val="1F2D40"/>
          </a:solidFill>
          <a:ln w="12700">
            <a:miter lim="400000"/>
          </a:ln>
        </p:spPr>
        <p:txBody>
          <a:bodyPr lIns="45718" tIns="45718" rIns="45718" bIns="45718"/>
          <a:lstStyle/>
          <a:p>
            <a:pPr/>
          </a:p>
        </p:txBody>
      </p:sp>
      <p:sp>
        <p:nvSpPr>
          <p:cNvPr id="459" name="Text 8"/>
          <p:cNvSpPr txBox="1"/>
          <p:nvPr/>
        </p:nvSpPr>
        <p:spPr>
          <a:xfrm>
            <a:off x="4937759" y="1887527"/>
            <a:ext cx="3566160"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3AADAD"/>
                </a:solidFill>
              </a:defRPr>
            </a:lvl1pPr>
          </a:lstStyle>
          <a:p>
            <a:pPr/>
            <a:r>
              <a:t>CTV Attribution Model</a:t>
            </a:r>
          </a:p>
        </p:txBody>
      </p:sp>
      <p:pic>
        <p:nvPicPr>
          <p:cNvPr id="460" name="Image 3" descr="Image 3"/>
          <p:cNvPicPr>
            <a:picLocks noChangeAspect="1"/>
          </p:cNvPicPr>
          <p:nvPr/>
        </p:nvPicPr>
        <p:blipFill>
          <a:blip r:embed="rId2">
            <a:extLst/>
          </a:blip>
          <a:stretch>
            <a:fillRect/>
          </a:stretch>
        </p:blipFill>
        <p:spPr>
          <a:xfrm>
            <a:off x="4937759" y="2331720"/>
            <a:ext cx="164593" cy="164593"/>
          </a:xfrm>
          <a:prstGeom prst="rect">
            <a:avLst/>
          </a:prstGeom>
          <a:ln w="12700">
            <a:miter lim="400000"/>
          </a:ln>
        </p:spPr>
      </p:pic>
      <p:sp>
        <p:nvSpPr>
          <p:cNvPr id="461" name="Text 9"/>
          <p:cNvSpPr txBox="1"/>
          <p:nvPr/>
        </p:nvSpPr>
        <p:spPr>
          <a:xfrm>
            <a:off x="5212079" y="2342954"/>
            <a:ext cx="3291842" cy="3432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Probabilistic attribution using impression data and organic baseline</a:t>
            </a:r>
          </a:p>
        </p:txBody>
      </p:sp>
      <p:pic>
        <p:nvPicPr>
          <p:cNvPr id="462" name="Image 4" descr="Image 4"/>
          <p:cNvPicPr>
            <a:picLocks noChangeAspect="1"/>
          </p:cNvPicPr>
          <p:nvPr/>
        </p:nvPicPr>
        <p:blipFill>
          <a:blip r:embed="rId2">
            <a:extLst/>
          </a:blip>
          <a:stretch>
            <a:fillRect/>
          </a:stretch>
        </p:blipFill>
        <p:spPr>
          <a:xfrm>
            <a:off x="4937759" y="2834639"/>
            <a:ext cx="164593" cy="164593"/>
          </a:xfrm>
          <a:prstGeom prst="rect">
            <a:avLst/>
          </a:prstGeom>
          <a:ln w="12700">
            <a:miter lim="400000"/>
          </a:ln>
        </p:spPr>
      </p:pic>
      <p:sp>
        <p:nvSpPr>
          <p:cNvPr id="463" name="Text 10"/>
          <p:cNvSpPr txBox="1"/>
          <p:nvPr/>
        </p:nvSpPr>
        <p:spPr>
          <a:xfrm>
            <a:off x="5212079" y="2948984"/>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CTV contribution metrics integrated into campaign reporting</a:t>
            </a:r>
          </a:p>
        </p:txBody>
      </p:sp>
      <p:pic>
        <p:nvPicPr>
          <p:cNvPr id="464" name="Image 5" descr="Image 5"/>
          <p:cNvPicPr>
            <a:picLocks noChangeAspect="1"/>
          </p:cNvPicPr>
          <p:nvPr/>
        </p:nvPicPr>
        <p:blipFill>
          <a:blip r:embed="rId2">
            <a:extLst/>
          </a:blip>
          <a:stretch>
            <a:fillRect/>
          </a:stretch>
        </p:blipFill>
        <p:spPr>
          <a:xfrm>
            <a:off x="4937759" y="3337559"/>
            <a:ext cx="164593" cy="164593"/>
          </a:xfrm>
          <a:prstGeom prst="rect">
            <a:avLst/>
          </a:prstGeom>
          <a:ln w="12700">
            <a:miter lim="400000"/>
          </a:ln>
        </p:spPr>
      </p:pic>
      <p:sp>
        <p:nvSpPr>
          <p:cNvPr id="465" name="Text 11"/>
          <p:cNvSpPr txBox="1"/>
          <p:nvPr/>
        </p:nvSpPr>
        <p:spPr>
          <a:xfrm>
            <a:off x="5212079" y="3451904"/>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30000"/>
              </a:lnSpc>
              <a:defRPr sz="1000">
                <a:solidFill>
                  <a:srgbClr val="8895A7"/>
                </a:solidFill>
              </a:defRPr>
            </a:lvl1pPr>
          </a:lstStyle>
          <a:p>
            <a:pPr/>
            <a:r>
              <a:t>Documented methodology, assumptions, and known limitations</a:t>
            </a:r>
          </a:p>
        </p:txBody>
      </p:sp>
      <p:sp>
        <p:nvSpPr>
          <p:cNvPr id="466" name="Text 12"/>
          <p:cNvSpPr txBox="1"/>
          <p:nvPr/>
        </p:nvSpPr>
        <p:spPr>
          <a:xfrm>
            <a:off x="731520" y="4777784"/>
            <a:ext cx="768096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000">
                <a:solidFill>
                  <a:srgbClr val="8895A7"/>
                </a:solidFill>
              </a:defRPr>
            </a:lvl1pPr>
          </a:lstStyle>
          <a:p>
            <a:pPr/>
            <a:r>
              <a:t>CTV is not a priority today. This phase is available when the time is right.</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9FB"/>
        </a:solidFill>
      </p:bgPr>
    </p:bg>
    <p:spTree>
      <p:nvGrpSpPr>
        <p:cNvPr id="1" name=""/>
        <p:cNvGrpSpPr/>
        <p:nvPr/>
      </p:nvGrpSpPr>
      <p:grpSpPr>
        <a:xfrm>
          <a:off x="0" y="0"/>
          <a:ext cx="0" cy="0"/>
          <a:chOff x="0" y="0"/>
          <a:chExt cx="0" cy="0"/>
        </a:xfrm>
      </p:grpSpPr>
      <p:sp>
        <p:nvSpPr>
          <p:cNvPr id="468" name="Text 0"/>
          <p:cNvSpPr txBox="1"/>
          <p:nvPr/>
        </p:nvSpPr>
        <p:spPr>
          <a:xfrm>
            <a:off x="731519" y="480104"/>
            <a:ext cx="4572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300" sz="1000">
                <a:solidFill>
                  <a:srgbClr val="2A8A8A"/>
                </a:solidFill>
              </a:defRPr>
            </a:lvl1pPr>
          </a:lstStyle>
          <a:p>
            <a:pPr/>
            <a:r>
              <a:t>ONGOING</a:t>
            </a:r>
          </a:p>
        </p:txBody>
      </p:sp>
      <p:sp>
        <p:nvSpPr>
          <p:cNvPr id="469" name="Text 1"/>
          <p:cNvSpPr txBox="1"/>
          <p:nvPr/>
        </p:nvSpPr>
        <p:spPr>
          <a:xfrm>
            <a:off x="731520" y="819784"/>
            <a:ext cx="7680960" cy="6007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15000"/>
              </a:lnSpc>
              <a:defRPr b="1" sz="2000">
                <a:solidFill>
                  <a:srgbClr val="1A2332"/>
                </a:solidFill>
                <a:latin typeface="Georgia"/>
                <a:ea typeface="Georgia"/>
                <a:cs typeface="Georgia"/>
                <a:sym typeface="Georgia"/>
              </a:defRPr>
            </a:pPr>
            <a:r>
              <a:t>Continuous support.</a:t>
            </a:r>
          </a:p>
          <a:p>
            <a:pPr>
              <a:lnSpc>
                <a:spcPct val="115000"/>
              </a:lnSpc>
              <a:defRPr b="1" sz="2000">
                <a:solidFill>
                  <a:srgbClr val="1A2332"/>
                </a:solidFill>
                <a:latin typeface="Georgia"/>
                <a:ea typeface="Georgia"/>
                <a:cs typeface="Georgia"/>
                <a:sym typeface="Georgia"/>
              </a:defRPr>
            </a:pPr>
            <a:r>
              <a:t>Not a handoff.</a:t>
            </a:r>
          </a:p>
        </p:txBody>
      </p:sp>
      <p:sp>
        <p:nvSpPr>
          <p:cNvPr id="470" name="Shape 2"/>
          <p:cNvSpPr/>
          <p:nvPr/>
        </p:nvSpPr>
        <p:spPr>
          <a:xfrm>
            <a:off x="457199" y="1691639"/>
            <a:ext cx="3931922" cy="3017522"/>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471" name="Shape 3"/>
          <p:cNvSpPr/>
          <p:nvPr/>
        </p:nvSpPr>
        <p:spPr>
          <a:xfrm>
            <a:off x="457199" y="1691639"/>
            <a:ext cx="3931922" cy="45721"/>
          </a:xfrm>
          <a:prstGeom prst="rect">
            <a:avLst/>
          </a:prstGeom>
          <a:solidFill>
            <a:srgbClr val="2A8A8A"/>
          </a:solidFill>
          <a:ln w="12700">
            <a:miter lim="400000"/>
          </a:ln>
        </p:spPr>
        <p:txBody>
          <a:bodyPr lIns="45718" tIns="45718" rIns="45718" bIns="45718"/>
          <a:lstStyle/>
          <a:p>
            <a:pPr/>
          </a:p>
        </p:txBody>
      </p:sp>
      <p:sp>
        <p:nvSpPr>
          <p:cNvPr id="472" name="Text 4"/>
          <p:cNvSpPr txBox="1"/>
          <p:nvPr/>
        </p:nvSpPr>
        <p:spPr>
          <a:xfrm>
            <a:off x="640079" y="1924322"/>
            <a:ext cx="3566161" cy="4033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20000"/>
              </a:lnSpc>
              <a:defRPr b="1" sz="1300">
                <a:solidFill>
                  <a:srgbClr val="1A2332"/>
                </a:solidFill>
              </a:defRPr>
            </a:pPr>
            <a:r>
              <a:t>12-Month Platform Access</a:t>
            </a:r>
          </a:p>
          <a:p>
            <a:pPr>
              <a:lnSpc>
                <a:spcPct val="120000"/>
              </a:lnSpc>
              <a:defRPr b="1" sz="1300">
                <a:solidFill>
                  <a:srgbClr val="1A2332"/>
                </a:solidFill>
              </a:defRPr>
            </a:pPr>
            <a:r>
              <a:t>&amp; SSOT Support</a:t>
            </a:r>
          </a:p>
        </p:txBody>
      </p:sp>
      <p:pic>
        <p:nvPicPr>
          <p:cNvPr id="473" name="Image 0" descr="Image 0"/>
          <p:cNvPicPr>
            <a:picLocks noChangeAspect="1"/>
          </p:cNvPicPr>
          <p:nvPr/>
        </p:nvPicPr>
        <p:blipFill>
          <a:blip r:embed="rId2">
            <a:extLst/>
          </a:blip>
          <a:stretch>
            <a:fillRect/>
          </a:stretch>
        </p:blipFill>
        <p:spPr>
          <a:xfrm>
            <a:off x="640080" y="2514600"/>
            <a:ext cx="164593" cy="164593"/>
          </a:xfrm>
          <a:prstGeom prst="rect">
            <a:avLst/>
          </a:prstGeom>
          <a:ln w="12700">
            <a:miter lim="400000"/>
          </a:ln>
        </p:spPr>
      </p:pic>
      <p:sp>
        <p:nvSpPr>
          <p:cNvPr id="474" name="Text 5"/>
          <p:cNvSpPr txBox="1"/>
          <p:nvPr/>
        </p:nvSpPr>
        <p:spPr>
          <a:xfrm>
            <a:off x="914399" y="255579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Lupe console access</a:t>
            </a:r>
          </a:p>
        </p:txBody>
      </p:sp>
      <p:pic>
        <p:nvPicPr>
          <p:cNvPr id="475" name="Image 1" descr="Image 1"/>
          <p:cNvPicPr>
            <a:picLocks noChangeAspect="1"/>
          </p:cNvPicPr>
          <p:nvPr/>
        </p:nvPicPr>
        <p:blipFill>
          <a:blip r:embed="rId2">
            <a:extLst/>
          </a:blip>
          <a:stretch>
            <a:fillRect/>
          </a:stretch>
        </p:blipFill>
        <p:spPr>
          <a:xfrm>
            <a:off x="640080" y="2807207"/>
            <a:ext cx="164593" cy="164593"/>
          </a:xfrm>
          <a:prstGeom prst="rect">
            <a:avLst/>
          </a:prstGeom>
          <a:ln w="12700">
            <a:miter lim="400000"/>
          </a:ln>
        </p:spPr>
      </p:pic>
      <p:sp>
        <p:nvSpPr>
          <p:cNvPr id="476" name="Text 6"/>
          <p:cNvSpPr txBox="1"/>
          <p:nvPr/>
        </p:nvSpPr>
        <p:spPr>
          <a:xfrm>
            <a:off x="914399" y="2848400"/>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AI assistant</a:t>
            </a:r>
          </a:p>
        </p:txBody>
      </p:sp>
      <p:pic>
        <p:nvPicPr>
          <p:cNvPr id="477" name="Image 2" descr="Image 2"/>
          <p:cNvPicPr>
            <a:picLocks noChangeAspect="1"/>
          </p:cNvPicPr>
          <p:nvPr/>
        </p:nvPicPr>
        <p:blipFill>
          <a:blip r:embed="rId2">
            <a:extLst/>
          </a:blip>
          <a:stretch>
            <a:fillRect/>
          </a:stretch>
        </p:blipFill>
        <p:spPr>
          <a:xfrm>
            <a:off x="640080" y="3099816"/>
            <a:ext cx="164593" cy="164593"/>
          </a:xfrm>
          <a:prstGeom prst="rect">
            <a:avLst/>
          </a:prstGeom>
          <a:ln w="12700">
            <a:miter lim="400000"/>
          </a:ln>
        </p:spPr>
      </p:pic>
      <p:sp>
        <p:nvSpPr>
          <p:cNvPr id="478" name="Text 7"/>
          <p:cNvSpPr txBox="1"/>
          <p:nvPr/>
        </p:nvSpPr>
        <p:spPr>
          <a:xfrm>
            <a:off x="914399" y="3141008"/>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Automated reporting</a:t>
            </a:r>
          </a:p>
        </p:txBody>
      </p:sp>
      <p:pic>
        <p:nvPicPr>
          <p:cNvPr id="479" name="Image 3" descr="Image 3"/>
          <p:cNvPicPr>
            <a:picLocks noChangeAspect="1"/>
          </p:cNvPicPr>
          <p:nvPr/>
        </p:nvPicPr>
        <p:blipFill>
          <a:blip r:embed="rId2">
            <a:extLst/>
          </a:blip>
          <a:stretch>
            <a:fillRect/>
          </a:stretch>
        </p:blipFill>
        <p:spPr>
          <a:xfrm>
            <a:off x="640080" y="3392423"/>
            <a:ext cx="164593" cy="164593"/>
          </a:xfrm>
          <a:prstGeom prst="rect">
            <a:avLst/>
          </a:prstGeom>
          <a:ln w="12700">
            <a:miter lim="400000"/>
          </a:ln>
        </p:spPr>
      </p:pic>
      <p:sp>
        <p:nvSpPr>
          <p:cNvPr id="480" name="Text 8"/>
          <p:cNvSpPr txBox="1"/>
          <p:nvPr/>
        </p:nvSpPr>
        <p:spPr>
          <a:xfrm>
            <a:off x="914399" y="3433616"/>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Alerting</a:t>
            </a:r>
          </a:p>
        </p:txBody>
      </p:sp>
      <p:pic>
        <p:nvPicPr>
          <p:cNvPr id="481" name="Image 4" descr="Image 4"/>
          <p:cNvPicPr>
            <a:picLocks noChangeAspect="1"/>
          </p:cNvPicPr>
          <p:nvPr/>
        </p:nvPicPr>
        <p:blipFill>
          <a:blip r:embed="rId2">
            <a:extLst/>
          </a:blip>
          <a:stretch>
            <a:fillRect/>
          </a:stretch>
        </p:blipFill>
        <p:spPr>
          <a:xfrm>
            <a:off x="640080" y="3685032"/>
            <a:ext cx="164593" cy="164593"/>
          </a:xfrm>
          <a:prstGeom prst="rect">
            <a:avLst/>
          </a:prstGeom>
          <a:ln w="12700">
            <a:miter lim="400000"/>
          </a:ln>
        </p:spPr>
      </p:pic>
      <p:sp>
        <p:nvSpPr>
          <p:cNvPr id="482" name="Text 9"/>
          <p:cNvSpPr txBox="1"/>
          <p:nvPr/>
        </p:nvSpPr>
        <p:spPr>
          <a:xfrm>
            <a:off x="914399" y="3726224"/>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Ads Co-Pilot</a:t>
            </a:r>
          </a:p>
        </p:txBody>
      </p:sp>
      <p:pic>
        <p:nvPicPr>
          <p:cNvPr id="483" name="Image 5" descr="Image 5"/>
          <p:cNvPicPr>
            <a:picLocks noChangeAspect="1"/>
          </p:cNvPicPr>
          <p:nvPr/>
        </p:nvPicPr>
        <p:blipFill>
          <a:blip r:embed="rId2">
            <a:extLst/>
          </a:blip>
          <a:stretch>
            <a:fillRect/>
          </a:stretch>
        </p:blipFill>
        <p:spPr>
          <a:xfrm>
            <a:off x="640080" y="3977640"/>
            <a:ext cx="164593" cy="164593"/>
          </a:xfrm>
          <a:prstGeom prst="rect">
            <a:avLst/>
          </a:prstGeom>
          <a:ln w="12700">
            <a:miter lim="400000"/>
          </a:ln>
        </p:spPr>
      </p:pic>
      <p:sp>
        <p:nvSpPr>
          <p:cNvPr id="484" name="Text 10"/>
          <p:cNvSpPr txBox="1"/>
          <p:nvPr/>
        </p:nvSpPr>
        <p:spPr>
          <a:xfrm>
            <a:off x="914399" y="401883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Semantic layer maintenance</a:t>
            </a:r>
          </a:p>
        </p:txBody>
      </p:sp>
      <p:pic>
        <p:nvPicPr>
          <p:cNvPr id="485" name="Image 6" descr="Image 6"/>
          <p:cNvPicPr>
            <a:picLocks noChangeAspect="1"/>
          </p:cNvPicPr>
          <p:nvPr/>
        </p:nvPicPr>
        <p:blipFill>
          <a:blip r:embed="rId2">
            <a:extLst/>
          </a:blip>
          <a:stretch>
            <a:fillRect/>
          </a:stretch>
        </p:blipFill>
        <p:spPr>
          <a:xfrm>
            <a:off x="640080" y="4270247"/>
            <a:ext cx="164593" cy="164593"/>
          </a:xfrm>
          <a:prstGeom prst="rect">
            <a:avLst/>
          </a:prstGeom>
          <a:ln w="12700">
            <a:miter lim="400000"/>
          </a:ln>
        </p:spPr>
      </p:pic>
      <p:sp>
        <p:nvSpPr>
          <p:cNvPr id="486" name="Text 11"/>
          <p:cNvSpPr txBox="1"/>
          <p:nvPr/>
        </p:nvSpPr>
        <p:spPr>
          <a:xfrm>
            <a:off x="914399" y="4311440"/>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Quarterly business reviews</a:t>
            </a:r>
          </a:p>
        </p:txBody>
      </p:sp>
      <p:sp>
        <p:nvSpPr>
          <p:cNvPr id="487" name="Shape 12"/>
          <p:cNvSpPr/>
          <p:nvPr/>
        </p:nvSpPr>
        <p:spPr>
          <a:xfrm>
            <a:off x="4754879" y="1691639"/>
            <a:ext cx="3931921" cy="3017522"/>
          </a:xfrm>
          <a:prstGeom prst="rect">
            <a:avLst/>
          </a:prstGeom>
          <a:solidFill>
            <a:srgbClr val="FFFFFF"/>
          </a:solidFill>
          <a:ln w="12700">
            <a:miter lim="400000"/>
          </a:ln>
          <a:effectLst>
            <a:outerShdw sx="100000" sy="100000" kx="0" ky="0" algn="b" rotWithShape="0" blurRad="76200" dist="25400" dir="8100000">
              <a:srgbClr val="000000">
                <a:alpha val="8000"/>
              </a:srgbClr>
            </a:outerShdw>
          </a:effectLst>
        </p:spPr>
        <p:txBody>
          <a:bodyPr lIns="45718" tIns="45718" rIns="45718" bIns="45718"/>
          <a:lstStyle/>
          <a:p>
            <a:pPr/>
          </a:p>
        </p:txBody>
      </p:sp>
      <p:sp>
        <p:nvSpPr>
          <p:cNvPr id="488" name="Shape 13"/>
          <p:cNvSpPr/>
          <p:nvPr/>
        </p:nvSpPr>
        <p:spPr>
          <a:xfrm>
            <a:off x="4754879" y="1691639"/>
            <a:ext cx="3931921" cy="45721"/>
          </a:xfrm>
          <a:prstGeom prst="rect">
            <a:avLst/>
          </a:prstGeom>
          <a:solidFill>
            <a:srgbClr val="2A8A8A"/>
          </a:solidFill>
          <a:ln w="12700">
            <a:miter lim="400000"/>
          </a:ln>
        </p:spPr>
        <p:txBody>
          <a:bodyPr lIns="45718" tIns="45718" rIns="45718" bIns="45718"/>
          <a:lstStyle/>
          <a:p>
            <a:pPr/>
          </a:p>
        </p:txBody>
      </p:sp>
      <p:sp>
        <p:nvSpPr>
          <p:cNvPr id="489" name="Text 14"/>
          <p:cNvSpPr txBox="1"/>
          <p:nvPr/>
        </p:nvSpPr>
        <p:spPr>
          <a:xfrm>
            <a:off x="4937759" y="1924322"/>
            <a:ext cx="3566160" cy="4033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20000"/>
              </a:lnSpc>
              <a:defRPr b="1" sz="1300">
                <a:solidFill>
                  <a:srgbClr val="2A8A8A"/>
                </a:solidFill>
              </a:defRPr>
            </a:pPr>
            <a:r>
              <a:t>Model Maintenance</a:t>
            </a:r>
          </a:p>
          <a:p>
            <a:pPr>
              <a:lnSpc>
                <a:spcPct val="120000"/>
              </a:lnSpc>
              <a:defRPr b="1" sz="1300">
                <a:solidFill>
                  <a:srgbClr val="2A8A8A"/>
                </a:solidFill>
              </a:defRPr>
            </a:pPr>
            <a:r>
              <a:t>Retainer</a:t>
            </a:r>
          </a:p>
        </p:txBody>
      </p:sp>
      <p:pic>
        <p:nvPicPr>
          <p:cNvPr id="490" name="Image 7" descr="Image 7"/>
          <p:cNvPicPr>
            <a:picLocks noChangeAspect="1"/>
          </p:cNvPicPr>
          <p:nvPr/>
        </p:nvPicPr>
        <p:blipFill>
          <a:blip r:embed="rId3">
            <a:extLst/>
          </a:blip>
          <a:stretch>
            <a:fillRect/>
          </a:stretch>
        </p:blipFill>
        <p:spPr>
          <a:xfrm>
            <a:off x="4937759" y="2514600"/>
            <a:ext cx="164593" cy="164593"/>
          </a:xfrm>
          <a:prstGeom prst="rect">
            <a:avLst/>
          </a:prstGeom>
          <a:ln w="12700">
            <a:miter lim="400000"/>
          </a:ln>
        </p:spPr>
      </p:pic>
      <p:sp>
        <p:nvSpPr>
          <p:cNvPr id="491" name="Text 15"/>
          <p:cNvSpPr txBox="1"/>
          <p:nvPr/>
        </p:nvSpPr>
        <p:spPr>
          <a:xfrm>
            <a:off x="5212079" y="2574080"/>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Monthly pLTV performance monitoring</a:t>
            </a:r>
          </a:p>
        </p:txBody>
      </p:sp>
      <p:pic>
        <p:nvPicPr>
          <p:cNvPr id="492" name="Image 8" descr="Image 8"/>
          <p:cNvPicPr>
            <a:picLocks noChangeAspect="1"/>
          </p:cNvPicPr>
          <p:nvPr/>
        </p:nvPicPr>
        <p:blipFill>
          <a:blip r:embed="rId3">
            <a:extLst/>
          </a:blip>
          <a:stretch>
            <a:fillRect/>
          </a:stretch>
        </p:blipFill>
        <p:spPr>
          <a:xfrm>
            <a:off x="4937759" y="2862072"/>
            <a:ext cx="164593" cy="164593"/>
          </a:xfrm>
          <a:prstGeom prst="rect">
            <a:avLst/>
          </a:prstGeom>
          <a:ln w="12700">
            <a:miter lim="400000"/>
          </a:ln>
        </p:spPr>
      </p:pic>
      <p:sp>
        <p:nvSpPr>
          <p:cNvPr id="493" name="Text 16"/>
          <p:cNvSpPr txBox="1"/>
          <p:nvPr/>
        </p:nvSpPr>
        <p:spPr>
          <a:xfrm>
            <a:off x="5212079" y="2921552"/>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Quarterly model retraining</a:t>
            </a:r>
          </a:p>
        </p:txBody>
      </p:sp>
      <p:pic>
        <p:nvPicPr>
          <p:cNvPr id="494" name="Image 9" descr="Image 9"/>
          <p:cNvPicPr>
            <a:picLocks noChangeAspect="1"/>
          </p:cNvPicPr>
          <p:nvPr/>
        </p:nvPicPr>
        <p:blipFill>
          <a:blip r:embed="rId3">
            <a:extLst/>
          </a:blip>
          <a:stretch>
            <a:fillRect/>
          </a:stretch>
        </p:blipFill>
        <p:spPr>
          <a:xfrm>
            <a:off x="4937759" y="3209544"/>
            <a:ext cx="164593" cy="164593"/>
          </a:xfrm>
          <a:prstGeom prst="rect">
            <a:avLst/>
          </a:prstGeom>
          <a:ln w="12700">
            <a:miter lim="400000"/>
          </a:ln>
        </p:spPr>
      </p:pic>
      <p:sp>
        <p:nvSpPr>
          <p:cNvPr id="495" name="Text 17"/>
          <p:cNvSpPr txBox="1"/>
          <p:nvPr/>
        </p:nvSpPr>
        <p:spPr>
          <a:xfrm>
            <a:off x="5212079" y="3269024"/>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CTV recalibration</a:t>
            </a:r>
          </a:p>
        </p:txBody>
      </p:sp>
      <p:pic>
        <p:nvPicPr>
          <p:cNvPr id="496" name="Image 10" descr="Image 10"/>
          <p:cNvPicPr>
            <a:picLocks noChangeAspect="1"/>
          </p:cNvPicPr>
          <p:nvPr/>
        </p:nvPicPr>
        <p:blipFill>
          <a:blip r:embed="rId3">
            <a:extLst/>
          </a:blip>
          <a:stretch>
            <a:fillRect/>
          </a:stretch>
        </p:blipFill>
        <p:spPr>
          <a:xfrm>
            <a:off x="4937759" y="3557015"/>
            <a:ext cx="164593" cy="164593"/>
          </a:xfrm>
          <a:prstGeom prst="rect">
            <a:avLst/>
          </a:prstGeom>
          <a:ln w="12700">
            <a:miter lim="400000"/>
          </a:ln>
        </p:spPr>
      </p:pic>
      <p:sp>
        <p:nvSpPr>
          <p:cNvPr id="497" name="Text 18"/>
          <p:cNvSpPr txBox="1"/>
          <p:nvPr/>
        </p:nvSpPr>
        <p:spPr>
          <a:xfrm>
            <a:off x="5212079" y="3616496"/>
            <a:ext cx="329184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000">
                <a:solidFill>
                  <a:srgbClr val="3D4F63"/>
                </a:solidFill>
              </a:defRPr>
            </a:lvl1pPr>
          </a:lstStyle>
          <a:p>
            <a:pPr/>
            <a:r>
              <a:t>Written monthly performance report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