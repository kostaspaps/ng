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9" r:id="rId11"/>
    <p:sldId id="260" r:id="rId12"/>
    <p:sldId id="261" r:id="rId13"/>
    <p:sldId id="262" r:id="rId14"/>
    <p:sldId id="264" r:id="rId16"/>
    <p:sldId id="265" r:id="rId17"/>
    <p:sldId id="266" r:id="rId18"/>
    <p:sldId id="258" r:id="rId10"/>
    <p:sldId id="263" r:id="rId15"/>
  </p:sldIdLst>
  <p:sldSz cx="9144000" cy="51435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standalone='yes'?>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7" name="Shape 17"/>
          <p:cNvSpPr/>
          <p:nvPr>
            <p:ph type="sldImg"/>
          </p:nvPr>
        </p:nvSpPr>
        <p:spPr>
          <a:xfrm>
            <a:off x="1143000" y="685800"/>
            <a:ext cx="4572000" cy="3429000"/>
          </a:xfrm>
          <a:prstGeom prst="rect">
            <a:avLst/>
          </a:prstGeom>
        </p:spPr>
        <p:txBody>
          <a:bodyPr/>
          <a:lstStyle/>
          <a:p>
            <a:pPr/>
          </a:p>
        </p:txBody>
      </p:sp>
      <p:sp>
        <p:nvSpPr>
          <p:cNvPr id="18" name="Shape 18"/>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Calibri"/>
      </a:defRPr>
    </a:lvl1pPr>
    <a:lvl2pPr indent="228600" latinLnBrk="0">
      <a:defRPr sz="1200">
        <a:latin typeface="+mn-lt"/>
        <a:ea typeface="+mn-ea"/>
        <a:cs typeface="+mn-cs"/>
        <a:sym typeface="Calibri"/>
      </a:defRPr>
    </a:lvl2pPr>
    <a:lvl3pPr indent="457200" latinLnBrk="0">
      <a:defRPr sz="1200">
        <a:latin typeface="+mn-lt"/>
        <a:ea typeface="+mn-ea"/>
        <a:cs typeface="+mn-cs"/>
        <a:sym typeface="Calibri"/>
      </a:defRPr>
    </a:lvl3pPr>
    <a:lvl4pPr indent="685800" latinLnBrk="0">
      <a:defRPr sz="1200">
        <a:latin typeface="+mn-lt"/>
        <a:ea typeface="+mn-ea"/>
        <a:cs typeface="+mn-cs"/>
        <a:sym typeface="Calibri"/>
      </a:defRPr>
    </a:lvl4pPr>
    <a:lvl5pPr indent="914400" latinLnBrk="0">
      <a:defRPr sz="1200">
        <a:latin typeface="+mn-lt"/>
        <a:ea typeface="+mn-ea"/>
        <a:cs typeface="+mn-cs"/>
        <a:sym typeface="Calibri"/>
      </a:defRPr>
    </a:lvl5pPr>
    <a:lvl6pPr indent="1143000" latinLnBrk="0">
      <a:defRPr sz="1200">
        <a:latin typeface="+mn-lt"/>
        <a:ea typeface="+mn-ea"/>
        <a:cs typeface="+mn-cs"/>
        <a:sym typeface="Calibri"/>
      </a:defRPr>
    </a:lvl6pPr>
    <a:lvl7pPr indent="1371600" latinLnBrk="0">
      <a:defRPr sz="1200">
        <a:latin typeface="+mn-lt"/>
        <a:ea typeface="+mn-ea"/>
        <a:cs typeface="+mn-cs"/>
        <a:sym typeface="Calibri"/>
      </a:defRPr>
    </a:lvl7pPr>
    <a:lvl8pPr indent="1600200" latinLnBrk="0">
      <a:defRPr sz="1200">
        <a:latin typeface="+mn-lt"/>
        <a:ea typeface="+mn-ea"/>
        <a:cs typeface="+mn-cs"/>
        <a:sym typeface="Calibri"/>
      </a:defRPr>
    </a:lvl8pPr>
    <a:lvl9pPr indent="1828800" latinLnBrk="0">
      <a:defRPr sz="1200">
        <a:latin typeface="+mn-lt"/>
        <a:ea typeface="+mn-ea"/>
        <a:cs typeface="+mn-cs"/>
        <a:sym typeface="Calibri"/>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457200" y="69056"/>
            <a:ext cx="8229600" cy="1131094"/>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Title Text</a:t>
            </a:r>
          </a:p>
        </p:txBody>
      </p:sp>
      <p:sp>
        <p:nvSpPr>
          <p:cNvPr id="3" name="Body Level One…"/>
          <p:cNvSpPr txBox="1"/>
          <p:nvPr>
            <p:ph type="body" idx="1"/>
          </p:nvPr>
        </p:nvSpPr>
        <p:spPr>
          <a:xfrm>
            <a:off x="457200" y="1200150"/>
            <a:ext cx="8229600" cy="3943350"/>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4419600" y="4627562"/>
            <a:ext cx="2133600" cy="279401"/>
          </a:xfrm>
          <a:prstGeom prst="rect">
            <a:avLst/>
          </a:prstGeom>
          <a:ln w="12700">
            <a:miter lim="400000"/>
          </a:ln>
        </p:spPr>
        <p:txBody>
          <a:bodyPr wrap="none" lIns="45719" rIns="45719" anchor="ctr">
            <a:spAutoFit/>
          </a:bodyPr>
          <a:lstStyle>
            <a:lvl1pPr algn="r">
              <a:defRPr sz="12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image" Target="../media/image3.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openxmlformats.org/officeDocument/2006/relationships/image" Target="../media/image3.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A2332"/>
        </a:solidFill>
      </p:bgPr>
    </p:bg>
    <p:spTree>
      <p:nvGrpSpPr>
        <p:cNvPr id="1" name=""/>
        <p:cNvGrpSpPr/>
        <p:nvPr/>
      </p:nvGrpSpPr>
      <p:grpSpPr>
        <a:xfrm>
          <a:off x="0" y="0"/>
          <a:ext cx="0" cy="0"/>
          <a:chOff x="0" y="0"/>
          <a:chExt cx="0" cy="0"/>
        </a:xfrm>
      </p:grpSpPr>
      <p:pic>
        <p:nvPicPr>
          <p:cNvPr id="20" name="Image 0" descr="Image 0"/>
          <p:cNvPicPr>
            <a:picLocks noChangeAspect="1"/>
          </p:cNvPicPr>
          <p:nvPr/>
        </p:nvPicPr>
        <p:blipFill>
          <a:blip r:embed="rId2">
            <a:extLst/>
          </a:blip>
          <a:stretch>
            <a:fillRect/>
          </a:stretch>
        </p:blipFill>
        <p:spPr>
          <a:xfrm>
            <a:off x="731519" y="822960"/>
            <a:ext cx="1005841" cy="1005840"/>
          </a:xfrm>
          <a:prstGeom prst="rect">
            <a:avLst/>
          </a:prstGeom>
          <a:ln w="12700">
            <a:miter lim="400000"/>
          </a:ln>
        </p:spPr>
      </p:pic>
      <p:sp>
        <p:nvSpPr>
          <p:cNvPr id="21" name="Text 0"/>
          <p:cNvSpPr txBox="1"/>
          <p:nvPr/>
        </p:nvSpPr>
        <p:spPr>
          <a:xfrm>
            <a:off x="731519" y="2129790"/>
            <a:ext cx="7315201" cy="122682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10000"/>
              </a:lnSpc>
              <a:defRPr b="1" sz="4000">
                <a:solidFill>
                  <a:srgbClr val="FFFFFF"/>
                </a:solidFill>
                <a:latin typeface="Georgia"/>
                <a:ea typeface="Georgia"/>
                <a:cs typeface="Georgia"/>
                <a:sym typeface="Georgia"/>
              </a:defRPr>
            </a:pPr>
            <a:r>
              <a:t>Protect your return</a:t>
            </a:r>
          </a:p>
          <a:p>
            <a:pPr>
              <a:lnSpc>
                <a:spcPct val="110000"/>
              </a:lnSpc>
              <a:defRPr b="1" sz="4000">
                <a:solidFill>
                  <a:srgbClr val="FFFFFF"/>
                </a:solidFill>
                <a:latin typeface="Georgia"/>
                <a:ea typeface="Georgia"/>
                <a:cs typeface="Georgia"/>
                <a:sym typeface="Georgia"/>
              </a:defRPr>
            </a:pPr>
            <a:r>
              <a:t>on ad spend.</a:t>
            </a:r>
          </a:p>
        </p:txBody>
      </p:sp>
      <p:sp>
        <p:nvSpPr>
          <p:cNvPr id="22" name="Text 1"/>
          <p:cNvSpPr txBox="1"/>
          <p:nvPr/>
        </p:nvSpPr>
        <p:spPr>
          <a:xfrm>
            <a:off x="731519" y="3624336"/>
            <a:ext cx="6858001" cy="79804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40000"/>
              </a:lnSpc>
              <a:defRPr sz="1400">
                <a:solidFill>
                  <a:srgbClr val="8895A7"/>
                </a:solidFill>
              </a:defRPr>
            </a:pPr>
            <a:r>
              <a:t>A single view of attribution, spend, and revenue at device level.</a:t>
            </a:r>
          </a:p>
          <a:p>
            <a:pPr>
              <a:lnSpc>
                <a:spcPct val="140000"/>
              </a:lnSpc>
              <a:defRPr sz="1400">
                <a:solidFill>
                  <a:srgbClr val="8895A7"/>
                </a:solidFill>
              </a:defRPr>
            </a:pPr>
            <a:r>
              <a:t>AI agents find where you're wasting budget, explain why,</a:t>
            </a:r>
          </a:p>
          <a:p>
            <a:pPr>
              <a:lnSpc>
                <a:spcPct val="140000"/>
              </a:lnSpc>
              <a:defRPr sz="1400">
                <a:solidFill>
                  <a:srgbClr val="8895A7"/>
                </a:solidFill>
              </a:defRPr>
            </a:pPr>
            <a:r>
              <a:t>and tell you where to act next.</a:t>
            </a:r>
          </a:p>
        </p:txBody>
      </p:sp>
      <p:sp>
        <p:nvSpPr>
          <p:cNvPr id="23" name="Shape 2"/>
          <p:cNvSpPr/>
          <p:nvPr/>
        </p:nvSpPr>
        <p:spPr>
          <a:xfrm>
            <a:off x="0" y="4892040"/>
            <a:ext cx="9144000" cy="251460"/>
          </a:xfrm>
          <a:prstGeom prst="rect">
            <a:avLst/>
          </a:prstGeom>
          <a:solidFill>
            <a:srgbClr val="2A8A8A"/>
          </a:solidFill>
          <a:ln w="12700">
            <a:miter lim="400000"/>
          </a:ln>
        </p:spPr>
        <p:txBody>
          <a:bodyPr lIns="45719" rIns="45719"/>
          <a:lstStyle/>
          <a:p>
            <a:pP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7F9FB"/>
        </a:solidFill>
      </p:bgPr>
    </p:bg>
    <p:spTree>
      <p:nvGrpSpPr>
        <p:cNvPr id="1" name=""/>
        <p:cNvGrpSpPr/>
        <p:nvPr/>
      </p:nvGrpSpPr>
      <p:grpSpPr>
        <a:xfrm>
          <a:off x="0" y="0"/>
          <a:ext cx="0" cy="0"/>
          <a:chOff x="0" y="0"/>
          <a:chExt cx="0" cy="0"/>
        </a:xfrm>
      </p:grpSpPr>
      <p:sp>
        <p:nvSpPr>
          <p:cNvPr id="25" name="Text 0"/>
          <p:cNvSpPr txBox="1"/>
          <p:nvPr/>
        </p:nvSpPr>
        <p:spPr>
          <a:xfrm>
            <a:off x="731519" y="458646"/>
            <a:ext cx="457200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300" sz="1100">
                <a:solidFill>
                  <a:srgbClr val="2A8A8A"/>
                </a:solidFill>
              </a:defRPr>
            </a:lvl1pPr>
          </a:lstStyle>
          <a:p>
            <a:pPr/>
            <a:r>
              <a:t>THE PROBLEM</a:t>
            </a:r>
          </a:p>
        </p:txBody>
      </p:sp>
      <p:sp>
        <p:nvSpPr>
          <p:cNvPr id="26" name="Text 1"/>
          <p:cNvSpPr txBox="1"/>
          <p:nvPr/>
        </p:nvSpPr>
        <p:spPr>
          <a:xfrm>
            <a:off x="731520" y="797559"/>
            <a:ext cx="7680960" cy="87376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15000"/>
              </a:lnSpc>
              <a:defRPr b="1" sz="2800">
                <a:solidFill>
                  <a:srgbClr val="1A2332"/>
                </a:solidFill>
                <a:latin typeface="Georgia"/>
                <a:ea typeface="Georgia"/>
                <a:cs typeface="Georgia"/>
                <a:sym typeface="Georgia"/>
              </a:defRPr>
            </a:pPr>
            <a:r>
              <a:t>Every day you can't see where budget</a:t>
            </a:r>
          </a:p>
          <a:p>
            <a:pPr>
              <a:lnSpc>
                <a:spcPct val="115000"/>
              </a:lnSpc>
              <a:defRPr b="1" sz="2800">
                <a:solidFill>
                  <a:srgbClr val="1A2332"/>
                </a:solidFill>
                <a:latin typeface="Georgia"/>
                <a:ea typeface="Georgia"/>
                <a:cs typeface="Georgia"/>
                <a:sym typeface="Georgia"/>
              </a:defRPr>
            </a:pPr>
            <a:r>
              <a:t>is leaking, you're paying for it.</a:t>
            </a:r>
          </a:p>
        </p:txBody>
      </p:sp>
      <p:sp>
        <p:nvSpPr>
          <p:cNvPr id="27" name="Text 2"/>
          <p:cNvSpPr txBox="1"/>
          <p:nvPr/>
        </p:nvSpPr>
        <p:spPr>
          <a:xfrm>
            <a:off x="731520" y="1870318"/>
            <a:ext cx="7680960" cy="73992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50000"/>
              </a:lnSpc>
              <a:defRPr sz="1300">
                <a:solidFill>
                  <a:srgbClr val="3D4F63"/>
                </a:solidFill>
              </a:defRPr>
            </a:lvl1pPr>
          </a:lstStyle>
          <a:p>
            <a:pPr/>
            <a:r>
              <a:t>Mobile growth teams run campaigns across a dozen channels but rarely have a unified view of what's actually working at device level. Attribution data lives in one place, spend data in another, revenue in a third. By the time someone pulls it all together, the waste has already happened.</a:t>
            </a:r>
          </a:p>
        </p:txBody>
      </p:sp>
      <p:sp>
        <p:nvSpPr>
          <p:cNvPr id="28" name="Shape 3"/>
          <p:cNvSpPr/>
          <p:nvPr/>
        </p:nvSpPr>
        <p:spPr>
          <a:xfrm>
            <a:off x="731519" y="2926079"/>
            <a:ext cx="2468882" cy="1645921"/>
          </a:xfrm>
          <a:prstGeom prst="rect">
            <a:avLst/>
          </a:prstGeom>
          <a:solidFill>
            <a:srgbClr val="FFFFFF"/>
          </a:solidFill>
          <a:ln w="12700">
            <a:miter lim="400000"/>
          </a:ln>
          <a:effectLst>
            <a:outerShdw sx="100000" sy="100000" kx="0" ky="0" algn="b" rotWithShape="0" blurRad="76200" dist="25400" dir="8100000">
              <a:srgbClr val="000000">
                <a:alpha val="8000"/>
              </a:srgbClr>
            </a:outerShdw>
          </a:effectLst>
        </p:spPr>
        <p:txBody>
          <a:bodyPr lIns="45719" rIns="45719"/>
          <a:lstStyle/>
          <a:p>
            <a:pPr/>
          </a:p>
        </p:txBody>
      </p:sp>
      <p:sp>
        <p:nvSpPr>
          <p:cNvPr id="29" name="Text 4"/>
          <p:cNvSpPr txBox="1"/>
          <p:nvPr/>
        </p:nvSpPr>
        <p:spPr>
          <a:xfrm>
            <a:off x="731519" y="3122929"/>
            <a:ext cx="2468882" cy="520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3600">
                <a:solidFill>
                  <a:srgbClr val="2A8A8A"/>
                </a:solidFill>
                <a:latin typeface="Georgia"/>
                <a:ea typeface="Georgia"/>
                <a:cs typeface="Georgia"/>
                <a:sym typeface="Georgia"/>
              </a:defRPr>
            </a:lvl1pPr>
          </a:lstStyle>
          <a:p>
            <a:pPr/>
            <a:r>
              <a:t>30%+</a:t>
            </a:r>
          </a:p>
        </p:txBody>
      </p:sp>
      <p:sp>
        <p:nvSpPr>
          <p:cNvPr id="30" name="Text 5"/>
          <p:cNvSpPr txBox="1"/>
          <p:nvPr/>
        </p:nvSpPr>
        <p:spPr>
          <a:xfrm>
            <a:off x="731519" y="3892542"/>
            <a:ext cx="2468882" cy="35307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lnSpc>
                <a:spcPct val="140000"/>
              </a:lnSpc>
              <a:defRPr sz="1100">
                <a:solidFill>
                  <a:srgbClr val="3D4F63"/>
                </a:solidFill>
              </a:defRPr>
            </a:pPr>
            <a:r>
              <a:t>of ad budgets spent</a:t>
            </a:r>
          </a:p>
          <a:p>
            <a:pPr algn="ctr">
              <a:lnSpc>
                <a:spcPct val="140000"/>
              </a:lnSpc>
              <a:defRPr sz="1100">
                <a:solidFill>
                  <a:srgbClr val="3D4F63"/>
                </a:solidFill>
              </a:defRPr>
            </a:pPr>
            <a:r>
              <a:t>without clear attribution</a:t>
            </a:r>
          </a:p>
        </p:txBody>
      </p:sp>
      <p:sp>
        <p:nvSpPr>
          <p:cNvPr id="31" name="Shape 6"/>
          <p:cNvSpPr/>
          <p:nvPr/>
        </p:nvSpPr>
        <p:spPr>
          <a:xfrm>
            <a:off x="3474720" y="2926079"/>
            <a:ext cx="2468881" cy="1645921"/>
          </a:xfrm>
          <a:prstGeom prst="rect">
            <a:avLst/>
          </a:prstGeom>
          <a:solidFill>
            <a:srgbClr val="FFFFFF"/>
          </a:solidFill>
          <a:ln w="12700">
            <a:miter lim="400000"/>
          </a:ln>
          <a:effectLst>
            <a:outerShdw sx="100000" sy="100000" kx="0" ky="0" algn="b" rotWithShape="0" blurRad="76200" dist="25400" dir="8100000">
              <a:srgbClr val="000000">
                <a:alpha val="8000"/>
              </a:srgbClr>
            </a:outerShdw>
          </a:effectLst>
        </p:spPr>
        <p:txBody>
          <a:bodyPr lIns="45719" rIns="45719"/>
          <a:lstStyle/>
          <a:p>
            <a:pPr/>
          </a:p>
        </p:txBody>
      </p:sp>
      <p:sp>
        <p:nvSpPr>
          <p:cNvPr id="32" name="Text 7"/>
          <p:cNvSpPr txBox="1"/>
          <p:nvPr/>
        </p:nvSpPr>
        <p:spPr>
          <a:xfrm>
            <a:off x="3474720" y="3122929"/>
            <a:ext cx="2468881" cy="520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3600">
                <a:solidFill>
                  <a:srgbClr val="2A8A8A"/>
                </a:solidFill>
                <a:latin typeface="Georgia"/>
                <a:ea typeface="Georgia"/>
                <a:cs typeface="Georgia"/>
                <a:sym typeface="Georgia"/>
              </a:defRPr>
            </a:lvl1pPr>
          </a:lstStyle>
          <a:p>
            <a:pPr/>
            <a:r>
              <a:t>6+</a:t>
            </a:r>
          </a:p>
        </p:txBody>
      </p:sp>
      <p:sp>
        <p:nvSpPr>
          <p:cNvPr id="33" name="Text 8"/>
          <p:cNvSpPr txBox="1"/>
          <p:nvPr/>
        </p:nvSpPr>
        <p:spPr>
          <a:xfrm>
            <a:off x="3474720" y="3892542"/>
            <a:ext cx="2468881" cy="35307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lnSpc>
                <a:spcPct val="140000"/>
              </a:lnSpc>
              <a:defRPr sz="1100">
                <a:solidFill>
                  <a:srgbClr val="3D4F63"/>
                </a:solidFill>
              </a:defRPr>
            </a:pPr>
            <a:r>
              <a:t>platforms with no unified</a:t>
            </a:r>
          </a:p>
          <a:p>
            <a:pPr algn="ctr">
              <a:lnSpc>
                <a:spcPct val="140000"/>
              </a:lnSpc>
              <a:defRPr sz="1100">
                <a:solidFill>
                  <a:srgbClr val="3D4F63"/>
                </a:solidFill>
              </a:defRPr>
            </a:pPr>
            <a:r>
              <a:t>device-level view</a:t>
            </a:r>
          </a:p>
        </p:txBody>
      </p:sp>
      <p:sp>
        <p:nvSpPr>
          <p:cNvPr id="34" name="Shape 9"/>
          <p:cNvSpPr/>
          <p:nvPr/>
        </p:nvSpPr>
        <p:spPr>
          <a:xfrm>
            <a:off x="6217920" y="2926079"/>
            <a:ext cx="2468881" cy="1645921"/>
          </a:xfrm>
          <a:prstGeom prst="rect">
            <a:avLst/>
          </a:prstGeom>
          <a:solidFill>
            <a:srgbClr val="FFFFFF"/>
          </a:solidFill>
          <a:ln w="12700">
            <a:miter lim="400000"/>
          </a:ln>
          <a:effectLst>
            <a:outerShdw sx="100000" sy="100000" kx="0" ky="0" algn="b" rotWithShape="0" blurRad="76200" dist="25400" dir="8100000">
              <a:srgbClr val="000000">
                <a:alpha val="8000"/>
              </a:srgbClr>
            </a:outerShdw>
          </a:effectLst>
        </p:spPr>
        <p:txBody>
          <a:bodyPr lIns="45719" rIns="45719"/>
          <a:lstStyle/>
          <a:p>
            <a:pPr/>
          </a:p>
        </p:txBody>
      </p:sp>
      <p:sp>
        <p:nvSpPr>
          <p:cNvPr id="35" name="Text 10"/>
          <p:cNvSpPr txBox="1"/>
          <p:nvPr/>
        </p:nvSpPr>
        <p:spPr>
          <a:xfrm>
            <a:off x="6217920" y="3122929"/>
            <a:ext cx="2468881" cy="520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3600">
                <a:solidFill>
                  <a:srgbClr val="2A8A8A"/>
                </a:solidFill>
                <a:latin typeface="Georgia"/>
                <a:ea typeface="Georgia"/>
                <a:cs typeface="Georgia"/>
                <a:sym typeface="Georgia"/>
              </a:defRPr>
            </a:lvl1pPr>
          </a:lstStyle>
          <a:p>
            <a:pPr/>
            <a:r>
              <a:t>48hrs</a:t>
            </a:r>
          </a:p>
        </p:txBody>
      </p:sp>
      <p:sp>
        <p:nvSpPr>
          <p:cNvPr id="36" name="Text 11"/>
          <p:cNvSpPr txBox="1"/>
          <p:nvPr/>
        </p:nvSpPr>
        <p:spPr>
          <a:xfrm>
            <a:off x="6217920" y="3892542"/>
            <a:ext cx="2468881" cy="35307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lnSpc>
                <a:spcPct val="140000"/>
              </a:lnSpc>
              <a:defRPr sz="1100">
                <a:solidFill>
                  <a:srgbClr val="3D4F63"/>
                </a:solidFill>
              </a:defRPr>
            </a:pPr>
            <a:r>
              <a:t>of budget burning before</a:t>
            </a:r>
          </a:p>
          <a:p>
            <a:pPr algn="ctr">
              <a:lnSpc>
                <a:spcPct val="140000"/>
              </a:lnSpc>
              <a:defRPr sz="1100">
                <a:solidFill>
                  <a:srgbClr val="3D4F63"/>
                </a:solidFill>
              </a:defRPr>
            </a:pPr>
            <a:r>
              <a:t>anyone notices</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A2332"/>
        </a:solidFill>
      </p:bgPr>
    </p:bg>
    <p:spTree>
      <p:nvGrpSpPr>
        <p:cNvPr id="1" name=""/>
        <p:cNvGrpSpPr/>
        <p:nvPr/>
      </p:nvGrpSpPr>
      <p:grpSpPr>
        <a:xfrm>
          <a:off x="0" y="0"/>
          <a:ext cx="0" cy="0"/>
          <a:chOff x="0" y="0"/>
          <a:chExt cx="0" cy="0"/>
        </a:xfrm>
      </p:grpSpPr>
      <p:sp>
        <p:nvSpPr>
          <p:cNvPr id="38" name="Text 0"/>
          <p:cNvSpPr txBox="1"/>
          <p:nvPr/>
        </p:nvSpPr>
        <p:spPr>
          <a:xfrm>
            <a:off x="731519" y="458646"/>
            <a:ext cx="457200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300" sz="1100">
                <a:solidFill>
                  <a:srgbClr val="3AADAD"/>
                </a:solidFill>
              </a:defRPr>
            </a:lvl1pPr>
          </a:lstStyle>
          <a:p>
            <a:pPr/>
            <a:r>
              <a:t>THE SOLUTION</a:t>
            </a:r>
          </a:p>
        </p:txBody>
      </p:sp>
      <p:sp>
        <p:nvSpPr>
          <p:cNvPr id="39" name="Text 1"/>
          <p:cNvSpPr txBox="1"/>
          <p:nvPr/>
        </p:nvSpPr>
        <p:spPr>
          <a:xfrm>
            <a:off x="731520" y="756602"/>
            <a:ext cx="7680960" cy="95567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15000"/>
              </a:lnSpc>
              <a:defRPr b="1" sz="3000">
                <a:solidFill>
                  <a:srgbClr val="FFFFFF"/>
                </a:solidFill>
                <a:latin typeface="Georgia"/>
                <a:ea typeface="Georgia"/>
                <a:cs typeface="Georgia"/>
                <a:sym typeface="Georgia"/>
              </a:defRPr>
            </a:pPr>
            <a:r>
              <a:t>A context layer for</a:t>
            </a:r>
          </a:p>
          <a:p>
            <a:pPr>
              <a:lnSpc>
                <a:spcPct val="115000"/>
              </a:lnSpc>
              <a:defRPr b="1" sz="3000">
                <a:solidFill>
                  <a:srgbClr val="FFFFFF"/>
                </a:solidFill>
                <a:latin typeface="Georgia"/>
                <a:ea typeface="Georgia"/>
                <a:cs typeface="Georgia"/>
                <a:sym typeface="Georgia"/>
              </a:defRPr>
            </a:pPr>
            <a:r>
              <a:t>mobile marketing teams.</a:t>
            </a:r>
          </a:p>
        </p:txBody>
      </p:sp>
      <p:sp>
        <p:nvSpPr>
          <p:cNvPr id="40" name="Shape 2"/>
          <p:cNvSpPr/>
          <p:nvPr/>
        </p:nvSpPr>
        <p:spPr>
          <a:xfrm>
            <a:off x="457200" y="2011679"/>
            <a:ext cx="2377440" cy="2560321"/>
          </a:xfrm>
          <a:prstGeom prst="rect">
            <a:avLst/>
          </a:prstGeom>
          <a:solidFill>
            <a:srgbClr val="1F2D40"/>
          </a:solidFill>
          <a:ln w="12700">
            <a:miter lim="400000"/>
          </a:ln>
        </p:spPr>
        <p:txBody>
          <a:bodyPr lIns="45719" rIns="45719"/>
          <a:lstStyle/>
          <a:p>
            <a:pPr/>
          </a:p>
        </p:txBody>
      </p:sp>
      <p:sp>
        <p:nvSpPr>
          <p:cNvPr id="41" name="Text 3"/>
          <p:cNvSpPr txBox="1"/>
          <p:nvPr/>
        </p:nvSpPr>
        <p:spPr>
          <a:xfrm>
            <a:off x="457200" y="2194604"/>
            <a:ext cx="2377440"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pc="200" sz="1000">
                <a:solidFill>
                  <a:srgbClr val="3AADAD"/>
                </a:solidFill>
              </a:defRPr>
            </a:lvl1pPr>
          </a:lstStyle>
          <a:p>
            <a:pPr/>
            <a:r>
              <a:t>DATA SOURCES</a:t>
            </a:r>
          </a:p>
        </p:txBody>
      </p:sp>
      <p:sp>
        <p:nvSpPr>
          <p:cNvPr id="42" name="Shape 4"/>
          <p:cNvSpPr/>
          <p:nvPr/>
        </p:nvSpPr>
        <p:spPr>
          <a:xfrm>
            <a:off x="685800" y="2514600"/>
            <a:ext cx="1920240" cy="365761"/>
          </a:xfrm>
          <a:prstGeom prst="rect">
            <a:avLst/>
          </a:prstGeom>
          <a:solidFill>
            <a:srgbClr val="283A52"/>
          </a:solidFill>
          <a:ln w="12700">
            <a:miter lim="400000"/>
          </a:ln>
        </p:spPr>
        <p:txBody>
          <a:bodyPr lIns="45719" rIns="45719"/>
          <a:lstStyle/>
          <a:p>
            <a:pPr/>
          </a:p>
        </p:txBody>
      </p:sp>
      <p:sp>
        <p:nvSpPr>
          <p:cNvPr id="43" name="Text 5"/>
          <p:cNvSpPr txBox="1"/>
          <p:nvPr/>
        </p:nvSpPr>
        <p:spPr>
          <a:xfrm>
            <a:off x="685800" y="2630346"/>
            <a:ext cx="1920240"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8895A7"/>
                </a:solidFill>
              </a:defRPr>
            </a:lvl1pPr>
          </a:lstStyle>
          <a:p>
            <a:pPr/>
            <a:r>
              <a:t>Ad Networks</a:t>
            </a:r>
          </a:p>
        </p:txBody>
      </p:sp>
      <p:sp>
        <p:nvSpPr>
          <p:cNvPr id="44" name="Shape 6"/>
          <p:cNvSpPr/>
          <p:nvPr/>
        </p:nvSpPr>
        <p:spPr>
          <a:xfrm>
            <a:off x="685800" y="2990088"/>
            <a:ext cx="1920240" cy="365761"/>
          </a:xfrm>
          <a:prstGeom prst="rect">
            <a:avLst/>
          </a:prstGeom>
          <a:solidFill>
            <a:srgbClr val="283A52"/>
          </a:solidFill>
          <a:ln w="12700">
            <a:miter lim="400000"/>
          </a:ln>
        </p:spPr>
        <p:txBody>
          <a:bodyPr lIns="45719" rIns="45719"/>
          <a:lstStyle/>
          <a:p>
            <a:pPr/>
          </a:p>
        </p:txBody>
      </p:sp>
      <p:sp>
        <p:nvSpPr>
          <p:cNvPr id="45" name="Text 7"/>
          <p:cNvSpPr txBox="1"/>
          <p:nvPr/>
        </p:nvSpPr>
        <p:spPr>
          <a:xfrm>
            <a:off x="685800" y="3105834"/>
            <a:ext cx="1920240"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8895A7"/>
                </a:solidFill>
              </a:defRPr>
            </a:lvl1pPr>
          </a:lstStyle>
          <a:p>
            <a:pPr/>
            <a:r>
              <a:t>MMPs</a:t>
            </a:r>
          </a:p>
        </p:txBody>
      </p:sp>
      <p:sp>
        <p:nvSpPr>
          <p:cNvPr id="46" name="Shape 8"/>
          <p:cNvSpPr/>
          <p:nvPr/>
        </p:nvSpPr>
        <p:spPr>
          <a:xfrm>
            <a:off x="685800" y="3465576"/>
            <a:ext cx="1920240" cy="365761"/>
          </a:xfrm>
          <a:prstGeom prst="rect">
            <a:avLst/>
          </a:prstGeom>
          <a:solidFill>
            <a:srgbClr val="283A52"/>
          </a:solidFill>
          <a:ln w="12700">
            <a:miter lim="400000"/>
          </a:ln>
        </p:spPr>
        <p:txBody>
          <a:bodyPr lIns="45719" rIns="45719"/>
          <a:lstStyle/>
          <a:p>
            <a:pPr/>
          </a:p>
        </p:txBody>
      </p:sp>
      <p:sp>
        <p:nvSpPr>
          <p:cNvPr id="47" name="Text 9"/>
          <p:cNvSpPr txBox="1"/>
          <p:nvPr/>
        </p:nvSpPr>
        <p:spPr>
          <a:xfrm>
            <a:off x="685800" y="3581322"/>
            <a:ext cx="1920240"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8895A7"/>
                </a:solidFill>
              </a:defRPr>
            </a:lvl1pPr>
          </a:lstStyle>
          <a:p>
            <a:pPr/>
            <a:r>
              <a:t>Revenue Platforms</a:t>
            </a:r>
          </a:p>
        </p:txBody>
      </p:sp>
      <p:sp>
        <p:nvSpPr>
          <p:cNvPr id="48" name="Shape 10"/>
          <p:cNvSpPr/>
          <p:nvPr/>
        </p:nvSpPr>
        <p:spPr>
          <a:xfrm>
            <a:off x="685800" y="3941064"/>
            <a:ext cx="1920240" cy="365761"/>
          </a:xfrm>
          <a:prstGeom prst="rect">
            <a:avLst/>
          </a:prstGeom>
          <a:solidFill>
            <a:srgbClr val="283A52"/>
          </a:solidFill>
          <a:ln w="12700">
            <a:miter lim="400000"/>
          </a:ln>
        </p:spPr>
        <p:txBody>
          <a:bodyPr lIns="45719" rIns="45719"/>
          <a:lstStyle/>
          <a:p>
            <a:pPr/>
          </a:p>
        </p:txBody>
      </p:sp>
      <p:sp>
        <p:nvSpPr>
          <p:cNvPr id="49" name="Text 11"/>
          <p:cNvSpPr txBox="1"/>
          <p:nvPr/>
        </p:nvSpPr>
        <p:spPr>
          <a:xfrm>
            <a:off x="685800" y="4056810"/>
            <a:ext cx="1920240"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8895A7"/>
                </a:solidFill>
              </a:defRPr>
            </a:lvl1pPr>
          </a:lstStyle>
          <a:p>
            <a:pPr/>
            <a:r>
              <a:t>Analytics Tools</a:t>
            </a:r>
          </a:p>
        </p:txBody>
      </p:sp>
      <p:pic>
        <p:nvPicPr>
          <p:cNvPr id="50" name="Image 0" descr="Image 0"/>
          <p:cNvPicPr>
            <a:picLocks noChangeAspect="1"/>
          </p:cNvPicPr>
          <p:nvPr/>
        </p:nvPicPr>
        <p:blipFill>
          <a:blip r:embed="rId2">
            <a:extLst/>
          </a:blip>
          <a:stretch>
            <a:fillRect/>
          </a:stretch>
        </p:blipFill>
        <p:spPr>
          <a:xfrm>
            <a:off x="3017520" y="3017520"/>
            <a:ext cx="365761" cy="365761"/>
          </a:xfrm>
          <a:prstGeom prst="rect">
            <a:avLst/>
          </a:prstGeom>
          <a:ln w="12700">
            <a:miter lim="400000"/>
          </a:ln>
        </p:spPr>
      </p:pic>
      <p:sp>
        <p:nvSpPr>
          <p:cNvPr id="51" name="Shape 12"/>
          <p:cNvSpPr/>
          <p:nvPr/>
        </p:nvSpPr>
        <p:spPr>
          <a:xfrm>
            <a:off x="3566159" y="2011679"/>
            <a:ext cx="2377441" cy="2560321"/>
          </a:xfrm>
          <a:prstGeom prst="rect">
            <a:avLst/>
          </a:prstGeom>
          <a:solidFill>
            <a:srgbClr val="2A8A8A"/>
          </a:solidFill>
          <a:ln w="12700">
            <a:miter lim="400000"/>
          </a:ln>
        </p:spPr>
        <p:txBody>
          <a:bodyPr lIns="45719" rIns="45719"/>
          <a:lstStyle/>
          <a:p>
            <a:pPr/>
          </a:p>
        </p:txBody>
      </p:sp>
      <p:sp>
        <p:nvSpPr>
          <p:cNvPr id="52" name="Text 13"/>
          <p:cNvSpPr txBox="1"/>
          <p:nvPr/>
        </p:nvSpPr>
        <p:spPr>
          <a:xfrm>
            <a:off x="3566159" y="2355850"/>
            <a:ext cx="2377441"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2200">
                <a:solidFill>
                  <a:srgbClr val="FFFFFF"/>
                </a:solidFill>
                <a:latin typeface="Georgia"/>
                <a:ea typeface="Georgia"/>
                <a:cs typeface="Georgia"/>
                <a:sym typeface="Georgia"/>
              </a:defRPr>
            </a:lvl1pPr>
          </a:lstStyle>
          <a:p>
            <a:pPr/>
            <a:r>
              <a:t>SSOT</a:t>
            </a:r>
          </a:p>
        </p:txBody>
      </p:sp>
      <p:sp>
        <p:nvSpPr>
          <p:cNvPr id="53" name="Text 14"/>
          <p:cNvSpPr txBox="1"/>
          <p:nvPr/>
        </p:nvSpPr>
        <p:spPr>
          <a:xfrm>
            <a:off x="3566159" y="2813226"/>
            <a:ext cx="237744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FFFFFF"/>
                </a:solidFill>
              </a:defRPr>
            </a:lvl1pPr>
          </a:lstStyle>
          <a:p>
            <a:pPr/>
            <a:r>
              <a:t>Single Source of Truth</a:t>
            </a:r>
          </a:p>
        </p:txBody>
      </p:sp>
      <p:sp>
        <p:nvSpPr>
          <p:cNvPr id="54" name="Shape 15"/>
          <p:cNvSpPr/>
          <p:nvPr/>
        </p:nvSpPr>
        <p:spPr>
          <a:xfrm>
            <a:off x="3794759" y="3200400"/>
            <a:ext cx="1920241" cy="457200"/>
          </a:xfrm>
          <a:prstGeom prst="rect">
            <a:avLst/>
          </a:prstGeom>
          <a:solidFill>
            <a:srgbClr val="238080"/>
          </a:solidFill>
          <a:ln w="12700">
            <a:miter lim="400000"/>
          </a:ln>
        </p:spPr>
        <p:txBody>
          <a:bodyPr lIns="45719" rIns="45719"/>
          <a:lstStyle/>
          <a:p>
            <a:pPr/>
          </a:p>
        </p:txBody>
      </p:sp>
      <p:sp>
        <p:nvSpPr>
          <p:cNvPr id="55" name="Text 16"/>
          <p:cNvSpPr txBox="1"/>
          <p:nvPr/>
        </p:nvSpPr>
        <p:spPr>
          <a:xfrm>
            <a:off x="3794759" y="3350567"/>
            <a:ext cx="192024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200">
                <a:solidFill>
                  <a:srgbClr val="FFFFFF"/>
                </a:solidFill>
              </a:defRPr>
            </a:lvl1pPr>
          </a:lstStyle>
          <a:p>
            <a:pPr/>
            <a:r>
              <a:t>Context Agent</a:t>
            </a:r>
          </a:p>
        </p:txBody>
      </p:sp>
      <p:sp>
        <p:nvSpPr>
          <p:cNvPr id="56" name="Text 17"/>
          <p:cNvSpPr txBox="1"/>
          <p:nvPr/>
        </p:nvSpPr>
        <p:spPr>
          <a:xfrm>
            <a:off x="3566159" y="3851714"/>
            <a:ext cx="2377441" cy="34329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lnSpc>
                <a:spcPct val="130000"/>
              </a:lnSpc>
              <a:defRPr sz="1000">
                <a:solidFill>
                  <a:srgbClr val="D0EFEF"/>
                </a:solidFill>
              </a:defRPr>
            </a:pPr>
            <a:r>
              <a:t>Manages semantic layer,</a:t>
            </a:r>
          </a:p>
          <a:p>
            <a:pPr algn="ctr">
              <a:lnSpc>
                <a:spcPct val="130000"/>
              </a:lnSpc>
              <a:defRPr sz="1000">
                <a:solidFill>
                  <a:srgbClr val="D0EFEF"/>
                </a:solidFill>
              </a:defRPr>
            </a:pPr>
            <a:r>
              <a:t>ensures data quality</a:t>
            </a:r>
          </a:p>
        </p:txBody>
      </p:sp>
      <p:pic>
        <p:nvPicPr>
          <p:cNvPr id="57" name="Image 1" descr="Image 1"/>
          <p:cNvPicPr>
            <a:picLocks noChangeAspect="1"/>
          </p:cNvPicPr>
          <p:nvPr/>
        </p:nvPicPr>
        <p:blipFill>
          <a:blip r:embed="rId2">
            <a:extLst/>
          </a:blip>
          <a:stretch>
            <a:fillRect/>
          </a:stretch>
        </p:blipFill>
        <p:spPr>
          <a:xfrm>
            <a:off x="6126479" y="3017520"/>
            <a:ext cx="365761" cy="365761"/>
          </a:xfrm>
          <a:prstGeom prst="rect">
            <a:avLst/>
          </a:prstGeom>
          <a:ln w="12700">
            <a:miter lim="400000"/>
          </a:ln>
        </p:spPr>
      </p:pic>
      <p:sp>
        <p:nvSpPr>
          <p:cNvPr id="58" name="Shape 18"/>
          <p:cNvSpPr/>
          <p:nvPr/>
        </p:nvSpPr>
        <p:spPr>
          <a:xfrm>
            <a:off x="6675119" y="2011679"/>
            <a:ext cx="2194561" cy="2560321"/>
          </a:xfrm>
          <a:prstGeom prst="rect">
            <a:avLst/>
          </a:prstGeom>
          <a:solidFill>
            <a:srgbClr val="1F2D40"/>
          </a:solidFill>
          <a:ln w="12700">
            <a:miter lim="400000"/>
          </a:ln>
        </p:spPr>
        <p:txBody>
          <a:bodyPr lIns="45719" rIns="45719"/>
          <a:lstStyle/>
          <a:p>
            <a:pPr/>
          </a:p>
        </p:txBody>
      </p:sp>
      <p:sp>
        <p:nvSpPr>
          <p:cNvPr id="59" name="Text 19"/>
          <p:cNvSpPr txBox="1"/>
          <p:nvPr/>
        </p:nvSpPr>
        <p:spPr>
          <a:xfrm>
            <a:off x="6675119" y="2194604"/>
            <a:ext cx="219456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pc="200" sz="1000">
                <a:solidFill>
                  <a:srgbClr val="3AADAD"/>
                </a:solidFill>
              </a:defRPr>
            </a:lvl1pPr>
          </a:lstStyle>
          <a:p>
            <a:pPr/>
            <a:r>
              <a:t>FEATURES</a:t>
            </a:r>
          </a:p>
        </p:txBody>
      </p:sp>
      <p:sp>
        <p:nvSpPr>
          <p:cNvPr id="60" name="Shape 20"/>
          <p:cNvSpPr/>
          <p:nvPr/>
        </p:nvSpPr>
        <p:spPr>
          <a:xfrm>
            <a:off x="6858000" y="2514600"/>
            <a:ext cx="1828800" cy="365761"/>
          </a:xfrm>
          <a:prstGeom prst="rect">
            <a:avLst/>
          </a:prstGeom>
          <a:solidFill>
            <a:srgbClr val="283A52"/>
          </a:solidFill>
          <a:ln w="12700">
            <a:miter lim="400000"/>
          </a:ln>
        </p:spPr>
        <p:txBody>
          <a:bodyPr lIns="45719" rIns="45719"/>
          <a:lstStyle/>
          <a:p>
            <a:pPr/>
          </a:p>
        </p:txBody>
      </p:sp>
      <p:sp>
        <p:nvSpPr>
          <p:cNvPr id="61" name="Text 21"/>
          <p:cNvSpPr txBox="1"/>
          <p:nvPr/>
        </p:nvSpPr>
        <p:spPr>
          <a:xfrm>
            <a:off x="6858000" y="2630346"/>
            <a:ext cx="1828800"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8895A7"/>
                </a:solidFill>
              </a:defRPr>
            </a:lvl1pPr>
          </a:lstStyle>
          <a:p>
            <a:pPr/>
            <a:r>
              <a:t>Daily Report</a:t>
            </a:r>
          </a:p>
        </p:txBody>
      </p:sp>
      <p:sp>
        <p:nvSpPr>
          <p:cNvPr id="62" name="Shape 22"/>
          <p:cNvSpPr/>
          <p:nvPr/>
        </p:nvSpPr>
        <p:spPr>
          <a:xfrm>
            <a:off x="6858000" y="2990088"/>
            <a:ext cx="1828800" cy="365761"/>
          </a:xfrm>
          <a:prstGeom prst="rect">
            <a:avLst/>
          </a:prstGeom>
          <a:solidFill>
            <a:srgbClr val="283A52"/>
          </a:solidFill>
          <a:ln w="12700">
            <a:miter lim="400000"/>
          </a:ln>
        </p:spPr>
        <p:txBody>
          <a:bodyPr lIns="45719" rIns="45719"/>
          <a:lstStyle/>
          <a:p>
            <a:pPr/>
          </a:p>
        </p:txBody>
      </p:sp>
      <p:sp>
        <p:nvSpPr>
          <p:cNvPr id="63" name="Text 23"/>
          <p:cNvSpPr txBox="1"/>
          <p:nvPr/>
        </p:nvSpPr>
        <p:spPr>
          <a:xfrm>
            <a:off x="6858000" y="3105834"/>
            <a:ext cx="1828800"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8895A7"/>
                </a:solidFill>
              </a:defRPr>
            </a:lvl1pPr>
          </a:lstStyle>
          <a:p>
            <a:pPr/>
            <a:r>
              <a:t>Weekly Summary</a:t>
            </a:r>
          </a:p>
        </p:txBody>
      </p:sp>
      <p:sp>
        <p:nvSpPr>
          <p:cNvPr id="64" name="Shape 24"/>
          <p:cNvSpPr/>
          <p:nvPr/>
        </p:nvSpPr>
        <p:spPr>
          <a:xfrm>
            <a:off x="6858000" y="3465576"/>
            <a:ext cx="1828800" cy="365761"/>
          </a:xfrm>
          <a:prstGeom prst="rect">
            <a:avLst/>
          </a:prstGeom>
          <a:solidFill>
            <a:srgbClr val="283A52"/>
          </a:solidFill>
          <a:ln w="12700">
            <a:miter lim="400000"/>
          </a:ln>
        </p:spPr>
        <p:txBody>
          <a:bodyPr lIns="45719" rIns="45719"/>
          <a:lstStyle/>
          <a:p>
            <a:pPr/>
          </a:p>
        </p:txBody>
      </p:sp>
      <p:sp>
        <p:nvSpPr>
          <p:cNvPr id="65" name="Text 25"/>
          <p:cNvSpPr txBox="1"/>
          <p:nvPr/>
        </p:nvSpPr>
        <p:spPr>
          <a:xfrm>
            <a:off x="6858000" y="3581322"/>
            <a:ext cx="1828800"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8895A7"/>
                </a:solidFill>
              </a:defRPr>
            </a:lvl1pPr>
          </a:lstStyle>
          <a:p>
            <a:pPr/>
            <a:r>
              <a:t>Explain Feature</a:t>
            </a:r>
          </a:p>
        </p:txBody>
      </p:sp>
      <p:sp>
        <p:nvSpPr>
          <p:cNvPr id="66" name="Shape 26"/>
          <p:cNvSpPr/>
          <p:nvPr/>
        </p:nvSpPr>
        <p:spPr>
          <a:xfrm>
            <a:off x="6858000" y="3941064"/>
            <a:ext cx="1828800" cy="365761"/>
          </a:xfrm>
          <a:prstGeom prst="rect">
            <a:avLst/>
          </a:prstGeom>
          <a:solidFill>
            <a:srgbClr val="283A52"/>
          </a:solidFill>
          <a:ln w="12700">
            <a:miter lim="400000"/>
          </a:ln>
        </p:spPr>
        <p:txBody>
          <a:bodyPr lIns="45719" rIns="45719"/>
          <a:lstStyle/>
          <a:p>
            <a:pPr/>
          </a:p>
        </p:txBody>
      </p:sp>
      <p:sp>
        <p:nvSpPr>
          <p:cNvPr id="67" name="Text 27"/>
          <p:cNvSpPr txBox="1"/>
          <p:nvPr/>
        </p:nvSpPr>
        <p:spPr>
          <a:xfrm>
            <a:off x="6858000" y="4056810"/>
            <a:ext cx="1828800"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8895A7"/>
                </a:solidFill>
              </a:defRPr>
            </a:lvl1pPr>
          </a:lstStyle>
          <a:p>
            <a:pPr/>
            <a:r>
              <a:t>NL Querying</a:t>
            </a:r>
          </a:p>
        </p:txBody>
      </p:sp>
      <p:sp>
        <p:nvSpPr>
          <p:cNvPr id="68" name="Text 28"/>
          <p:cNvSpPr txBox="1"/>
          <p:nvPr/>
        </p:nvSpPr>
        <p:spPr>
          <a:xfrm>
            <a:off x="731520" y="4722167"/>
            <a:ext cx="7680960"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200">
                <a:solidFill>
                  <a:srgbClr val="8895A7"/>
                </a:solidFill>
              </a:defRPr>
            </a:lvl1pPr>
          </a:lstStyle>
          <a:p>
            <a:pPr/>
            <a:r>
              <a:t>Accessible through Slack Bot &amp; Dashboard</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7F9FB"/>
        </a:solidFill>
      </p:bgPr>
    </p:bg>
    <p:spTree>
      <p:nvGrpSpPr>
        <p:cNvPr id="1" name=""/>
        <p:cNvGrpSpPr/>
        <p:nvPr/>
      </p:nvGrpSpPr>
      <p:grpSpPr>
        <a:xfrm>
          <a:off x="0" y="0"/>
          <a:ext cx="0" cy="0"/>
          <a:chOff x="0" y="0"/>
          <a:chExt cx="0" cy="0"/>
        </a:xfrm>
      </p:grpSpPr>
      <p:sp>
        <p:nvSpPr>
          <p:cNvPr id="70" name="Text 0"/>
          <p:cNvSpPr txBox="1"/>
          <p:nvPr/>
        </p:nvSpPr>
        <p:spPr>
          <a:xfrm>
            <a:off x="731519" y="480104"/>
            <a:ext cx="365760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300" sz="1000">
                <a:solidFill>
                  <a:srgbClr val="2A8A8A"/>
                </a:solidFill>
              </a:defRPr>
            </a:lvl1pPr>
          </a:lstStyle>
          <a:p>
            <a:pPr/>
            <a:r>
              <a:t>DAILY MARKETING REPORT</a:t>
            </a:r>
          </a:p>
        </p:txBody>
      </p:sp>
      <p:sp>
        <p:nvSpPr>
          <p:cNvPr id="71" name="Text 1"/>
          <p:cNvSpPr txBox="1"/>
          <p:nvPr/>
        </p:nvSpPr>
        <p:spPr>
          <a:xfrm>
            <a:off x="731519" y="819784"/>
            <a:ext cx="3657601" cy="60071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15000"/>
              </a:lnSpc>
              <a:defRPr b="1" sz="2000">
                <a:solidFill>
                  <a:srgbClr val="1A2332"/>
                </a:solidFill>
                <a:latin typeface="Georgia"/>
                <a:ea typeface="Georgia"/>
                <a:cs typeface="Georgia"/>
                <a:sym typeface="Georgia"/>
              </a:defRPr>
            </a:pPr>
            <a:r>
              <a:t>Wake up knowing where</a:t>
            </a:r>
          </a:p>
          <a:p>
            <a:pPr>
              <a:lnSpc>
                <a:spcPct val="115000"/>
              </a:lnSpc>
              <a:defRPr b="1" sz="2000">
                <a:solidFill>
                  <a:srgbClr val="1A2332"/>
                </a:solidFill>
                <a:latin typeface="Georgia"/>
                <a:ea typeface="Georgia"/>
                <a:cs typeface="Georgia"/>
                <a:sym typeface="Georgia"/>
              </a:defRPr>
            </a:pPr>
            <a:r>
              <a:t>you're losing money.</a:t>
            </a:r>
          </a:p>
        </p:txBody>
      </p:sp>
      <p:sp>
        <p:nvSpPr>
          <p:cNvPr id="72" name="Text 2"/>
          <p:cNvSpPr txBox="1"/>
          <p:nvPr/>
        </p:nvSpPr>
        <p:spPr>
          <a:xfrm>
            <a:off x="731519" y="1733355"/>
            <a:ext cx="3657601" cy="83097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50000"/>
              </a:lnSpc>
              <a:defRPr sz="1100">
                <a:solidFill>
                  <a:srgbClr val="3D4F63"/>
                </a:solidFill>
              </a:defRPr>
            </a:lvl1pPr>
          </a:lstStyle>
          <a:p>
            <a:pPr/>
            <a:r>
              <a:t>Every morning, Lupe's AI agents analyze your campaigns across every channel and flag where budget is being wasted. You get a prioritized breakdown: which campaigns to pause, which to scale, and where your next dollar works hardest.</a:t>
            </a:r>
          </a:p>
        </p:txBody>
      </p:sp>
      <p:pic>
        <p:nvPicPr>
          <p:cNvPr id="73" name="Image 0" descr="Image 0"/>
          <p:cNvPicPr>
            <a:picLocks noChangeAspect="1"/>
          </p:cNvPicPr>
          <p:nvPr/>
        </p:nvPicPr>
        <p:blipFill>
          <a:blip r:embed="rId2">
            <a:extLst/>
          </a:blip>
          <a:stretch>
            <a:fillRect/>
          </a:stretch>
        </p:blipFill>
        <p:spPr>
          <a:xfrm>
            <a:off x="731519" y="2880360"/>
            <a:ext cx="228601" cy="228601"/>
          </a:xfrm>
          <a:prstGeom prst="rect">
            <a:avLst/>
          </a:prstGeom>
          <a:ln w="12700">
            <a:miter lim="400000"/>
          </a:ln>
        </p:spPr>
      </p:pic>
      <p:sp>
        <p:nvSpPr>
          <p:cNvPr id="74" name="Text 3"/>
          <p:cNvSpPr txBox="1"/>
          <p:nvPr/>
        </p:nvSpPr>
        <p:spPr>
          <a:xfrm>
            <a:off x="1097280" y="2927526"/>
            <a:ext cx="320040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3D4F63"/>
                </a:solidFill>
              </a:defRPr>
            </a:lvl1pPr>
          </a:lstStyle>
          <a:p>
            <a:pPr/>
            <a:r>
              <a:t>Delivered to Slack every morning</a:t>
            </a:r>
          </a:p>
        </p:txBody>
      </p:sp>
      <p:pic>
        <p:nvPicPr>
          <p:cNvPr id="75" name="Image 1" descr="Image 1"/>
          <p:cNvPicPr>
            <a:picLocks noChangeAspect="1"/>
          </p:cNvPicPr>
          <p:nvPr/>
        </p:nvPicPr>
        <p:blipFill>
          <a:blip r:embed="rId3">
            <a:extLst/>
          </a:blip>
          <a:stretch>
            <a:fillRect/>
          </a:stretch>
        </p:blipFill>
        <p:spPr>
          <a:xfrm>
            <a:off x="731519" y="3337559"/>
            <a:ext cx="228601" cy="228601"/>
          </a:xfrm>
          <a:prstGeom prst="rect">
            <a:avLst/>
          </a:prstGeom>
          <a:ln w="12700">
            <a:miter lim="400000"/>
          </a:ln>
        </p:spPr>
      </p:pic>
      <p:sp>
        <p:nvSpPr>
          <p:cNvPr id="76" name="Text 4"/>
          <p:cNvSpPr txBox="1"/>
          <p:nvPr/>
        </p:nvSpPr>
        <p:spPr>
          <a:xfrm>
            <a:off x="1097280" y="3384725"/>
            <a:ext cx="3200401"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3D4F63"/>
                </a:solidFill>
              </a:defRPr>
            </a:lvl1pPr>
          </a:lstStyle>
          <a:p>
            <a:pPr/>
            <a:r>
              <a:t>Full dashboard with drill-down</a:t>
            </a:r>
          </a:p>
        </p:txBody>
      </p:sp>
      <p:sp>
        <p:nvSpPr>
          <p:cNvPr id="77" name="Shape 5"/>
          <p:cNvSpPr/>
          <p:nvPr/>
        </p:nvSpPr>
        <p:spPr>
          <a:xfrm>
            <a:off x="4754879" y="320040"/>
            <a:ext cx="4114801" cy="4480560"/>
          </a:xfrm>
          <a:prstGeom prst="rect">
            <a:avLst/>
          </a:prstGeom>
          <a:solidFill>
            <a:srgbClr val="FFFFFF"/>
          </a:solidFill>
          <a:ln w="12700">
            <a:miter lim="400000"/>
          </a:ln>
          <a:effectLst>
            <a:outerShdw sx="100000" sy="100000" kx="0" ky="0" algn="b" rotWithShape="0" blurRad="101600" dist="38100" dir="8100000">
              <a:srgbClr val="000000">
                <a:alpha val="10000"/>
              </a:srgbClr>
            </a:outerShdw>
          </a:effectLst>
        </p:spPr>
        <p:txBody>
          <a:bodyPr lIns="45719" rIns="45719"/>
          <a:lstStyle/>
          <a:p>
            <a:pPr/>
          </a:p>
        </p:txBody>
      </p:sp>
      <p:pic>
        <p:nvPicPr>
          <p:cNvPr id="78" name="daily_feature.png" descr="daily_feature.png"/>
          <p:cNvPicPr>
            <a:picLocks noChangeAspect="1"/>
          </p:cNvPicPr>
          <p:nvPr/>
        </p:nvPicPr>
        <p:blipFill>
          <a:blip r:embed="rId4">
            <a:extLst/>
          </a:blip>
          <a:srcRect l="0" t="4818" r="0" b="0"/>
          <a:stretch>
            <a:fillRect/>
          </a:stretch>
        </p:blipFill>
        <p:spPr>
          <a:xfrm>
            <a:off x="5314959" y="429815"/>
            <a:ext cx="2773251" cy="4264661"/>
          </a:xfrm>
          <a:prstGeom prst="rect">
            <a:avLst/>
          </a:prstGeom>
          <a:ln w="12700">
            <a:miter lim="400000"/>
          </a:ln>
        </p:spPr>
      </p:pic>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7F9FB"/>
        </a:solidFill>
      </p:bgPr>
    </p:bg>
    <p:spTree>
      <p:nvGrpSpPr>
        <p:cNvPr id="1" name=""/>
        <p:cNvGrpSpPr/>
        <p:nvPr/>
      </p:nvGrpSpPr>
      <p:grpSpPr>
        <a:xfrm>
          <a:off x="0" y="0"/>
          <a:ext cx="0" cy="0"/>
          <a:chOff x="0" y="0"/>
          <a:chExt cx="0" cy="0"/>
        </a:xfrm>
      </p:grpSpPr>
      <p:sp>
        <p:nvSpPr>
          <p:cNvPr id="80" name="Text 0"/>
          <p:cNvSpPr txBox="1"/>
          <p:nvPr/>
        </p:nvSpPr>
        <p:spPr>
          <a:xfrm>
            <a:off x="731519" y="480104"/>
            <a:ext cx="365760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300" sz="1000">
                <a:solidFill>
                  <a:srgbClr val="2A8A8A"/>
                </a:solidFill>
              </a:defRPr>
            </a:lvl1pPr>
          </a:lstStyle>
          <a:p>
            <a:pPr/>
            <a:r>
              <a:t>WEEKLY EXECUTIVE SUMMARY</a:t>
            </a:r>
          </a:p>
        </p:txBody>
      </p:sp>
      <p:sp>
        <p:nvSpPr>
          <p:cNvPr id="81" name="Text 1"/>
          <p:cNvSpPr txBox="1"/>
          <p:nvPr/>
        </p:nvSpPr>
        <p:spPr>
          <a:xfrm>
            <a:off x="731519" y="819784"/>
            <a:ext cx="3657601" cy="60071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15000"/>
              </a:lnSpc>
              <a:defRPr b="1" sz="2000">
                <a:solidFill>
                  <a:srgbClr val="1A2332"/>
                </a:solidFill>
                <a:latin typeface="Georgia"/>
                <a:ea typeface="Georgia"/>
                <a:cs typeface="Georgia"/>
                <a:sym typeface="Georgia"/>
              </a:defRPr>
            </a:pPr>
            <a:r>
              <a:t>Strategic performance</a:t>
            </a:r>
          </a:p>
          <a:p>
            <a:pPr>
              <a:lnSpc>
                <a:spcPct val="115000"/>
              </a:lnSpc>
              <a:defRPr b="1" sz="2000">
                <a:solidFill>
                  <a:srgbClr val="1A2332"/>
                </a:solidFill>
                <a:latin typeface="Georgia"/>
                <a:ea typeface="Georgia"/>
                <a:cs typeface="Georgia"/>
                <a:sym typeface="Georgia"/>
              </a:defRPr>
            </a:pPr>
            <a:r>
              <a:t>overview, every week.</a:t>
            </a:r>
          </a:p>
        </p:txBody>
      </p:sp>
      <p:sp>
        <p:nvSpPr>
          <p:cNvPr id="82" name="Text 2"/>
          <p:cNvSpPr txBox="1"/>
          <p:nvPr/>
        </p:nvSpPr>
        <p:spPr>
          <a:xfrm>
            <a:off x="731519" y="1733355"/>
            <a:ext cx="3657601" cy="83097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50000"/>
              </a:lnSpc>
              <a:defRPr sz="1100">
                <a:solidFill>
                  <a:srgbClr val="3D4F63"/>
                </a:solidFill>
              </a:defRPr>
            </a:lvl1pPr>
          </a:lstStyle>
          <a:p>
            <a:pPr/>
            <a:r>
              <a:t>Revenue, Spend, Installs, ROAS, DAU at a glance. AI-generated insights classify findings as risks or opportunities with confidence scoring. Each summary includes a prioritized action plan with urgency levels.</a:t>
            </a:r>
          </a:p>
        </p:txBody>
      </p:sp>
      <p:pic>
        <p:nvPicPr>
          <p:cNvPr id="83" name="Image 0" descr="Image 0"/>
          <p:cNvPicPr>
            <a:picLocks noChangeAspect="1"/>
          </p:cNvPicPr>
          <p:nvPr/>
        </p:nvPicPr>
        <p:blipFill>
          <a:blip r:embed="rId2">
            <a:extLst/>
          </a:blip>
          <a:stretch>
            <a:fillRect/>
          </a:stretch>
        </p:blipFill>
        <p:spPr>
          <a:xfrm>
            <a:off x="731519" y="2880360"/>
            <a:ext cx="228601" cy="228601"/>
          </a:xfrm>
          <a:prstGeom prst="rect">
            <a:avLst/>
          </a:prstGeom>
          <a:ln w="12700">
            <a:miter lim="400000"/>
          </a:ln>
        </p:spPr>
      </p:pic>
      <p:sp>
        <p:nvSpPr>
          <p:cNvPr id="84" name="Text 3"/>
          <p:cNvSpPr txBox="1"/>
          <p:nvPr/>
        </p:nvSpPr>
        <p:spPr>
          <a:xfrm>
            <a:off x="1097280" y="2927526"/>
            <a:ext cx="320040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3D4F63"/>
                </a:solidFill>
              </a:defRPr>
            </a:lvl1pPr>
          </a:lstStyle>
          <a:p>
            <a:pPr/>
            <a:r>
              <a:t>Delivered to Slack weekly</a:t>
            </a:r>
          </a:p>
        </p:txBody>
      </p:sp>
      <p:pic>
        <p:nvPicPr>
          <p:cNvPr id="85" name="Image 1" descr="Image 1"/>
          <p:cNvPicPr>
            <a:picLocks noChangeAspect="1"/>
          </p:cNvPicPr>
          <p:nvPr/>
        </p:nvPicPr>
        <p:blipFill>
          <a:blip r:embed="rId3">
            <a:extLst/>
          </a:blip>
          <a:stretch>
            <a:fillRect/>
          </a:stretch>
        </p:blipFill>
        <p:spPr>
          <a:xfrm>
            <a:off x="731519" y="3337559"/>
            <a:ext cx="228601" cy="228601"/>
          </a:xfrm>
          <a:prstGeom prst="rect">
            <a:avLst/>
          </a:prstGeom>
          <a:ln w="12700">
            <a:miter lim="400000"/>
          </a:ln>
        </p:spPr>
      </p:pic>
      <p:sp>
        <p:nvSpPr>
          <p:cNvPr id="86" name="Text 4"/>
          <p:cNvSpPr txBox="1"/>
          <p:nvPr/>
        </p:nvSpPr>
        <p:spPr>
          <a:xfrm>
            <a:off x="1097280" y="3384725"/>
            <a:ext cx="3200401"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3D4F63"/>
                </a:solidFill>
              </a:defRPr>
            </a:lvl1pPr>
          </a:lstStyle>
          <a:p>
            <a:pPr/>
            <a:r>
              <a:t>KPI dashboard with trend lines</a:t>
            </a:r>
          </a:p>
        </p:txBody>
      </p:sp>
      <p:sp>
        <p:nvSpPr>
          <p:cNvPr id="87" name="Shape 5"/>
          <p:cNvSpPr/>
          <p:nvPr/>
        </p:nvSpPr>
        <p:spPr>
          <a:xfrm>
            <a:off x="4754879" y="320040"/>
            <a:ext cx="4114801" cy="4480560"/>
          </a:xfrm>
          <a:prstGeom prst="rect">
            <a:avLst/>
          </a:prstGeom>
          <a:solidFill>
            <a:srgbClr val="FFFFFF"/>
          </a:solidFill>
          <a:ln w="12700">
            <a:miter lim="400000"/>
          </a:ln>
          <a:effectLst>
            <a:outerShdw sx="100000" sy="100000" kx="0" ky="0" algn="b" rotWithShape="0" blurRad="101600" dist="38100" dir="8100000">
              <a:srgbClr val="000000">
                <a:alpha val="10000"/>
              </a:srgbClr>
            </a:outerShdw>
          </a:effectLst>
        </p:spPr>
        <p:txBody>
          <a:bodyPr lIns="45719" rIns="45719"/>
          <a:lstStyle/>
          <a:p>
            <a:pPr/>
          </a:p>
        </p:txBody>
      </p:sp>
      <p:pic>
        <p:nvPicPr>
          <p:cNvPr id="88" name="pasted-movie.png" descr="pasted-movie.png"/>
          <p:cNvPicPr>
            <a:picLocks noChangeAspect="1"/>
          </p:cNvPicPr>
          <p:nvPr/>
        </p:nvPicPr>
        <p:blipFill>
          <a:blip r:embed="rId4">
            <a:extLst/>
          </a:blip>
          <a:stretch>
            <a:fillRect/>
          </a:stretch>
        </p:blipFill>
        <p:spPr>
          <a:xfrm>
            <a:off x="4862127" y="469900"/>
            <a:ext cx="3910126" cy="3660301"/>
          </a:xfrm>
          <a:prstGeom prst="rect">
            <a:avLst/>
          </a:prstGeom>
          <a:ln w="12700">
            <a:miter lim="400000"/>
          </a:ln>
        </p:spPr>
      </p:pic>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7F9FB"/>
        </a:solidFill>
      </p:bgPr>
    </p:bg>
    <p:spTree>
      <p:nvGrpSpPr>
        <p:cNvPr id="1" name=""/>
        <p:cNvGrpSpPr/>
        <p:nvPr/>
      </p:nvGrpSpPr>
      <p:grpSpPr>
        <a:xfrm>
          <a:off x="0" y="0"/>
          <a:ext cx="0" cy="0"/>
          <a:chOff x="0" y="0"/>
          <a:chExt cx="0" cy="0"/>
        </a:xfrm>
      </p:grpSpPr>
      <p:sp>
        <p:nvSpPr>
          <p:cNvPr id="90" name="Text 0"/>
          <p:cNvSpPr txBox="1"/>
          <p:nvPr/>
        </p:nvSpPr>
        <p:spPr>
          <a:xfrm>
            <a:off x="731519" y="480104"/>
            <a:ext cx="365760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300" sz="1000">
                <a:solidFill>
                  <a:srgbClr val="2A8A8A"/>
                </a:solidFill>
              </a:defRPr>
            </a:lvl1pPr>
          </a:lstStyle>
          <a:p>
            <a:pPr/>
            <a:r>
              <a:t>EXPLAIN FEATURE</a:t>
            </a:r>
          </a:p>
        </p:txBody>
      </p:sp>
      <p:sp>
        <p:nvSpPr>
          <p:cNvPr id="91" name="Text 1"/>
          <p:cNvSpPr txBox="1"/>
          <p:nvPr/>
        </p:nvSpPr>
        <p:spPr>
          <a:xfrm>
            <a:off x="731519" y="819784"/>
            <a:ext cx="3657601" cy="60071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15000"/>
              </a:lnSpc>
              <a:defRPr b="1" sz="2000">
                <a:solidFill>
                  <a:srgbClr val="1A2332"/>
                </a:solidFill>
                <a:latin typeface="Georgia"/>
                <a:ea typeface="Georgia"/>
                <a:cs typeface="Georgia"/>
                <a:sym typeface="Georgia"/>
              </a:defRPr>
            </a:pPr>
            <a:r>
              <a:t>Understand why your</a:t>
            </a:r>
          </a:p>
          <a:p>
            <a:pPr>
              <a:lnSpc>
                <a:spcPct val="115000"/>
              </a:lnSpc>
              <a:defRPr b="1" sz="2000">
                <a:solidFill>
                  <a:srgbClr val="1A2332"/>
                </a:solidFill>
                <a:latin typeface="Georgia"/>
                <a:ea typeface="Georgia"/>
                <a:cs typeface="Georgia"/>
                <a:sym typeface="Georgia"/>
              </a:defRPr>
            </a:pPr>
            <a:r>
              <a:t>metrics changed.</a:t>
            </a:r>
          </a:p>
        </p:txBody>
      </p:sp>
      <p:sp>
        <p:nvSpPr>
          <p:cNvPr id="92" name="Text 2"/>
          <p:cNvSpPr txBox="1"/>
          <p:nvPr/>
        </p:nvSpPr>
        <p:spPr>
          <a:xfrm>
            <a:off x="731519" y="1733355"/>
            <a:ext cx="3657601" cy="83097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50000"/>
              </a:lnSpc>
              <a:defRPr sz="1100">
                <a:solidFill>
                  <a:srgbClr val="3D4F63"/>
                </a:solidFill>
              </a:defRPr>
            </a:lvl1pPr>
          </a:lstStyle>
          <a:p>
            <a:pPr/>
            <a:r>
              <a:t>Ask "why did spend change?" and get a driver breakdown by channel. Evidence-scored analysis shows exactly which channels drove the shift, with magnitude and direction. Suggested next steps let you investigate further or take action immediately.</a:t>
            </a:r>
          </a:p>
        </p:txBody>
      </p:sp>
      <p:pic>
        <p:nvPicPr>
          <p:cNvPr id="93" name="Image 0" descr="Image 0"/>
          <p:cNvPicPr>
            <a:picLocks noChangeAspect="1"/>
          </p:cNvPicPr>
          <p:nvPr/>
        </p:nvPicPr>
        <p:blipFill>
          <a:blip r:embed="rId2">
            <a:extLst/>
          </a:blip>
          <a:stretch>
            <a:fillRect/>
          </a:stretch>
        </p:blipFill>
        <p:spPr>
          <a:xfrm>
            <a:off x="731519" y="2880360"/>
            <a:ext cx="228601" cy="228601"/>
          </a:xfrm>
          <a:prstGeom prst="rect">
            <a:avLst/>
          </a:prstGeom>
          <a:ln w="12700">
            <a:miter lim="400000"/>
          </a:ln>
        </p:spPr>
      </p:pic>
      <p:sp>
        <p:nvSpPr>
          <p:cNvPr id="94" name="Text 3"/>
          <p:cNvSpPr txBox="1"/>
          <p:nvPr/>
        </p:nvSpPr>
        <p:spPr>
          <a:xfrm>
            <a:off x="1097280" y="2927526"/>
            <a:ext cx="320040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3D4F63"/>
                </a:solidFill>
              </a:defRPr>
            </a:lvl1pPr>
          </a:lstStyle>
          <a:p>
            <a:pPr/>
            <a:r>
              <a:t>Driver analysis with evidence scoring</a:t>
            </a:r>
          </a:p>
        </p:txBody>
      </p:sp>
      <p:pic>
        <p:nvPicPr>
          <p:cNvPr id="95" name="Image 1" descr="Image 1"/>
          <p:cNvPicPr>
            <a:picLocks noChangeAspect="1"/>
          </p:cNvPicPr>
          <p:nvPr/>
        </p:nvPicPr>
        <p:blipFill>
          <a:blip r:embed="rId3">
            <a:extLst/>
          </a:blip>
          <a:stretch>
            <a:fillRect/>
          </a:stretch>
        </p:blipFill>
        <p:spPr>
          <a:xfrm>
            <a:off x="731519" y="3337559"/>
            <a:ext cx="228601" cy="228601"/>
          </a:xfrm>
          <a:prstGeom prst="rect">
            <a:avLst/>
          </a:prstGeom>
          <a:ln w="12700">
            <a:miter lim="400000"/>
          </a:ln>
        </p:spPr>
      </p:pic>
      <p:sp>
        <p:nvSpPr>
          <p:cNvPr id="96" name="Text 4"/>
          <p:cNvSpPr txBox="1"/>
          <p:nvPr/>
        </p:nvSpPr>
        <p:spPr>
          <a:xfrm>
            <a:off x="1097280" y="3384725"/>
            <a:ext cx="3200401"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3D4F63"/>
                </a:solidFill>
              </a:defRPr>
            </a:lvl1pPr>
          </a:lstStyle>
          <a:p>
            <a:pPr/>
            <a:r>
              <a:t>Available in Slack and Dashboard</a:t>
            </a:r>
          </a:p>
        </p:txBody>
      </p:sp>
      <p:sp>
        <p:nvSpPr>
          <p:cNvPr id="97" name="Shape 5"/>
          <p:cNvSpPr/>
          <p:nvPr/>
        </p:nvSpPr>
        <p:spPr>
          <a:xfrm>
            <a:off x="4754879" y="320040"/>
            <a:ext cx="4114801" cy="4480560"/>
          </a:xfrm>
          <a:prstGeom prst="rect">
            <a:avLst/>
          </a:prstGeom>
          <a:solidFill>
            <a:srgbClr val="FFFFFF"/>
          </a:solidFill>
          <a:ln w="12700">
            <a:miter lim="400000"/>
          </a:ln>
          <a:effectLst>
            <a:outerShdw sx="100000" sy="100000" kx="0" ky="0" algn="b" rotWithShape="0" blurRad="101600" dist="38100" dir="8100000">
              <a:srgbClr val="000000">
                <a:alpha val="10000"/>
              </a:srgbClr>
            </a:outerShdw>
          </a:effectLst>
        </p:spPr>
        <p:txBody>
          <a:bodyPr lIns="45719" rIns="45719"/>
          <a:lstStyle/>
          <a:p>
            <a:pPr/>
          </a:p>
        </p:txBody>
      </p:sp>
      <p:pic>
        <p:nvPicPr>
          <p:cNvPr id="98" name="image-6-3.png" descr="image-6-3.png"/>
          <p:cNvPicPr>
            <a:picLocks noChangeAspect="1"/>
          </p:cNvPicPr>
          <p:nvPr/>
        </p:nvPicPr>
        <p:blipFill>
          <a:blip r:embed="rId4">
            <a:extLst/>
          </a:blip>
          <a:stretch>
            <a:fillRect/>
          </a:stretch>
        </p:blipFill>
        <p:spPr>
          <a:xfrm>
            <a:off x="4850784" y="755307"/>
            <a:ext cx="3922992" cy="3443457"/>
          </a:xfrm>
          <a:prstGeom prst="rect">
            <a:avLst/>
          </a:prstGeom>
          <a:ln w="12700">
            <a:miter lim="400000"/>
          </a:ln>
        </p:spPr>
      </p:pic>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7F9FB"/>
        </a:solidFill>
      </p:bgPr>
    </p:bg>
    <p:spTree>
      <p:nvGrpSpPr>
        <p:cNvPr id="1" name=""/>
        <p:cNvGrpSpPr/>
        <p:nvPr/>
      </p:nvGrpSpPr>
      <p:grpSpPr>
        <a:xfrm>
          <a:off x="0" y="0"/>
          <a:ext cx="0" cy="0"/>
          <a:chOff x="0" y="0"/>
          <a:chExt cx="0" cy="0"/>
        </a:xfrm>
      </p:grpSpPr>
      <p:sp>
        <p:nvSpPr>
          <p:cNvPr id="100" name="Text 0"/>
          <p:cNvSpPr txBox="1"/>
          <p:nvPr/>
        </p:nvSpPr>
        <p:spPr>
          <a:xfrm>
            <a:off x="731519" y="480104"/>
            <a:ext cx="365760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300" sz="1000">
                <a:solidFill>
                  <a:srgbClr val="2A8A8A"/>
                </a:solidFill>
              </a:defRPr>
            </a:lvl1pPr>
          </a:lstStyle>
          <a:p>
            <a:pPr/>
            <a:r>
              <a:t>NATURAL LANGUAGE QUERYING</a:t>
            </a:r>
          </a:p>
        </p:txBody>
      </p:sp>
      <p:sp>
        <p:nvSpPr>
          <p:cNvPr id="101" name="Text 1"/>
          <p:cNvSpPr txBox="1"/>
          <p:nvPr/>
        </p:nvSpPr>
        <p:spPr>
          <a:xfrm>
            <a:off x="731519" y="819784"/>
            <a:ext cx="3657601" cy="60071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15000"/>
              </a:lnSpc>
              <a:defRPr b="1" sz="2000">
                <a:solidFill>
                  <a:srgbClr val="1A2332"/>
                </a:solidFill>
                <a:latin typeface="Georgia"/>
                <a:ea typeface="Georgia"/>
                <a:cs typeface="Georgia"/>
                <a:sym typeface="Georgia"/>
              </a:defRPr>
            </a:pPr>
            <a:r>
              <a:t>From question to root cause</a:t>
            </a:r>
          </a:p>
          <a:p>
            <a:pPr>
              <a:lnSpc>
                <a:spcPct val="115000"/>
              </a:lnSpc>
              <a:defRPr b="1" sz="2000">
                <a:solidFill>
                  <a:srgbClr val="1A2332"/>
                </a:solidFill>
                <a:latin typeface="Georgia"/>
                <a:ea typeface="Georgia"/>
                <a:cs typeface="Georgia"/>
                <a:sym typeface="Georgia"/>
              </a:defRPr>
            </a:pPr>
            <a:r>
              <a:t>in seconds, not days.</a:t>
            </a:r>
          </a:p>
        </p:txBody>
      </p:sp>
      <p:sp>
        <p:nvSpPr>
          <p:cNvPr id="102" name="Text 2"/>
          <p:cNvSpPr txBox="1"/>
          <p:nvPr/>
        </p:nvSpPr>
        <p:spPr>
          <a:xfrm>
            <a:off x="731519" y="1546841"/>
            <a:ext cx="3657601" cy="12954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50000"/>
              </a:lnSpc>
              <a:defRPr sz="1100">
                <a:solidFill>
                  <a:srgbClr val="3D4F63"/>
                </a:solidFill>
              </a:defRPr>
            </a:lvl1pPr>
          </a:lstStyle>
          <a:p>
            <a:pPr/>
            <a:r>
              <a:t>Ask questions in plain English. "Which campaigns should I pause this week?" "Show me ROAS by channel for the last 30 days." "Where am I overspending in LATAM?" Lupe queries your unified data, builds the chart, and explains what it means. No SQL. No analyst bottleneck. Follow-up suggestions keep the conversation going.</a:t>
            </a:r>
          </a:p>
        </p:txBody>
      </p:sp>
      <p:pic>
        <p:nvPicPr>
          <p:cNvPr id="103" name="Image 0" descr="Image 0"/>
          <p:cNvPicPr>
            <a:picLocks noChangeAspect="1"/>
          </p:cNvPicPr>
          <p:nvPr/>
        </p:nvPicPr>
        <p:blipFill>
          <a:blip r:embed="rId2">
            <a:extLst/>
          </a:blip>
          <a:stretch>
            <a:fillRect/>
          </a:stretch>
        </p:blipFill>
        <p:spPr>
          <a:xfrm>
            <a:off x="731519" y="2971800"/>
            <a:ext cx="228601" cy="228600"/>
          </a:xfrm>
          <a:prstGeom prst="rect">
            <a:avLst/>
          </a:prstGeom>
          <a:ln w="12700">
            <a:miter lim="400000"/>
          </a:ln>
        </p:spPr>
      </p:pic>
      <p:sp>
        <p:nvSpPr>
          <p:cNvPr id="104" name="Text 3"/>
          <p:cNvSpPr txBox="1"/>
          <p:nvPr/>
        </p:nvSpPr>
        <p:spPr>
          <a:xfrm>
            <a:off x="1097280" y="3018966"/>
            <a:ext cx="320040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3D4F63"/>
                </a:solidFill>
              </a:defRPr>
            </a:lvl1pPr>
          </a:lstStyle>
          <a:p>
            <a:pPr/>
            <a:r>
              <a:t>Chat interface with context-aware follow-ups</a:t>
            </a:r>
          </a:p>
        </p:txBody>
      </p:sp>
      <p:pic>
        <p:nvPicPr>
          <p:cNvPr id="105" name="Image 1" descr="Image 1"/>
          <p:cNvPicPr>
            <a:picLocks noChangeAspect="1"/>
          </p:cNvPicPr>
          <p:nvPr/>
        </p:nvPicPr>
        <p:blipFill>
          <a:blip r:embed="rId3">
            <a:extLst/>
          </a:blip>
          <a:stretch>
            <a:fillRect/>
          </a:stretch>
        </p:blipFill>
        <p:spPr>
          <a:xfrm>
            <a:off x="731519" y="3429000"/>
            <a:ext cx="228601" cy="228600"/>
          </a:xfrm>
          <a:prstGeom prst="rect">
            <a:avLst/>
          </a:prstGeom>
          <a:ln w="12700">
            <a:miter lim="400000"/>
          </a:ln>
        </p:spPr>
      </p:pic>
      <p:sp>
        <p:nvSpPr>
          <p:cNvPr id="106" name="Text 4"/>
          <p:cNvSpPr txBox="1"/>
          <p:nvPr/>
        </p:nvSpPr>
        <p:spPr>
          <a:xfrm>
            <a:off x="1097280" y="3476166"/>
            <a:ext cx="320040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3D4F63"/>
                </a:solidFill>
              </a:defRPr>
            </a:lvl1pPr>
          </a:lstStyle>
          <a:p>
            <a:pPr/>
            <a:r>
              <a:t>Available in Slack and Dashboard</a:t>
            </a:r>
          </a:p>
        </p:txBody>
      </p:sp>
      <p:sp>
        <p:nvSpPr>
          <p:cNvPr id="107" name="Shape 5"/>
          <p:cNvSpPr/>
          <p:nvPr/>
        </p:nvSpPr>
        <p:spPr>
          <a:xfrm>
            <a:off x="4754879" y="275019"/>
            <a:ext cx="4114801" cy="4593462"/>
          </a:xfrm>
          <a:prstGeom prst="rect">
            <a:avLst/>
          </a:prstGeom>
          <a:solidFill>
            <a:srgbClr val="FFFFFF"/>
          </a:solidFill>
          <a:ln w="12700">
            <a:miter lim="400000"/>
          </a:ln>
          <a:effectLst>
            <a:outerShdw sx="100000" sy="100000" kx="0" ky="0" algn="b" rotWithShape="0" blurRad="101600" dist="38100" dir="8100000">
              <a:srgbClr val="000000">
                <a:alpha val="10000"/>
              </a:srgbClr>
            </a:outerShdw>
          </a:effectLst>
        </p:spPr>
        <p:txBody>
          <a:bodyPr lIns="45719" rIns="45719"/>
          <a:lstStyle/>
          <a:p>
            <a:pPr/>
          </a:p>
        </p:txBody>
      </p:sp>
      <p:pic>
        <p:nvPicPr>
          <p:cNvPr id="108" name="pasted-movie.png" descr="pasted-movie.png"/>
          <p:cNvPicPr>
            <a:picLocks noChangeAspect="1"/>
          </p:cNvPicPr>
          <p:nvPr/>
        </p:nvPicPr>
        <p:blipFill>
          <a:blip r:embed="rId4">
            <a:extLst/>
          </a:blip>
          <a:stretch>
            <a:fillRect/>
          </a:stretch>
        </p:blipFill>
        <p:spPr>
          <a:xfrm>
            <a:off x="4781232" y="408893"/>
            <a:ext cx="3936400" cy="4325714"/>
          </a:xfrm>
          <a:prstGeom prst="rect">
            <a:avLst/>
          </a:prstGeom>
          <a:ln w="12700">
            <a:miter lim="400000"/>
          </a:ln>
        </p:spPr>
      </p:pic>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A2332"/>
        </a:solidFill>
      </p:bgPr>
    </p:bg>
    <p:spTree>
      <p:nvGrpSpPr>
        <p:cNvPr id="1" name=""/>
        <p:cNvGrpSpPr/>
        <p:nvPr/>
      </p:nvGrpSpPr>
      <p:grpSpPr>
        <a:xfrm>
          <a:off x="0" y="0"/>
          <a:ext cx="0" cy="0"/>
          <a:chOff x="0" y="0"/>
          <a:chExt cx="0" cy="0"/>
        </a:xfrm>
      </p:grpSpPr>
      <p:sp>
        <p:nvSpPr>
          <p:cNvPr id="110" name="Text 0"/>
          <p:cNvSpPr txBox="1"/>
          <p:nvPr/>
        </p:nvSpPr>
        <p:spPr>
          <a:xfrm>
            <a:off x="731519" y="458646"/>
            <a:ext cx="457200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300" sz="1100">
                <a:solidFill>
                  <a:srgbClr val="3AADAD"/>
                </a:solidFill>
              </a:defRPr>
            </a:lvl1pPr>
          </a:lstStyle>
          <a:p>
            <a:pPr/>
            <a:r>
              <a:t>WHAT MAKES IT WORK</a:t>
            </a:r>
          </a:p>
        </p:txBody>
      </p:sp>
      <p:sp>
        <p:nvSpPr>
          <p:cNvPr id="111" name="Text 1"/>
          <p:cNvSpPr txBox="1"/>
          <p:nvPr/>
        </p:nvSpPr>
        <p:spPr>
          <a:xfrm>
            <a:off x="731520" y="751839"/>
            <a:ext cx="7680960" cy="87376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15000"/>
              </a:lnSpc>
              <a:defRPr b="1" sz="2800">
                <a:solidFill>
                  <a:srgbClr val="FFFFFF"/>
                </a:solidFill>
                <a:latin typeface="Georgia"/>
                <a:ea typeface="Georgia"/>
                <a:cs typeface="Georgia"/>
                <a:sym typeface="Georgia"/>
              </a:defRPr>
            </a:pPr>
            <a:r>
              <a:t>Every feature is powered by one</a:t>
            </a:r>
          </a:p>
          <a:p>
            <a:pPr>
              <a:lnSpc>
                <a:spcPct val="115000"/>
              </a:lnSpc>
              <a:defRPr b="1" sz="2800">
                <a:solidFill>
                  <a:srgbClr val="FFFFFF"/>
                </a:solidFill>
                <a:latin typeface="Georgia"/>
                <a:ea typeface="Georgia"/>
                <a:cs typeface="Georgia"/>
                <a:sym typeface="Georgia"/>
              </a:defRPr>
            </a:pPr>
            <a:r>
              <a:t>unified data model.</a:t>
            </a:r>
          </a:p>
        </p:txBody>
      </p:sp>
      <p:sp>
        <p:nvSpPr>
          <p:cNvPr id="112" name="Text 2"/>
          <p:cNvSpPr txBox="1"/>
          <p:nvPr/>
        </p:nvSpPr>
        <p:spPr>
          <a:xfrm>
            <a:off x="731520" y="1830728"/>
            <a:ext cx="7680960" cy="45334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50000"/>
              </a:lnSpc>
              <a:defRPr sz="1300">
                <a:solidFill>
                  <a:srgbClr val="8895A7"/>
                </a:solidFill>
              </a:defRPr>
            </a:lvl1pPr>
          </a:lstStyle>
          <a:p>
            <a:pPr/>
            <a:r>
              <a:t>The Single Source of Truth (SSOT) is the foundation. Our Context Agent builds, manages, and continuously validates this layer so every report, every query, and every insight draws from the same trusted data.</a:t>
            </a:r>
          </a:p>
        </p:txBody>
      </p:sp>
      <p:sp>
        <p:nvSpPr>
          <p:cNvPr id="113" name="Shape 3"/>
          <p:cNvSpPr/>
          <p:nvPr/>
        </p:nvSpPr>
        <p:spPr>
          <a:xfrm>
            <a:off x="457200" y="2651760"/>
            <a:ext cx="2606040" cy="2103121"/>
          </a:xfrm>
          <a:prstGeom prst="rect">
            <a:avLst/>
          </a:prstGeom>
          <a:solidFill>
            <a:srgbClr val="1F2D40"/>
          </a:solidFill>
          <a:ln w="12700">
            <a:miter lim="400000"/>
          </a:ln>
        </p:spPr>
        <p:txBody>
          <a:bodyPr lIns="45719" rIns="45719"/>
          <a:lstStyle/>
          <a:p>
            <a:pPr/>
          </a:p>
        </p:txBody>
      </p:sp>
      <p:pic>
        <p:nvPicPr>
          <p:cNvPr id="114" name="Image 0" descr="Image 0"/>
          <p:cNvPicPr>
            <a:picLocks noChangeAspect="1"/>
          </p:cNvPicPr>
          <p:nvPr/>
        </p:nvPicPr>
        <p:blipFill>
          <a:blip r:embed="rId2">
            <a:extLst/>
          </a:blip>
          <a:stretch>
            <a:fillRect/>
          </a:stretch>
        </p:blipFill>
        <p:spPr>
          <a:xfrm>
            <a:off x="685800" y="2834639"/>
            <a:ext cx="365760" cy="365761"/>
          </a:xfrm>
          <a:prstGeom prst="rect">
            <a:avLst/>
          </a:prstGeom>
          <a:ln w="12700">
            <a:miter lim="400000"/>
          </a:ln>
        </p:spPr>
      </p:pic>
      <p:sp>
        <p:nvSpPr>
          <p:cNvPr id="115" name="Text 4"/>
          <p:cNvSpPr txBox="1"/>
          <p:nvPr/>
        </p:nvSpPr>
        <p:spPr>
          <a:xfrm>
            <a:off x="685800" y="3357180"/>
            <a:ext cx="2148840"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rgbClr val="FFFFFF"/>
                </a:solidFill>
              </a:defRPr>
            </a:lvl1pPr>
          </a:lstStyle>
          <a:p>
            <a:pPr/>
            <a:r>
              <a:t>Single Source of Truth</a:t>
            </a:r>
          </a:p>
        </p:txBody>
      </p:sp>
      <p:sp>
        <p:nvSpPr>
          <p:cNvPr id="116" name="Text 5"/>
          <p:cNvSpPr txBox="1"/>
          <p:nvPr/>
        </p:nvSpPr>
        <p:spPr>
          <a:xfrm>
            <a:off x="685800" y="3783138"/>
            <a:ext cx="2148840" cy="57188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40000"/>
              </a:lnSpc>
              <a:defRPr sz="1100">
                <a:solidFill>
                  <a:srgbClr val="8895A7"/>
                </a:solidFill>
              </a:defRPr>
            </a:lvl1pPr>
          </a:lstStyle>
          <a:p>
            <a:pPr/>
            <a:r>
              <a:t>Attribution, spend, and revenue unified at device level. One data model, one definition of every metric.</a:t>
            </a:r>
          </a:p>
        </p:txBody>
      </p:sp>
      <p:sp>
        <p:nvSpPr>
          <p:cNvPr id="117" name="Shape 6"/>
          <p:cNvSpPr/>
          <p:nvPr/>
        </p:nvSpPr>
        <p:spPr>
          <a:xfrm>
            <a:off x="3337559" y="2651760"/>
            <a:ext cx="2606041" cy="2103121"/>
          </a:xfrm>
          <a:prstGeom prst="rect">
            <a:avLst/>
          </a:prstGeom>
          <a:solidFill>
            <a:srgbClr val="1F2D40"/>
          </a:solidFill>
          <a:ln w="12700">
            <a:miter lim="400000"/>
          </a:ln>
        </p:spPr>
        <p:txBody>
          <a:bodyPr lIns="45719" rIns="45719"/>
          <a:lstStyle/>
          <a:p>
            <a:pPr/>
          </a:p>
        </p:txBody>
      </p:sp>
      <p:pic>
        <p:nvPicPr>
          <p:cNvPr id="118" name="Image 1" descr="Image 1"/>
          <p:cNvPicPr>
            <a:picLocks noChangeAspect="1"/>
          </p:cNvPicPr>
          <p:nvPr/>
        </p:nvPicPr>
        <p:blipFill>
          <a:blip r:embed="rId3">
            <a:extLst/>
          </a:blip>
          <a:stretch>
            <a:fillRect/>
          </a:stretch>
        </p:blipFill>
        <p:spPr>
          <a:xfrm>
            <a:off x="3566159" y="2834639"/>
            <a:ext cx="365761" cy="365761"/>
          </a:xfrm>
          <a:prstGeom prst="rect">
            <a:avLst/>
          </a:prstGeom>
          <a:ln w="12700">
            <a:miter lim="400000"/>
          </a:ln>
        </p:spPr>
      </p:pic>
      <p:sp>
        <p:nvSpPr>
          <p:cNvPr id="119" name="Text 7"/>
          <p:cNvSpPr txBox="1"/>
          <p:nvPr/>
        </p:nvSpPr>
        <p:spPr>
          <a:xfrm>
            <a:off x="3566159" y="3357180"/>
            <a:ext cx="214884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rgbClr val="FFFFFF"/>
                </a:solidFill>
              </a:defRPr>
            </a:lvl1pPr>
          </a:lstStyle>
          <a:p>
            <a:pPr/>
            <a:r>
              <a:t>Context Agent</a:t>
            </a:r>
          </a:p>
        </p:txBody>
      </p:sp>
      <p:sp>
        <p:nvSpPr>
          <p:cNvPr id="120" name="Text 8"/>
          <p:cNvSpPr txBox="1"/>
          <p:nvPr/>
        </p:nvSpPr>
        <p:spPr>
          <a:xfrm>
            <a:off x="3566159" y="3673735"/>
            <a:ext cx="2148841" cy="79069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40000"/>
              </a:lnSpc>
              <a:defRPr sz="1100">
                <a:solidFill>
                  <a:srgbClr val="8895A7"/>
                </a:solidFill>
              </a:defRPr>
            </a:lvl1pPr>
          </a:lstStyle>
          <a:p>
            <a:pPr/>
            <a:r>
              <a:t>Manages the semantic layer. Runs data quality checks, validates business logic, and keeps the SSOT accurate.</a:t>
            </a:r>
          </a:p>
        </p:txBody>
      </p:sp>
      <p:sp>
        <p:nvSpPr>
          <p:cNvPr id="121" name="Shape 9"/>
          <p:cNvSpPr/>
          <p:nvPr/>
        </p:nvSpPr>
        <p:spPr>
          <a:xfrm>
            <a:off x="6217920" y="2651760"/>
            <a:ext cx="2606041" cy="2103121"/>
          </a:xfrm>
          <a:prstGeom prst="rect">
            <a:avLst/>
          </a:prstGeom>
          <a:solidFill>
            <a:srgbClr val="1F2D40"/>
          </a:solidFill>
          <a:ln w="12700">
            <a:miter lim="400000"/>
          </a:ln>
        </p:spPr>
        <p:txBody>
          <a:bodyPr lIns="45719" rIns="45719"/>
          <a:lstStyle/>
          <a:p>
            <a:pPr/>
          </a:p>
        </p:txBody>
      </p:sp>
      <p:pic>
        <p:nvPicPr>
          <p:cNvPr id="122" name="Image 2" descr="Image 2"/>
          <p:cNvPicPr>
            <a:picLocks noChangeAspect="1"/>
          </p:cNvPicPr>
          <p:nvPr/>
        </p:nvPicPr>
        <p:blipFill>
          <a:blip r:embed="rId4">
            <a:extLst/>
          </a:blip>
          <a:stretch>
            <a:fillRect/>
          </a:stretch>
        </p:blipFill>
        <p:spPr>
          <a:xfrm>
            <a:off x="6446520" y="2834639"/>
            <a:ext cx="365761" cy="365761"/>
          </a:xfrm>
          <a:prstGeom prst="rect">
            <a:avLst/>
          </a:prstGeom>
          <a:ln w="12700">
            <a:miter lim="400000"/>
          </a:ln>
        </p:spPr>
      </p:pic>
      <p:sp>
        <p:nvSpPr>
          <p:cNvPr id="123" name="Text 10"/>
          <p:cNvSpPr txBox="1"/>
          <p:nvPr/>
        </p:nvSpPr>
        <p:spPr>
          <a:xfrm>
            <a:off x="6446520" y="3357180"/>
            <a:ext cx="214884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rgbClr val="FFFFFF"/>
                </a:solidFill>
              </a:defRPr>
            </a:lvl1pPr>
          </a:lstStyle>
          <a:p>
            <a:pPr/>
            <a:r>
              <a:t>Semantic Layer</a:t>
            </a:r>
          </a:p>
        </p:txBody>
      </p:sp>
      <p:sp>
        <p:nvSpPr>
          <p:cNvPr id="124" name="Text 11"/>
          <p:cNvSpPr txBox="1"/>
          <p:nvPr/>
        </p:nvSpPr>
        <p:spPr>
          <a:xfrm>
            <a:off x="6446520" y="3673735"/>
            <a:ext cx="2148841" cy="79069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40000"/>
              </a:lnSpc>
              <a:defRPr sz="1100">
                <a:solidFill>
                  <a:srgbClr val="8895A7"/>
                </a:solidFill>
              </a:defRPr>
            </a:lvl1pPr>
          </a:lstStyle>
          <a:p>
            <a:pPr/>
            <a:r>
              <a:t>Custom business logic configuration on top of the SSOT. Powers all AI features with domain-specific context.</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7F9FB"/>
        </a:solidFill>
      </p:bgPr>
    </p:bg>
    <p:spTree>
      <p:nvGrpSpPr>
        <p:cNvPr id="1" name=""/>
        <p:cNvGrpSpPr/>
        <p:nvPr/>
      </p:nvGrpSpPr>
      <p:grpSpPr>
        <a:xfrm>
          <a:off x="0" y="0"/>
          <a:ext cx="0" cy="0"/>
          <a:chOff x="0" y="0"/>
          <a:chExt cx="0" cy="0"/>
        </a:xfrm>
      </p:grpSpPr>
      <p:sp>
        <p:nvSpPr>
          <p:cNvPr id="126" name="Text 0"/>
          <p:cNvSpPr txBox="1"/>
          <p:nvPr/>
        </p:nvSpPr>
        <p:spPr>
          <a:xfrm>
            <a:off x="731519" y="390066"/>
            <a:ext cx="457200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300" sz="1100">
                <a:solidFill>
                  <a:srgbClr val="2A8A8A"/>
                </a:solidFill>
              </a:defRPr>
            </a:lvl1pPr>
          </a:lstStyle>
          <a:p>
            <a:pPr/>
            <a:r>
              <a:t>ONBOARDING</a:t>
            </a:r>
          </a:p>
        </p:txBody>
      </p:sp>
      <p:sp>
        <p:nvSpPr>
          <p:cNvPr id="127" name="Text 1"/>
          <p:cNvSpPr txBox="1"/>
          <p:nvPr/>
        </p:nvSpPr>
        <p:spPr>
          <a:xfrm>
            <a:off x="731520" y="614552"/>
            <a:ext cx="7680960" cy="81915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15000"/>
              </a:lnSpc>
              <a:defRPr b="1" sz="2600">
                <a:solidFill>
                  <a:srgbClr val="1A2332"/>
                </a:solidFill>
                <a:latin typeface="Georgia"/>
                <a:ea typeface="Georgia"/>
                <a:cs typeface="Georgia"/>
                <a:sym typeface="Georgia"/>
              </a:defRPr>
            </a:pPr>
            <a:r>
              <a:t>From plug-in to full visibility.</a:t>
            </a:r>
          </a:p>
          <a:p>
            <a:pPr>
              <a:lnSpc>
                <a:spcPct val="115000"/>
              </a:lnSpc>
              <a:defRPr b="1" sz="2600">
                <a:solidFill>
                  <a:srgbClr val="1A2332"/>
                </a:solidFill>
                <a:latin typeface="Georgia"/>
                <a:ea typeface="Georgia"/>
                <a:cs typeface="Georgia"/>
                <a:sym typeface="Georgia"/>
              </a:defRPr>
            </a:pPr>
            <a:r>
              <a:t>Nothing breaks.</a:t>
            </a:r>
          </a:p>
        </p:txBody>
      </p:sp>
      <p:sp>
        <p:nvSpPr>
          <p:cNvPr id="128" name="Shape 2"/>
          <p:cNvSpPr/>
          <p:nvPr/>
        </p:nvSpPr>
        <p:spPr>
          <a:xfrm>
            <a:off x="457200" y="1600200"/>
            <a:ext cx="2606040" cy="1417320"/>
          </a:xfrm>
          <a:prstGeom prst="rect">
            <a:avLst/>
          </a:prstGeom>
          <a:solidFill>
            <a:srgbClr val="FFFFFF"/>
          </a:solidFill>
          <a:ln w="12700">
            <a:miter lim="400000"/>
          </a:ln>
          <a:effectLst>
            <a:outerShdw sx="100000" sy="100000" kx="0" ky="0" algn="b" rotWithShape="0" blurRad="76200" dist="25400" dir="8100000">
              <a:srgbClr val="000000">
                <a:alpha val="8000"/>
              </a:srgbClr>
            </a:outerShdw>
          </a:effectLst>
        </p:spPr>
        <p:txBody>
          <a:bodyPr lIns="45719" rIns="45719"/>
          <a:lstStyle/>
          <a:p>
            <a:pPr/>
          </a:p>
        </p:txBody>
      </p:sp>
      <p:sp>
        <p:nvSpPr>
          <p:cNvPr id="129" name="Shape 3"/>
          <p:cNvSpPr/>
          <p:nvPr/>
        </p:nvSpPr>
        <p:spPr>
          <a:xfrm>
            <a:off x="594359" y="1737360"/>
            <a:ext cx="365762" cy="320041"/>
          </a:xfrm>
          <a:prstGeom prst="rect">
            <a:avLst/>
          </a:prstGeom>
          <a:solidFill>
            <a:srgbClr val="2A8A8A"/>
          </a:solidFill>
          <a:ln w="12700">
            <a:miter lim="400000"/>
          </a:ln>
        </p:spPr>
        <p:txBody>
          <a:bodyPr lIns="45719" rIns="45719"/>
          <a:lstStyle/>
          <a:p>
            <a:pPr/>
          </a:p>
        </p:txBody>
      </p:sp>
      <p:sp>
        <p:nvSpPr>
          <p:cNvPr id="130" name="Text 4"/>
          <p:cNvSpPr txBox="1"/>
          <p:nvPr/>
        </p:nvSpPr>
        <p:spPr>
          <a:xfrm>
            <a:off x="594359" y="1818947"/>
            <a:ext cx="365762"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200">
                <a:solidFill>
                  <a:srgbClr val="FFFFFF"/>
                </a:solidFill>
              </a:defRPr>
            </a:lvl1pPr>
          </a:lstStyle>
          <a:p>
            <a:pPr/>
            <a:r>
              <a:t>01</a:t>
            </a:r>
          </a:p>
        </p:txBody>
      </p:sp>
      <p:sp>
        <p:nvSpPr>
          <p:cNvPr id="131" name="Text 5"/>
          <p:cNvSpPr txBox="1"/>
          <p:nvPr/>
        </p:nvSpPr>
        <p:spPr>
          <a:xfrm>
            <a:off x="1051560" y="1818947"/>
            <a:ext cx="182880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200">
                <a:solidFill>
                  <a:srgbClr val="1A2332"/>
                </a:solidFill>
              </a:defRPr>
            </a:lvl1pPr>
          </a:lstStyle>
          <a:p>
            <a:pPr/>
            <a:r>
              <a:t>Connect Your Data</a:t>
            </a:r>
          </a:p>
        </p:txBody>
      </p:sp>
      <p:sp>
        <p:nvSpPr>
          <p:cNvPr id="132" name="Text 6"/>
          <p:cNvSpPr txBox="1"/>
          <p:nvPr/>
        </p:nvSpPr>
        <p:spPr>
          <a:xfrm>
            <a:off x="594359" y="2336100"/>
            <a:ext cx="2331722" cy="3570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40000"/>
              </a:lnSpc>
              <a:defRPr sz="1000">
                <a:solidFill>
                  <a:srgbClr val="3D4F63"/>
                </a:solidFill>
              </a:defRPr>
            </a:lvl1pPr>
          </a:lstStyle>
          <a:p>
            <a:pPr/>
            <a:r>
              <a:t>We plug into your existing warehouse and data infrastructure. Nothing to migrate.</a:t>
            </a:r>
          </a:p>
        </p:txBody>
      </p:sp>
      <p:sp>
        <p:nvSpPr>
          <p:cNvPr id="133" name="Shape 7"/>
          <p:cNvSpPr/>
          <p:nvPr/>
        </p:nvSpPr>
        <p:spPr>
          <a:xfrm>
            <a:off x="3337559" y="1600200"/>
            <a:ext cx="2606041" cy="1417320"/>
          </a:xfrm>
          <a:prstGeom prst="rect">
            <a:avLst/>
          </a:prstGeom>
          <a:solidFill>
            <a:srgbClr val="FFFFFF"/>
          </a:solidFill>
          <a:ln w="12700">
            <a:miter lim="400000"/>
          </a:ln>
          <a:effectLst>
            <a:outerShdw sx="100000" sy="100000" kx="0" ky="0" algn="b" rotWithShape="0" blurRad="76200" dist="25400" dir="8100000">
              <a:srgbClr val="000000">
                <a:alpha val="8000"/>
              </a:srgbClr>
            </a:outerShdw>
          </a:effectLst>
        </p:spPr>
        <p:txBody>
          <a:bodyPr lIns="45719" rIns="45719"/>
          <a:lstStyle/>
          <a:p>
            <a:pPr/>
          </a:p>
        </p:txBody>
      </p:sp>
      <p:sp>
        <p:nvSpPr>
          <p:cNvPr id="134" name="Shape 8"/>
          <p:cNvSpPr/>
          <p:nvPr/>
        </p:nvSpPr>
        <p:spPr>
          <a:xfrm>
            <a:off x="3474720" y="1737360"/>
            <a:ext cx="365761" cy="320041"/>
          </a:xfrm>
          <a:prstGeom prst="rect">
            <a:avLst/>
          </a:prstGeom>
          <a:solidFill>
            <a:srgbClr val="2A8A8A"/>
          </a:solidFill>
          <a:ln w="12700">
            <a:miter lim="400000"/>
          </a:ln>
        </p:spPr>
        <p:txBody>
          <a:bodyPr lIns="45719" rIns="45719"/>
          <a:lstStyle/>
          <a:p>
            <a:pPr/>
          </a:p>
        </p:txBody>
      </p:sp>
      <p:sp>
        <p:nvSpPr>
          <p:cNvPr id="135" name="Text 9"/>
          <p:cNvSpPr txBox="1"/>
          <p:nvPr/>
        </p:nvSpPr>
        <p:spPr>
          <a:xfrm>
            <a:off x="3474720" y="1818947"/>
            <a:ext cx="36576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200">
                <a:solidFill>
                  <a:srgbClr val="FFFFFF"/>
                </a:solidFill>
              </a:defRPr>
            </a:lvl1pPr>
          </a:lstStyle>
          <a:p>
            <a:pPr/>
            <a:r>
              <a:t>02</a:t>
            </a:r>
          </a:p>
        </p:txBody>
      </p:sp>
      <p:sp>
        <p:nvSpPr>
          <p:cNvPr id="136" name="Text 10"/>
          <p:cNvSpPr txBox="1"/>
          <p:nvPr/>
        </p:nvSpPr>
        <p:spPr>
          <a:xfrm>
            <a:off x="3931920" y="1818947"/>
            <a:ext cx="182880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200">
                <a:solidFill>
                  <a:srgbClr val="1A2332"/>
                </a:solidFill>
              </a:defRPr>
            </a:lvl1pPr>
          </a:lstStyle>
          <a:p>
            <a:pPr/>
            <a:r>
              <a:t>Data Quality Check</a:t>
            </a:r>
          </a:p>
        </p:txBody>
      </p:sp>
      <p:sp>
        <p:nvSpPr>
          <p:cNvPr id="137" name="Text 11"/>
          <p:cNvSpPr txBox="1"/>
          <p:nvPr/>
        </p:nvSpPr>
        <p:spPr>
          <a:xfrm>
            <a:off x="3474720" y="2336100"/>
            <a:ext cx="2331721" cy="3570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40000"/>
              </a:lnSpc>
              <a:defRPr sz="1000">
                <a:solidFill>
                  <a:srgbClr val="3D4F63"/>
                </a:solidFill>
              </a:defRPr>
            </a:lvl1pPr>
          </a:lstStyle>
          <a:p>
            <a:pPr/>
            <a:r>
              <a:t>Automated audit of revenue, spend, and installs data integrity.</a:t>
            </a:r>
          </a:p>
        </p:txBody>
      </p:sp>
      <p:sp>
        <p:nvSpPr>
          <p:cNvPr id="138" name="Shape 12"/>
          <p:cNvSpPr/>
          <p:nvPr/>
        </p:nvSpPr>
        <p:spPr>
          <a:xfrm>
            <a:off x="6217920" y="1600200"/>
            <a:ext cx="2606041" cy="1417320"/>
          </a:xfrm>
          <a:prstGeom prst="rect">
            <a:avLst/>
          </a:prstGeom>
          <a:solidFill>
            <a:srgbClr val="FFFFFF"/>
          </a:solidFill>
          <a:ln w="12700">
            <a:miter lim="400000"/>
          </a:ln>
          <a:effectLst>
            <a:outerShdw sx="100000" sy="100000" kx="0" ky="0" algn="b" rotWithShape="0" blurRad="76200" dist="25400" dir="8100000">
              <a:srgbClr val="000000">
                <a:alpha val="8000"/>
              </a:srgbClr>
            </a:outerShdw>
          </a:effectLst>
        </p:spPr>
        <p:txBody>
          <a:bodyPr lIns="45719" rIns="45719"/>
          <a:lstStyle/>
          <a:p>
            <a:pPr/>
          </a:p>
        </p:txBody>
      </p:sp>
      <p:sp>
        <p:nvSpPr>
          <p:cNvPr id="139" name="Shape 13"/>
          <p:cNvSpPr/>
          <p:nvPr/>
        </p:nvSpPr>
        <p:spPr>
          <a:xfrm>
            <a:off x="6355079" y="1737360"/>
            <a:ext cx="365761" cy="320041"/>
          </a:xfrm>
          <a:prstGeom prst="rect">
            <a:avLst/>
          </a:prstGeom>
          <a:solidFill>
            <a:srgbClr val="2A8A8A"/>
          </a:solidFill>
          <a:ln w="12700">
            <a:miter lim="400000"/>
          </a:ln>
        </p:spPr>
        <p:txBody>
          <a:bodyPr lIns="45719" rIns="45719"/>
          <a:lstStyle/>
          <a:p>
            <a:pPr/>
          </a:p>
        </p:txBody>
      </p:sp>
      <p:sp>
        <p:nvSpPr>
          <p:cNvPr id="140" name="Text 14"/>
          <p:cNvSpPr txBox="1"/>
          <p:nvPr/>
        </p:nvSpPr>
        <p:spPr>
          <a:xfrm>
            <a:off x="6355079" y="1818947"/>
            <a:ext cx="36576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200">
                <a:solidFill>
                  <a:srgbClr val="FFFFFF"/>
                </a:solidFill>
              </a:defRPr>
            </a:lvl1pPr>
          </a:lstStyle>
          <a:p>
            <a:pPr/>
            <a:r>
              <a:t>03</a:t>
            </a:r>
          </a:p>
        </p:txBody>
      </p:sp>
      <p:sp>
        <p:nvSpPr>
          <p:cNvPr id="141" name="Text 15"/>
          <p:cNvSpPr txBox="1"/>
          <p:nvPr/>
        </p:nvSpPr>
        <p:spPr>
          <a:xfrm>
            <a:off x="6812280" y="1818947"/>
            <a:ext cx="182880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200">
                <a:solidFill>
                  <a:srgbClr val="1A2332"/>
                </a:solidFill>
              </a:defRPr>
            </a:lvl1pPr>
          </a:lstStyle>
          <a:p>
            <a:pPr/>
            <a:r>
              <a:t>Attribution Setup</a:t>
            </a:r>
          </a:p>
        </p:txBody>
      </p:sp>
      <p:sp>
        <p:nvSpPr>
          <p:cNvPr id="142" name="Text 16"/>
          <p:cNvSpPr txBox="1"/>
          <p:nvPr/>
        </p:nvSpPr>
        <p:spPr>
          <a:xfrm>
            <a:off x="6355079" y="2336100"/>
            <a:ext cx="2331721" cy="3570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40000"/>
              </a:lnSpc>
              <a:defRPr sz="1000">
                <a:solidFill>
                  <a:srgbClr val="3D4F63"/>
                </a:solidFill>
              </a:defRPr>
            </a:lvl1pPr>
          </a:lstStyle>
          <a:p>
            <a:pPr/>
            <a:r>
              <a:t>Device-level attribution configured for accurate cross-channel measurement.</a:t>
            </a:r>
          </a:p>
        </p:txBody>
      </p:sp>
      <p:sp>
        <p:nvSpPr>
          <p:cNvPr id="143" name="Shape 17"/>
          <p:cNvSpPr/>
          <p:nvPr/>
        </p:nvSpPr>
        <p:spPr>
          <a:xfrm>
            <a:off x="457200" y="3200400"/>
            <a:ext cx="2606040" cy="1417320"/>
          </a:xfrm>
          <a:prstGeom prst="rect">
            <a:avLst/>
          </a:prstGeom>
          <a:solidFill>
            <a:srgbClr val="FFFFFF"/>
          </a:solidFill>
          <a:ln w="12700">
            <a:miter lim="400000"/>
          </a:ln>
          <a:effectLst>
            <a:outerShdw sx="100000" sy="100000" kx="0" ky="0" algn="b" rotWithShape="0" blurRad="76200" dist="25400" dir="8100000">
              <a:srgbClr val="000000">
                <a:alpha val="8000"/>
              </a:srgbClr>
            </a:outerShdw>
          </a:effectLst>
        </p:spPr>
        <p:txBody>
          <a:bodyPr lIns="45719" rIns="45719"/>
          <a:lstStyle/>
          <a:p>
            <a:pPr/>
          </a:p>
        </p:txBody>
      </p:sp>
      <p:sp>
        <p:nvSpPr>
          <p:cNvPr id="144" name="Shape 18"/>
          <p:cNvSpPr/>
          <p:nvPr/>
        </p:nvSpPr>
        <p:spPr>
          <a:xfrm>
            <a:off x="594359" y="3337559"/>
            <a:ext cx="365762" cy="320041"/>
          </a:xfrm>
          <a:prstGeom prst="rect">
            <a:avLst/>
          </a:prstGeom>
          <a:solidFill>
            <a:srgbClr val="2A8A8A"/>
          </a:solidFill>
          <a:ln w="12700">
            <a:miter lim="400000"/>
          </a:ln>
        </p:spPr>
        <p:txBody>
          <a:bodyPr lIns="45719" rIns="45719"/>
          <a:lstStyle/>
          <a:p>
            <a:pPr/>
          </a:p>
        </p:txBody>
      </p:sp>
      <p:sp>
        <p:nvSpPr>
          <p:cNvPr id="145" name="Text 19"/>
          <p:cNvSpPr txBox="1"/>
          <p:nvPr/>
        </p:nvSpPr>
        <p:spPr>
          <a:xfrm>
            <a:off x="594359" y="3419147"/>
            <a:ext cx="365762"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200">
                <a:solidFill>
                  <a:srgbClr val="FFFFFF"/>
                </a:solidFill>
              </a:defRPr>
            </a:lvl1pPr>
          </a:lstStyle>
          <a:p>
            <a:pPr/>
            <a:r>
              <a:t>04</a:t>
            </a:r>
          </a:p>
        </p:txBody>
      </p:sp>
      <p:sp>
        <p:nvSpPr>
          <p:cNvPr id="146" name="Text 20"/>
          <p:cNvSpPr txBox="1"/>
          <p:nvPr/>
        </p:nvSpPr>
        <p:spPr>
          <a:xfrm>
            <a:off x="1051560" y="3419147"/>
            <a:ext cx="182880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200">
                <a:solidFill>
                  <a:srgbClr val="1A2332"/>
                </a:solidFill>
              </a:defRPr>
            </a:lvl1pPr>
          </a:lstStyle>
          <a:p>
            <a:pPr/>
            <a:r>
              <a:t>Build Your Metrics</a:t>
            </a:r>
          </a:p>
        </p:txBody>
      </p:sp>
      <p:sp>
        <p:nvSpPr>
          <p:cNvPr id="147" name="Text 21"/>
          <p:cNvSpPr txBox="1"/>
          <p:nvPr/>
        </p:nvSpPr>
        <p:spPr>
          <a:xfrm>
            <a:off x="594359" y="3936300"/>
            <a:ext cx="2331722" cy="3570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40000"/>
              </a:lnSpc>
              <a:defRPr sz="1000">
                <a:solidFill>
                  <a:srgbClr val="3D4F63"/>
                </a:solidFill>
              </a:defRPr>
            </a:lvl1pPr>
          </a:lstStyle>
          <a:p>
            <a:pPr/>
            <a:r>
              <a:t>Your business logic and metric definitions, configured once, consistent everywhere.</a:t>
            </a:r>
          </a:p>
        </p:txBody>
      </p:sp>
      <p:sp>
        <p:nvSpPr>
          <p:cNvPr id="148" name="Shape 22"/>
          <p:cNvSpPr/>
          <p:nvPr/>
        </p:nvSpPr>
        <p:spPr>
          <a:xfrm>
            <a:off x="3337559" y="3200400"/>
            <a:ext cx="2606041" cy="1417320"/>
          </a:xfrm>
          <a:prstGeom prst="rect">
            <a:avLst/>
          </a:prstGeom>
          <a:solidFill>
            <a:srgbClr val="FFFFFF"/>
          </a:solidFill>
          <a:ln w="12700">
            <a:miter lim="400000"/>
          </a:ln>
          <a:effectLst>
            <a:outerShdw sx="100000" sy="100000" kx="0" ky="0" algn="b" rotWithShape="0" blurRad="76200" dist="25400" dir="8100000">
              <a:srgbClr val="000000">
                <a:alpha val="8000"/>
              </a:srgbClr>
            </a:outerShdw>
          </a:effectLst>
        </p:spPr>
        <p:txBody>
          <a:bodyPr lIns="45719" rIns="45719"/>
          <a:lstStyle/>
          <a:p>
            <a:pPr/>
          </a:p>
        </p:txBody>
      </p:sp>
      <p:sp>
        <p:nvSpPr>
          <p:cNvPr id="149" name="Shape 23"/>
          <p:cNvSpPr/>
          <p:nvPr/>
        </p:nvSpPr>
        <p:spPr>
          <a:xfrm>
            <a:off x="3474720" y="3337559"/>
            <a:ext cx="365761" cy="320041"/>
          </a:xfrm>
          <a:prstGeom prst="rect">
            <a:avLst/>
          </a:prstGeom>
          <a:solidFill>
            <a:srgbClr val="2A8A8A"/>
          </a:solidFill>
          <a:ln w="12700">
            <a:miter lim="400000"/>
          </a:ln>
        </p:spPr>
        <p:txBody>
          <a:bodyPr lIns="45719" rIns="45719"/>
          <a:lstStyle/>
          <a:p>
            <a:pPr/>
          </a:p>
        </p:txBody>
      </p:sp>
      <p:sp>
        <p:nvSpPr>
          <p:cNvPr id="150" name="Text 24"/>
          <p:cNvSpPr txBox="1"/>
          <p:nvPr/>
        </p:nvSpPr>
        <p:spPr>
          <a:xfrm>
            <a:off x="3474720" y="3419147"/>
            <a:ext cx="36576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200">
                <a:solidFill>
                  <a:srgbClr val="FFFFFF"/>
                </a:solidFill>
              </a:defRPr>
            </a:lvl1pPr>
          </a:lstStyle>
          <a:p>
            <a:pPr/>
            <a:r>
              <a:t>05</a:t>
            </a:r>
          </a:p>
        </p:txBody>
      </p:sp>
      <p:sp>
        <p:nvSpPr>
          <p:cNvPr id="151" name="Text 25"/>
          <p:cNvSpPr txBox="1"/>
          <p:nvPr/>
        </p:nvSpPr>
        <p:spPr>
          <a:xfrm>
            <a:off x="3931920" y="3419147"/>
            <a:ext cx="182880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200">
                <a:solidFill>
                  <a:srgbClr val="1A2332"/>
                </a:solidFill>
              </a:defRPr>
            </a:lvl1pPr>
          </a:lstStyle>
          <a:p>
            <a:pPr/>
            <a:r>
              <a:t>Product Data (On Demand)</a:t>
            </a:r>
          </a:p>
        </p:txBody>
      </p:sp>
      <p:sp>
        <p:nvSpPr>
          <p:cNvPr id="152" name="Text 26"/>
          <p:cNvSpPr txBox="1"/>
          <p:nvPr/>
        </p:nvSpPr>
        <p:spPr>
          <a:xfrm>
            <a:off x="3474720" y="3936300"/>
            <a:ext cx="2331721" cy="3570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40000"/>
              </a:lnSpc>
              <a:defRPr sz="1000">
                <a:solidFill>
                  <a:srgbClr val="3D4F63"/>
                </a:solidFill>
              </a:defRPr>
            </a:lvl1pPr>
          </a:lstStyle>
          <a:p>
            <a:pPr/>
            <a:r>
              <a:t>Optional integration of product analytics data into the unified model.</a:t>
            </a:r>
          </a:p>
        </p:txBody>
      </p:sp>
      <p:sp>
        <p:nvSpPr>
          <p:cNvPr id="153" name="Shape 27"/>
          <p:cNvSpPr/>
          <p:nvPr/>
        </p:nvSpPr>
        <p:spPr>
          <a:xfrm>
            <a:off x="6217920" y="3200400"/>
            <a:ext cx="2606041" cy="1417320"/>
          </a:xfrm>
          <a:prstGeom prst="rect">
            <a:avLst/>
          </a:prstGeom>
          <a:solidFill>
            <a:srgbClr val="FFFFFF"/>
          </a:solidFill>
          <a:ln w="12700">
            <a:miter lim="400000"/>
          </a:ln>
          <a:effectLst>
            <a:outerShdw sx="100000" sy="100000" kx="0" ky="0" algn="b" rotWithShape="0" blurRad="76200" dist="25400" dir="8100000">
              <a:srgbClr val="000000">
                <a:alpha val="8000"/>
              </a:srgbClr>
            </a:outerShdw>
          </a:effectLst>
        </p:spPr>
        <p:txBody>
          <a:bodyPr lIns="45719" rIns="45719"/>
          <a:lstStyle/>
          <a:p>
            <a:pPr/>
          </a:p>
        </p:txBody>
      </p:sp>
      <p:sp>
        <p:nvSpPr>
          <p:cNvPr id="154" name="Shape 28"/>
          <p:cNvSpPr/>
          <p:nvPr/>
        </p:nvSpPr>
        <p:spPr>
          <a:xfrm>
            <a:off x="6355079" y="3337559"/>
            <a:ext cx="365761" cy="320041"/>
          </a:xfrm>
          <a:prstGeom prst="rect">
            <a:avLst/>
          </a:prstGeom>
          <a:solidFill>
            <a:srgbClr val="2A8A8A"/>
          </a:solidFill>
          <a:ln w="12700">
            <a:miter lim="400000"/>
          </a:ln>
        </p:spPr>
        <p:txBody>
          <a:bodyPr lIns="45719" rIns="45719"/>
          <a:lstStyle/>
          <a:p>
            <a:pPr/>
          </a:p>
        </p:txBody>
      </p:sp>
      <p:sp>
        <p:nvSpPr>
          <p:cNvPr id="155" name="Text 29"/>
          <p:cNvSpPr txBox="1"/>
          <p:nvPr/>
        </p:nvSpPr>
        <p:spPr>
          <a:xfrm>
            <a:off x="6355079" y="3419147"/>
            <a:ext cx="36576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200">
                <a:solidFill>
                  <a:srgbClr val="FFFFFF"/>
                </a:solidFill>
              </a:defRPr>
            </a:lvl1pPr>
          </a:lstStyle>
          <a:p>
            <a:pPr/>
            <a:r>
              <a:t>06</a:t>
            </a:r>
          </a:p>
        </p:txBody>
      </p:sp>
      <p:sp>
        <p:nvSpPr>
          <p:cNvPr id="156" name="Text 30"/>
          <p:cNvSpPr txBox="1"/>
          <p:nvPr/>
        </p:nvSpPr>
        <p:spPr>
          <a:xfrm>
            <a:off x="6812280" y="3419147"/>
            <a:ext cx="182880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200">
                <a:solidFill>
                  <a:srgbClr val="1A2332"/>
                </a:solidFill>
              </a:defRPr>
            </a:lvl1pPr>
          </a:lstStyle>
          <a:p>
            <a:pPr/>
            <a:r>
              <a:t>Go Live</a:t>
            </a:r>
          </a:p>
        </p:txBody>
      </p:sp>
      <p:sp>
        <p:nvSpPr>
          <p:cNvPr id="157" name="Text 31"/>
          <p:cNvSpPr txBox="1"/>
          <p:nvPr/>
        </p:nvSpPr>
        <p:spPr>
          <a:xfrm>
            <a:off x="6355079" y="3936300"/>
            <a:ext cx="2331721" cy="3570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40000"/>
              </a:lnSpc>
              <a:defRPr sz="1000">
                <a:solidFill>
                  <a:srgbClr val="3D4F63"/>
                </a:solidFill>
              </a:defRPr>
            </a:lvl1pPr>
          </a:lstStyle>
          <a:p>
            <a:pPr/>
            <a:r>
              <a:t>Daily digests, AI chat, and dashboards live. Your team starts getting answers.</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A2332"/>
        </a:solidFill>
      </p:bgPr>
    </p:bg>
    <p:spTree>
      <p:nvGrpSpPr>
        <p:cNvPr id="1" name=""/>
        <p:cNvGrpSpPr/>
        <p:nvPr/>
      </p:nvGrpSpPr>
      <p:grpSpPr>
        <a:xfrm>
          <a:off x="0" y="0"/>
          <a:ext cx="0" cy="0"/>
          <a:chOff x="0" y="0"/>
          <a:chExt cx="0" cy="0"/>
        </a:xfrm>
      </p:grpSpPr>
      <p:sp>
        <p:nvSpPr>
          <p:cNvPr id="159" name="Text 0"/>
          <p:cNvSpPr txBox="1"/>
          <p:nvPr/>
        </p:nvSpPr>
        <p:spPr>
          <a:xfrm>
            <a:off x="731519" y="458646"/>
            <a:ext cx="457200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300" sz="1100">
                <a:solidFill>
                  <a:srgbClr val="3AADAD"/>
                </a:solidFill>
              </a:defRPr>
            </a:lvl1pPr>
          </a:lstStyle>
          <a:p>
            <a:pPr/>
            <a:r>
              <a:t>WHAT CHANGES</a:t>
            </a:r>
          </a:p>
        </p:txBody>
      </p:sp>
      <p:sp>
        <p:nvSpPr>
          <p:cNvPr id="160" name="Text 1"/>
          <p:cNvSpPr txBox="1"/>
          <p:nvPr/>
        </p:nvSpPr>
        <p:spPr>
          <a:xfrm>
            <a:off x="731520" y="751839"/>
            <a:ext cx="7680960" cy="87376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15000"/>
              </a:lnSpc>
              <a:defRPr b="1" sz="2800">
                <a:solidFill>
                  <a:srgbClr val="FFFFFF"/>
                </a:solidFill>
                <a:latin typeface="Georgia"/>
                <a:ea typeface="Georgia"/>
                <a:cs typeface="Georgia"/>
                <a:sym typeface="Georgia"/>
              </a:defRPr>
            </a:pPr>
            <a:r>
              <a:t>What your team looks like</a:t>
            </a:r>
          </a:p>
          <a:p>
            <a:pPr>
              <a:lnSpc>
                <a:spcPct val="115000"/>
              </a:lnSpc>
              <a:defRPr b="1" sz="2800">
                <a:solidFill>
                  <a:srgbClr val="FFFFFF"/>
                </a:solidFill>
                <a:latin typeface="Georgia"/>
                <a:ea typeface="Georgia"/>
                <a:cs typeface="Georgia"/>
                <a:sym typeface="Georgia"/>
              </a:defRPr>
            </a:pPr>
            <a:r>
              <a:t>after 90 days with Lupe.</a:t>
            </a:r>
          </a:p>
        </p:txBody>
      </p:sp>
      <p:sp>
        <p:nvSpPr>
          <p:cNvPr id="161" name="Text 2"/>
          <p:cNvSpPr txBox="1"/>
          <p:nvPr/>
        </p:nvSpPr>
        <p:spPr>
          <a:xfrm>
            <a:off x="731520" y="1870318"/>
            <a:ext cx="7680960" cy="73992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50000"/>
              </a:lnSpc>
              <a:defRPr sz="1300">
                <a:solidFill>
                  <a:srgbClr val="8895A7"/>
                </a:solidFill>
              </a:defRPr>
            </a:lvl1pPr>
          </a:lstStyle>
          <a:p>
            <a:pPr/>
            <a:r>
              <a:t>Lupe deploys alongside your existing stack. Your data stays in your warehouse. Your team keeps their tools. The only thing that changes is how fast they can act on what the data is telling them.</a:t>
            </a:r>
          </a:p>
        </p:txBody>
      </p:sp>
      <p:sp>
        <p:nvSpPr>
          <p:cNvPr id="162" name="Shape 3"/>
          <p:cNvSpPr/>
          <p:nvPr/>
        </p:nvSpPr>
        <p:spPr>
          <a:xfrm>
            <a:off x="457200" y="2926079"/>
            <a:ext cx="2606040" cy="1828801"/>
          </a:xfrm>
          <a:prstGeom prst="rect">
            <a:avLst/>
          </a:prstGeom>
          <a:solidFill>
            <a:srgbClr val="1F2D40"/>
          </a:solidFill>
          <a:ln w="12700">
            <a:miter lim="400000"/>
          </a:ln>
        </p:spPr>
        <p:txBody>
          <a:bodyPr lIns="45719" rIns="45719"/>
          <a:lstStyle/>
          <a:p>
            <a:pPr/>
          </a:p>
        </p:txBody>
      </p:sp>
      <p:sp>
        <p:nvSpPr>
          <p:cNvPr id="163" name="Text 4"/>
          <p:cNvSpPr txBox="1"/>
          <p:nvPr/>
        </p:nvSpPr>
        <p:spPr>
          <a:xfrm>
            <a:off x="457200" y="3055620"/>
            <a:ext cx="2606040" cy="609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4200">
                <a:solidFill>
                  <a:srgbClr val="2A8A8A"/>
                </a:solidFill>
                <a:latin typeface="Georgia"/>
                <a:ea typeface="Georgia"/>
                <a:cs typeface="Georgia"/>
                <a:sym typeface="Georgia"/>
              </a:defRPr>
            </a:lvl1pPr>
          </a:lstStyle>
          <a:p>
            <a:pPr/>
            <a:r>
              <a:t>Week 1</a:t>
            </a:r>
          </a:p>
        </p:txBody>
      </p:sp>
      <p:sp>
        <p:nvSpPr>
          <p:cNvPr id="164" name="Text 5"/>
          <p:cNvSpPr txBox="1"/>
          <p:nvPr/>
        </p:nvSpPr>
        <p:spPr>
          <a:xfrm>
            <a:off x="640080" y="3734707"/>
            <a:ext cx="2240280" cy="39442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lnSpc>
                <a:spcPct val="130000"/>
              </a:lnSpc>
              <a:defRPr sz="1200">
                <a:solidFill>
                  <a:srgbClr val="FFFFFF"/>
                </a:solidFill>
              </a:defRPr>
            </a:pPr>
            <a:r>
              <a:t>Connected. First daily digest.</a:t>
            </a:r>
          </a:p>
          <a:p>
            <a:pPr algn="ctr">
              <a:lnSpc>
                <a:spcPct val="130000"/>
              </a:lnSpc>
              <a:defRPr sz="1200">
                <a:solidFill>
                  <a:srgbClr val="FFFFFF"/>
                </a:solidFill>
              </a:defRPr>
            </a:pPr>
            <a:r>
              <a:t>Unified cross-channel view.</a:t>
            </a:r>
          </a:p>
        </p:txBody>
      </p:sp>
      <p:sp>
        <p:nvSpPr>
          <p:cNvPr id="165" name="Text 6"/>
          <p:cNvSpPr txBox="1"/>
          <p:nvPr/>
        </p:nvSpPr>
        <p:spPr>
          <a:xfrm>
            <a:off x="640080" y="4274864"/>
            <a:ext cx="2240280"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i="1" sz="1000">
                <a:solidFill>
                  <a:srgbClr val="8895A7"/>
                </a:solidFill>
              </a:defRPr>
            </a:lvl1pPr>
          </a:lstStyle>
          <a:p>
            <a:pPr/>
            <a:r>
              <a:t>Immediate value</a:t>
            </a:r>
          </a:p>
        </p:txBody>
      </p:sp>
      <p:sp>
        <p:nvSpPr>
          <p:cNvPr id="166" name="Shape 7"/>
          <p:cNvSpPr/>
          <p:nvPr/>
        </p:nvSpPr>
        <p:spPr>
          <a:xfrm>
            <a:off x="3337559" y="2926079"/>
            <a:ext cx="2606041" cy="1828801"/>
          </a:xfrm>
          <a:prstGeom prst="rect">
            <a:avLst/>
          </a:prstGeom>
          <a:solidFill>
            <a:srgbClr val="1F2D40"/>
          </a:solidFill>
          <a:ln w="12700">
            <a:miter lim="400000"/>
          </a:ln>
        </p:spPr>
        <p:txBody>
          <a:bodyPr lIns="45719" rIns="45719"/>
          <a:lstStyle/>
          <a:p>
            <a:pPr/>
          </a:p>
        </p:txBody>
      </p:sp>
      <p:sp>
        <p:nvSpPr>
          <p:cNvPr id="167" name="Text 8"/>
          <p:cNvSpPr txBox="1"/>
          <p:nvPr/>
        </p:nvSpPr>
        <p:spPr>
          <a:xfrm>
            <a:off x="3337559" y="3055620"/>
            <a:ext cx="2606041" cy="609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4200">
                <a:solidFill>
                  <a:srgbClr val="2A8A8A"/>
                </a:solidFill>
                <a:latin typeface="Georgia"/>
                <a:ea typeface="Georgia"/>
                <a:cs typeface="Georgia"/>
                <a:sym typeface="Georgia"/>
              </a:defRPr>
            </a:lvl1pPr>
          </a:lstStyle>
          <a:p>
            <a:pPr/>
            <a:r>
              <a:t>Week 4</a:t>
            </a:r>
          </a:p>
        </p:txBody>
      </p:sp>
      <p:sp>
        <p:nvSpPr>
          <p:cNvPr id="168" name="Text 9"/>
          <p:cNvSpPr txBox="1"/>
          <p:nvPr/>
        </p:nvSpPr>
        <p:spPr>
          <a:xfrm>
            <a:off x="3520440" y="3734707"/>
            <a:ext cx="2240281" cy="39442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lnSpc>
                <a:spcPct val="130000"/>
              </a:lnSpc>
              <a:defRPr sz="1200">
                <a:solidFill>
                  <a:srgbClr val="FFFFFF"/>
                </a:solidFill>
              </a:defRPr>
            </a:pPr>
            <a:r>
              <a:t>Team asking questions daily.</a:t>
            </a:r>
          </a:p>
          <a:p>
            <a:pPr algn="ctr">
              <a:lnSpc>
                <a:spcPct val="130000"/>
              </a:lnSpc>
              <a:defRPr sz="1200">
                <a:solidFill>
                  <a:srgbClr val="FFFFFF"/>
                </a:solidFill>
              </a:defRPr>
            </a:pPr>
            <a:r>
              <a:t>First budget reallocation.</a:t>
            </a:r>
          </a:p>
        </p:txBody>
      </p:sp>
      <p:sp>
        <p:nvSpPr>
          <p:cNvPr id="169" name="Text 10"/>
          <p:cNvSpPr txBox="1"/>
          <p:nvPr/>
        </p:nvSpPr>
        <p:spPr>
          <a:xfrm>
            <a:off x="3520440" y="4274864"/>
            <a:ext cx="224028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i="1" sz="1000">
                <a:solidFill>
                  <a:srgbClr val="8895A7"/>
                </a:solidFill>
              </a:defRPr>
            </a:lvl1pPr>
          </a:lstStyle>
          <a:p>
            <a:pPr/>
            <a:r>
              <a:t>Team adoption</a:t>
            </a:r>
          </a:p>
        </p:txBody>
      </p:sp>
      <p:sp>
        <p:nvSpPr>
          <p:cNvPr id="170" name="Shape 11"/>
          <p:cNvSpPr/>
          <p:nvPr/>
        </p:nvSpPr>
        <p:spPr>
          <a:xfrm>
            <a:off x="6217920" y="2926079"/>
            <a:ext cx="2606041" cy="1828801"/>
          </a:xfrm>
          <a:prstGeom prst="rect">
            <a:avLst/>
          </a:prstGeom>
          <a:solidFill>
            <a:srgbClr val="1F2D40"/>
          </a:solidFill>
          <a:ln w="12700">
            <a:miter lim="400000"/>
          </a:ln>
        </p:spPr>
        <p:txBody>
          <a:bodyPr lIns="45719" rIns="45719"/>
          <a:lstStyle/>
          <a:p>
            <a:pPr/>
          </a:p>
        </p:txBody>
      </p:sp>
      <p:sp>
        <p:nvSpPr>
          <p:cNvPr id="171" name="Text 12"/>
          <p:cNvSpPr txBox="1"/>
          <p:nvPr/>
        </p:nvSpPr>
        <p:spPr>
          <a:xfrm>
            <a:off x="6217920" y="3055620"/>
            <a:ext cx="2606041" cy="609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4200">
                <a:solidFill>
                  <a:srgbClr val="2A8A8A"/>
                </a:solidFill>
                <a:latin typeface="Georgia"/>
                <a:ea typeface="Georgia"/>
                <a:cs typeface="Georgia"/>
                <a:sym typeface="Georgia"/>
              </a:defRPr>
            </a:lvl1pPr>
          </a:lstStyle>
          <a:p>
            <a:pPr/>
            <a:r>
              <a:t>Day 90</a:t>
            </a:r>
          </a:p>
        </p:txBody>
      </p:sp>
      <p:sp>
        <p:nvSpPr>
          <p:cNvPr id="172" name="Text 13"/>
          <p:cNvSpPr txBox="1"/>
          <p:nvPr/>
        </p:nvSpPr>
        <p:spPr>
          <a:xfrm>
            <a:off x="6400800" y="3734707"/>
            <a:ext cx="2240280" cy="39442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lnSpc>
                <a:spcPct val="130000"/>
              </a:lnSpc>
              <a:defRPr sz="1200">
                <a:solidFill>
                  <a:srgbClr val="FFFFFF"/>
                </a:solidFill>
              </a:defRPr>
            </a:pPr>
            <a:r>
              <a:t>Full visibility on waste.</a:t>
            </a:r>
          </a:p>
          <a:p>
            <a:pPr algn="ctr">
              <a:lnSpc>
                <a:spcPct val="130000"/>
              </a:lnSpc>
              <a:defRPr sz="1200">
                <a:solidFill>
                  <a:srgbClr val="FFFFFF"/>
                </a:solidFill>
              </a:defRPr>
            </a:pPr>
            <a:r>
              <a:t>Marketing team self-serve.</a:t>
            </a:r>
          </a:p>
        </p:txBody>
      </p:sp>
      <p:sp>
        <p:nvSpPr>
          <p:cNvPr id="173" name="Text 14"/>
          <p:cNvSpPr txBox="1"/>
          <p:nvPr/>
        </p:nvSpPr>
        <p:spPr>
          <a:xfrm>
            <a:off x="6400800" y="4274864"/>
            <a:ext cx="2240280"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i="1" sz="1000">
                <a:solidFill>
                  <a:srgbClr val="8895A7"/>
                </a:solidFill>
              </a:defRPr>
            </a:lvl1pPr>
          </a:lstStyle>
          <a:p>
            <a:pPr/>
            <a:r>
              <a:t>Full ROI</a:t>
            </a:r>
          </a:p>
        </p:txBody>
      </p:sp>
      <p:sp>
        <p:nvSpPr>
          <p:cNvPr id="174" name="Shape 15"/>
          <p:cNvSpPr/>
          <p:nvPr/>
        </p:nvSpPr>
        <p:spPr>
          <a:xfrm>
            <a:off x="0" y="4892040"/>
            <a:ext cx="9144000" cy="251460"/>
          </a:xfrm>
          <a:prstGeom prst="rect">
            <a:avLst/>
          </a:prstGeom>
          <a:solidFill>
            <a:srgbClr val="2A8A8A"/>
          </a:solidFill>
          <a:ln w="12700">
            <a:miter lim="400000"/>
          </a:ln>
        </p:spPr>
        <p:txBody>
          <a:bodyPr lIns="45719" rIns="45719"/>
          <a:lstStyle/>
          <a:p>
            <a:pP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2A8A8A"/>
        </a:solidFill>
      </p:bgPr>
    </p:bg>
    <p:spTree>
      <p:nvGrpSpPr>
        <p:cNvPr id="1" name=""/>
        <p:cNvGrpSpPr/>
        <p:nvPr/>
      </p:nvGrpSpPr>
      <p:grpSpPr>
        <a:xfrm>
          <a:off x="0" y="0"/>
          <a:ext cx="0" cy="0"/>
          <a:chOff x="0" y="0"/>
          <a:chExt cx="0" cy="0"/>
        </a:xfrm>
      </p:grpSpPr>
      <p:pic>
        <p:nvPicPr>
          <p:cNvPr id="176" name="Image 0" descr="Image 0"/>
          <p:cNvPicPr>
            <a:picLocks noChangeAspect="1"/>
          </p:cNvPicPr>
          <p:nvPr/>
        </p:nvPicPr>
        <p:blipFill>
          <a:blip r:embed="rId2">
            <a:extLst/>
          </a:blip>
          <a:stretch>
            <a:fillRect/>
          </a:stretch>
        </p:blipFill>
        <p:spPr>
          <a:xfrm>
            <a:off x="3886200" y="548640"/>
            <a:ext cx="1371600" cy="1371601"/>
          </a:xfrm>
          <a:prstGeom prst="rect">
            <a:avLst/>
          </a:prstGeom>
          <a:ln w="12700">
            <a:miter lim="400000"/>
          </a:ln>
        </p:spPr>
      </p:pic>
      <p:sp>
        <p:nvSpPr>
          <p:cNvPr id="177" name="Text 0"/>
          <p:cNvSpPr txBox="1"/>
          <p:nvPr/>
        </p:nvSpPr>
        <p:spPr>
          <a:xfrm>
            <a:off x="914400" y="2041524"/>
            <a:ext cx="7315200" cy="103759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lnSpc>
                <a:spcPct val="115000"/>
              </a:lnSpc>
              <a:defRPr b="1" sz="3400">
                <a:solidFill>
                  <a:srgbClr val="FFFFFF"/>
                </a:solidFill>
                <a:latin typeface="Georgia"/>
                <a:ea typeface="Georgia"/>
                <a:cs typeface="Georgia"/>
                <a:sym typeface="Georgia"/>
              </a:defRPr>
            </a:pPr>
            <a:r>
              <a:t>Ready to protect your</a:t>
            </a:r>
          </a:p>
          <a:p>
            <a:pPr algn="ctr">
              <a:lnSpc>
                <a:spcPct val="115000"/>
              </a:lnSpc>
              <a:defRPr b="1" sz="3400">
                <a:solidFill>
                  <a:srgbClr val="FFFFFF"/>
                </a:solidFill>
                <a:latin typeface="Georgia"/>
                <a:ea typeface="Georgia"/>
                <a:cs typeface="Georgia"/>
                <a:sym typeface="Georgia"/>
              </a:defRPr>
            </a:pPr>
            <a:r>
              <a:t>return on ad spend?</a:t>
            </a:r>
          </a:p>
        </p:txBody>
      </p:sp>
      <p:sp>
        <p:nvSpPr>
          <p:cNvPr id="178" name="Text 1"/>
          <p:cNvSpPr txBox="1"/>
          <p:nvPr/>
        </p:nvSpPr>
        <p:spPr>
          <a:xfrm>
            <a:off x="1371600" y="3335721"/>
            <a:ext cx="6400800" cy="18655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500">
                <a:solidFill>
                  <a:srgbClr val="FFFFFF"/>
                </a:solidFill>
              </a:defRPr>
            </a:lvl1pPr>
          </a:lstStyle>
          <a:p>
            <a:pPr/>
            <a:r>
              <a:t>See where you're wasting budget. Get full visibility in 90 days.</a:t>
            </a:r>
          </a:p>
        </p:txBody>
      </p:sp>
      <p:sp>
        <p:nvSpPr>
          <p:cNvPr id="179" name="Shape 2"/>
          <p:cNvSpPr/>
          <p:nvPr/>
        </p:nvSpPr>
        <p:spPr>
          <a:xfrm>
            <a:off x="3200400" y="3840479"/>
            <a:ext cx="2743200" cy="502920"/>
          </a:xfrm>
          <a:prstGeom prst="rect">
            <a:avLst/>
          </a:prstGeom>
          <a:solidFill>
            <a:srgbClr val="FFFFFF"/>
          </a:solidFill>
          <a:ln w="12700">
            <a:miter lim="400000"/>
          </a:ln>
        </p:spPr>
        <p:txBody>
          <a:bodyPr lIns="45719" rIns="45719"/>
          <a:lstStyle/>
          <a:p>
            <a:pPr/>
          </a:p>
        </p:txBody>
      </p:sp>
      <p:sp>
        <p:nvSpPr>
          <p:cNvPr id="180" name="Text 3"/>
          <p:cNvSpPr txBox="1"/>
          <p:nvPr/>
        </p:nvSpPr>
        <p:spPr>
          <a:xfrm>
            <a:off x="3200400" y="3987362"/>
            <a:ext cx="2743200"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600">
                <a:solidFill>
                  <a:srgbClr val="2A8A8A"/>
                </a:solidFill>
              </a:defRPr>
            </a:lvl1pPr>
          </a:lstStyle>
          <a:p>
            <a:pPr/>
            <a:r>
              <a:t>Book a Demo</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