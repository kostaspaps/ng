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upe_logo.png"/>
          <p:cNvPicPr>
            <a:picLocks noChangeAspect="1"/>
          </p:cNvPicPr>
          <p:nvPr/>
        </p:nvPicPr>
        <p:blipFill>
          <a:blip r:embed="rId2"/>
          <a:stretch>
            <a:fillRect/>
          </a:stretch>
        </p:blipFill>
        <p:spPr>
          <a:xfrm>
            <a:off x="640080" y="457200"/>
            <a:ext cx="548641" cy="621792"/>
          </a:xfrm>
          <a:prstGeom prst="rect">
            <a:avLst/>
          </a:prstGeom>
        </p:spPr>
      </p:pic>
      <p:sp>
        <p:nvSpPr>
          <p:cNvPr id="4" name="TextBox 3"/>
          <p:cNvSpPr txBox="1"/>
          <p:nvPr/>
        </p:nvSpPr>
        <p:spPr>
          <a:xfrm>
            <a:off x="1328773" y="582676"/>
            <a:ext cx="875893" cy="370839"/>
          </a:xfrm>
          <a:prstGeom prst="rect">
            <a:avLst/>
          </a:prstGeom>
          <a:noFill/>
        </p:spPr>
        <p:txBody>
          <a:bodyPr wrap="square">
            <a:spAutoFit/>
          </a:bodyPr>
          <a:lstStyle/>
          <a:p>
            <a:pPr>
              <a:defRPr sz="2200" b="0">
                <a:solidFill>
                  <a:srgbClr val="FFFFFF"/>
                </a:solidFill>
                <a:latin typeface="BrunoAce-Regular"/>
              </a:defRPr>
            </a:pPr>
            <a:r>
              <a:t>LUPE</a:t>
            </a:r>
          </a:p>
        </p:txBody>
      </p:sp>
      <p:sp>
        <p:nvSpPr>
          <p:cNvPr id="5" name="TextBox 4"/>
          <p:cNvSpPr txBox="1"/>
          <p:nvPr/>
        </p:nvSpPr>
        <p:spPr>
          <a:xfrm>
            <a:off x="640080" y="1500000"/>
            <a:ext cx="7315201" cy="635001"/>
          </a:xfrm>
          <a:prstGeom prst="rect">
            <a:avLst/>
          </a:prstGeom>
          <a:noFill/>
        </p:spPr>
        <p:txBody>
          <a:bodyPr wrap="square">
            <a:spAutoFit/>
          </a:bodyPr>
          <a:lstStyle/>
          <a:p>
            <a:pPr>
              <a:defRPr sz="4000" b="1">
                <a:solidFill>
                  <a:srgbClr val="FFFFFF"/>
                </a:solidFill>
                <a:latin typeface="Georgia"/>
              </a:defRPr>
            </a:pPr>
            <a:r>
              <a:t>Let’s start with what you’re probably thinking.</a:t>
            </a:r>
          </a:p>
        </p:txBody>
      </p:sp>
      <p:pic>
        <p:nvPicPr>
          <p:cNvPr id="6" name="Picture 5" descr="slide1_bullet_5499.png"/>
          <p:cNvPicPr>
            <a:picLocks noChangeAspect="1"/>
          </p:cNvPicPr>
          <p:nvPr/>
        </p:nvPicPr>
        <p:blipFill>
          <a:blip r:embed="rId3"/>
          <a:stretch>
            <a:fillRect/>
          </a:stretch>
        </p:blipFill>
        <p:spPr>
          <a:xfrm>
            <a:off x="640080" y="2700000"/>
            <a:ext cx="256033" cy="256033"/>
          </a:xfrm>
          <a:prstGeom prst="rect">
            <a:avLst/>
          </a:prstGeom>
        </p:spPr>
      </p:pic>
      <p:sp>
        <p:nvSpPr>
          <p:cNvPr id="7" name="TextBox 6"/>
          <p:cNvSpPr txBox="1"/>
          <p:nvPr/>
        </p:nvSpPr>
        <p:spPr>
          <a:xfrm>
            <a:off x="1051560" y="2724752"/>
            <a:ext cx="6858001" cy="197384"/>
          </a:xfrm>
          <a:prstGeom prst="rect">
            <a:avLst/>
          </a:prstGeom>
          <a:noFill/>
        </p:spPr>
        <p:txBody>
          <a:bodyPr wrap="square">
            <a:spAutoFit/>
          </a:bodyPr>
          <a:lstStyle/>
          <a:p>
            <a:pPr>
              <a:defRPr sz="1400" b="0">
                <a:solidFill>
                  <a:srgbClr val="CBD5E1"/>
                </a:solidFill>
                <a:latin typeface="Georgia"/>
              </a:defRPr>
            </a:pPr>
            <a:r>
              <a:t>“Great, another external vendor who’ll tell us our data is broken.”</a:t>
            </a:r>
          </a:p>
        </p:txBody>
      </p:sp>
      <p:pic>
        <p:nvPicPr>
          <p:cNvPr id="8" name="Picture 7" descr="slide1_bullet_6301.png"/>
          <p:cNvPicPr>
            <a:picLocks noChangeAspect="1"/>
          </p:cNvPicPr>
          <p:nvPr/>
        </p:nvPicPr>
        <p:blipFill>
          <a:blip r:embed="rId4"/>
          <a:stretch>
            <a:fillRect/>
          </a:stretch>
        </p:blipFill>
        <p:spPr>
          <a:xfrm>
            <a:off x="640080" y="3157200"/>
            <a:ext cx="256033" cy="256033"/>
          </a:xfrm>
          <a:prstGeom prst="rect">
            <a:avLst/>
          </a:prstGeom>
        </p:spPr>
      </p:pic>
      <p:sp>
        <p:nvSpPr>
          <p:cNvPr id="9" name="TextBox 8"/>
          <p:cNvSpPr txBox="1"/>
          <p:nvPr/>
        </p:nvSpPr>
        <p:spPr>
          <a:xfrm>
            <a:off x="1051560" y="3181952"/>
            <a:ext cx="6858001" cy="197384"/>
          </a:xfrm>
          <a:prstGeom prst="rect">
            <a:avLst/>
          </a:prstGeom>
          <a:noFill/>
        </p:spPr>
        <p:txBody>
          <a:bodyPr wrap="square">
            <a:spAutoFit/>
          </a:bodyPr>
          <a:lstStyle/>
          <a:p>
            <a:pPr>
              <a:defRPr sz="1400" b="0">
                <a:solidFill>
                  <a:srgbClr val="CBD5E1"/>
                </a:solidFill>
                <a:latin typeface="Georgia"/>
              </a:defRPr>
            </a:pPr>
            <a:r>
              <a:t>“We’ve heard promises before. Two data directors in twelve months.”</a:t>
            </a:r>
          </a:p>
        </p:txBody>
      </p:sp>
      <p:pic>
        <p:nvPicPr>
          <p:cNvPr id="10" name="Picture 9" descr="slide1_bullet_5725.png"/>
          <p:cNvPicPr>
            <a:picLocks noChangeAspect="1"/>
          </p:cNvPicPr>
          <p:nvPr/>
        </p:nvPicPr>
        <p:blipFill>
          <a:blip r:embed="rId5"/>
          <a:stretch>
            <a:fillRect/>
          </a:stretch>
        </p:blipFill>
        <p:spPr>
          <a:xfrm>
            <a:off x="640080" y="3614400"/>
            <a:ext cx="256033" cy="256033"/>
          </a:xfrm>
          <a:prstGeom prst="rect">
            <a:avLst/>
          </a:prstGeom>
        </p:spPr>
      </p:pic>
      <p:sp>
        <p:nvSpPr>
          <p:cNvPr id="11" name="TextBox 10"/>
          <p:cNvSpPr txBox="1"/>
          <p:nvPr/>
        </p:nvSpPr>
        <p:spPr>
          <a:xfrm>
            <a:off x="1051560" y="3639152"/>
            <a:ext cx="6858001" cy="197384"/>
          </a:xfrm>
          <a:prstGeom prst="rect">
            <a:avLst/>
          </a:prstGeom>
          <a:noFill/>
        </p:spPr>
        <p:txBody>
          <a:bodyPr wrap="square">
            <a:spAutoFit/>
          </a:bodyPr>
          <a:lstStyle/>
          <a:p>
            <a:pPr>
              <a:defRPr sz="1400" b="0">
                <a:solidFill>
                  <a:srgbClr val="CBD5E1"/>
                </a:solidFill>
                <a:latin typeface="Georgia"/>
              </a:defRPr>
            </a:pPr>
            <a:r>
              <a:t>“The CEO oversold this. These people don’t know our situation.”</a:t>
            </a:r>
          </a:p>
        </p:txBody>
      </p:sp>
      <p:pic>
        <p:nvPicPr>
          <p:cNvPr id="12" name="Picture 11" descr="slide1_bullet_5875.png"/>
          <p:cNvPicPr>
            <a:picLocks noChangeAspect="1"/>
          </p:cNvPicPr>
          <p:nvPr/>
        </p:nvPicPr>
        <p:blipFill>
          <a:blip r:embed="rId6"/>
          <a:stretch>
            <a:fillRect/>
          </a:stretch>
        </p:blipFill>
        <p:spPr>
          <a:xfrm>
            <a:off x="640080" y="4071600"/>
            <a:ext cx="256033" cy="256033"/>
          </a:xfrm>
          <a:prstGeom prst="rect">
            <a:avLst/>
          </a:prstGeom>
        </p:spPr>
      </p:pic>
      <p:sp>
        <p:nvSpPr>
          <p:cNvPr id="13" name="TextBox 12"/>
          <p:cNvSpPr txBox="1"/>
          <p:nvPr/>
        </p:nvSpPr>
        <p:spPr>
          <a:xfrm>
            <a:off x="1051560" y="4096352"/>
            <a:ext cx="6858001" cy="197384"/>
          </a:xfrm>
          <a:prstGeom prst="rect">
            <a:avLst/>
          </a:prstGeom>
          <a:noFill/>
        </p:spPr>
        <p:txBody>
          <a:bodyPr wrap="square">
            <a:spAutoFit/>
          </a:bodyPr>
          <a:lstStyle/>
          <a:p>
            <a:pPr>
              <a:defRPr sz="1400" b="1">
                <a:solidFill>
                  <a:srgbClr val="3ECDC4"/>
                </a:solidFill>
                <a:latin typeface="Georgia"/>
              </a:defRPr>
            </a:pPr>
            <a:r>
              <a:t>That’s fair. We’d be skeptical too. So let’s see if there’s a real fit.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19" y="480104"/>
            <a:ext cx="4572001" cy="137072"/>
          </a:xfrm>
          <a:prstGeom prst="rect">
            <a:avLst/>
          </a:prstGeom>
          <a:noFill/>
        </p:spPr>
        <p:txBody>
          <a:bodyPr wrap="square">
            <a:spAutoFit/>
          </a:bodyPr>
          <a:lstStyle/>
          <a:p>
            <a:pPr>
              <a:defRPr sz="1000" b="1">
                <a:solidFill>
                  <a:srgbClr val="3ECDC4"/>
                </a:solidFill>
                <a:latin typeface="Arial"/>
              </a:defRPr>
            </a:pPr>
            <a:r>
              <a:t>WHO WE ARE</a:t>
            </a:r>
          </a:p>
        </p:txBody>
      </p:sp>
      <p:sp>
        <p:nvSpPr>
          <p:cNvPr id="4" name="TextBox 3"/>
          <p:cNvSpPr txBox="1"/>
          <p:nvPr/>
        </p:nvSpPr>
        <p:spPr>
          <a:xfrm>
            <a:off x="731520" y="800000"/>
            <a:ext cx="7680960" cy="800000"/>
          </a:xfrm>
          <a:prstGeom prst="rect">
            <a:avLst/>
          </a:prstGeom>
          <a:noFill/>
        </p:spPr>
        <p:txBody>
          <a:bodyPr wrap="square">
            <a:spAutoFit/>
          </a:bodyPr>
          <a:lstStyle/>
          <a:p>
            <a:pPr>
              <a:spcAft>
                <a:spcPts val="400"/>
              </a:spcAft>
              <a:defRPr sz="2800" b="1">
                <a:solidFill>
                  <a:srgbClr val="FFFFFF"/>
                </a:solidFill>
                <a:latin typeface="Georgia"/>
              </a:defRPr>
            </a:pPr>
            <a:r>
              <a:t>Built from real problems.</a:t>
            </a:r>
          </a:p>
          <a:p>
            <a:pPr>
              <a:defRPr sz="2800" b="1">
                <a:solidFill>
                  <a:srgbClr val="3ECDC4"/>
                </a:solidFill>
                <a:latin typeface="Georgia"/>
              </a:defRPr>
            </a:pPr>
            <a:r>
              <a:t>Not from a slide deck.</a:t>
            </a:r>
          </a:p>
        </p:txBody>
      </p:sp>
      <p:sp>
        <p:nvSpPr>
          <p:cNvPr id="5" name="TextBox 4"/>
          <p:cNvSpPr txBox="1"/>
          <p:nvPr/>
        </p:nvSpPr>
        <p:spPr>
          <a:xfrm>
            <a:off x="731520" y="1800000"/>
            <a:ext cx="7680960" cy="1000000"/>
          </a:xfrm>
          <a:prstGeom prst="rect">
            <a:avLst/>
          </a:prstGeom>
          <a:noFill/>
        </p:spPr>
        <p:txBody>
          <a:bodyPr wrap="square">
            <a:spAutoFit/>
          </a:bodyPr>
          <a:lstStyle/>
          <a:p>
            <a:pPr>
              <a:spcAft>
                <a:spcPts val="1400"/>
              </a:spcAft>
              <a:defRPr sz="1200" b="0">
                <a:solidFill>
                  <a:srgbClr val="CBD5E1"/>
                </a:solidFill>
                <a:latin typeface="Georgia"/>
              </a:defRPr>
            </a:pPr>
            <a:r>
              <a:t>Kostas and Claudia spent five years at Popcore building the data platform that powered its growth. After the acquisition by Zynga/Take-Two, we handled the full data integration into their centralized systems.</a:t>
            </a:r>
          </a:p>
          <a:p>
            <a:pPr>
              <a:defRPr sz="1200" b="1">
                <a:solidFill>
                  <a:srgbClr val="FFFFFF"/>
                </a:solidFill>
                <a:latin typeface="Georgia"/>
              </a:defRPr>
            </a:pPr>
            <a:r>
              <a:t>That integration experience is why Lupe exists — and why it’s relevant to what you’re facing with NCSoft.</a:t>
            </a:r>
          </a:p>
        </p:txBody>
      </p:sp>
      <p:sp>
        <p:nvSpPr>
          <p:cNvPr id="6" name="TextBox 5"/>
          <p:cNvSpPr txBox="1"/>
          <p:nvPr/>
        </p:nvSpPr>
        <p:spPr>
          <a:xfrm>
            <a:off x="731520" y="3800000"/>
            <a:ext cx="7680960" cy="300000"/>
          </a:xfrm>
          <a:prstGeom prst="rect">
            <a:avLst/>
          </a:prstGeom>
          <a:noFill/>
        </p:spPr>
        <p:txBody>
          <a:bodyPr wrap="square">
            <a:spAutoFit/>
          </a:bodyPr>
          <a:lstStyle/>
          <a:p>
            <a:pPr>
              <a:defRPr sz="1100" b="0">
                <a:solidFill>
                  <a:srgbClr val="94A3B8"/>
                </a:solidFill>
                <a:latin typeface="Georgia"/>
              </a:defRPr>
            </a:pPr>
            <a:r>
              <a:t>We’ll keep this brief. Claudia and Kostas can answer anything in the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7"/>
        </a:solidFill>
        <a:effectLst/>
      </p:bgPr>
    </p:bg>
    <p:spTree>
      <p:nvGrpSpPr>
        <p:cNvPr id="1" name=""/>
        <p:cNvGrpSpPr/>
        <p:nvPr/>
      </p:nvGrpSpPr>
      <p:grpSpPr/>
      <p:sp>
        <p:nvSpPr>
          <p:cNvPr id="2" name="TextBox 1"/>
          <p:cNvSpPr txBox="1"/>
          <p:nvPr/>
        </p:nvSpPr>
        <p:spPr>
          <a:xfrm>
            <a:off x="640080" y="497585"/>
            <a:ext cx="3657601" cy="147830"/>
          </a:xfrm>
          <a:prstGeom prst="rect">
            <a:avLst/>
          </a:prstGeom>
          <a:noFill/>
        </p:spPr>
        <p:txBody>
          <a:bodyPr wrap="square">
            <a:spAutoFit/>
          </a:bodyPr>
          <a:lstStyle/>
          <a:p>
            <a:pPr>
              <a:defRPr sz="1100" b="1">
                <a:solidFill>
                  <a:srgbClr val="3ECDC4"/>
                </a:solidFill>
                <a:latin typeface="Arial"/>
              </a:defRPr>
            </a:pPr>
            <a:r>
              <a:t>YOUR SITUATION</a:t>
            </a:r>
          </a:p>
        </p:txBody>
      </p:sp>
      <p:sp>
        <p:nvSpPr>
          <p:cNvPr id="3" name="TextBox 2"/>
          <p:cNvSpPr txBox="1"/>
          <p:nvPr/>
        </p:nvSpPr>
        <p:spPr>
          <a:xfrm>
            <a:off x="640080" y="700000"/>
            <a:ext cx="7772401" cy="965201"/>
          </a:xfrm>
          <a:prstGeom prst="rect">
            <a:avLst/>
          </a:prstGeom>
          <a:noFill/>
        </p:spPr>
        <p:txBody>
          <a:bodyPr wrap="square">
            <a:spAutoFit/>
          </a:bodyPr>
          <a:lstStyle/>
          <a:p>
            <a:pPr>
              <a:spcAft>
                <a:spcPts val="200"/>
              </a:spcAft>
              <a:defRPr sz="3400" b="1">
                <a:solidFill>
                  <a:srgbClr val="1A2332"/>
                </a:solidFill>
                <a:latin typeface="Georgia"/>
              </a:defRPr>
            </a:pPr>
            <a:r>
              <a:t>What we understand so far.</a:t>
            </a:r>
          </a:p>
          <a:p>
            <a:pPr>
              <a:defRPr sz="3400" b="1">
                <a:solidFill>
                  <a:srgbClr val="3ECDC4"/>
                </a:solidFill>
                <a:latin typeface="Georgia"/>
              </a:defRPr>
            </a:pPr>
            <a:r>
              <a:t>Correct us.</a:t>
            </a:r>
          </a:p>
        </p:txBody>
      </p:sp>
      <p:sp>
        <p:nvSpPr>
          <p:cNvPr id="4" name="Rounded Rectangle 3"/>
          <p:cNvSpPr/>
          <p:nvPr/>
        </p:nvSpPr>
        <p:spPr>
          <a:xfrm>
            <a:off x="457199" y="1850000"/>
            <a:ext cx="3749042" cy="24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199" y="1850000"/>
            <a:ext cx="3749042" cy="12701"/>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799" y="2080000"/>
            <a:ext cx="3291842" cy="209669"/>
          </a:xfrm>
          <a:prstGeom prst="rect">
            <a:avLst/>
          </a:prstGeom>
          <a:noFill/>
        </p:spPr>
        <p:txBody>
          <a:bodyPr wrap="square">
            <a:spAutoFit/>
          </a:bodyPr>
          <a:lstStyle/>
          <a:p>
            <a:pPr>
              <a:defRPr sz="1500" b="1">
                <a:solidFill>
                  <a:srgbClr val="1A2332"/>
                </a:solidFill>
                <a:latin typeface="Georgia"/>
              </a:defRPr>
            </a:pPr>
            <a:r>
              <a:t>User Acquisition &amp; Data</a:t>
            </a:r>
          </a:p>
        </p:txBody>
      </p:sp>
      <p:pic>
        <p:nvPicPr>
          <p:cNvPr id="7" name="Picture 6" descr="bullet_teal.png"/>
          <p:cNvPicPr>
            <a:picLocks noChangeAspect="1"/>
          </p:cNvPicPr>
          <p:nvPr/>
        </p:nvPicPr>
        <p:blipFill>
          <a:blip r:embed="rId2"/>
          <a:stretch>
            <a:fillRect/>
          </a:stretch>
        </p:blipFill>
        <p:spPr>
          <a:xfrm>
            <a:off x="731519" y="2370000"/>
            <a:ext cx="182881" cy="182881"/>
          </a:xfrm>
          <a:prstGeom prst="rect">
            <a:avLst/>
          </a:prstGeom>
        </p:spPr>
      </p:pic>
      <p:sp>
        <p:nvSpPr>
          <p:cNvPr id="8" name="TextBox 7"/>
          <p:cNvSpPr txBox="1"/>
          <p:nvPr/>
        </p:nvSpPr>
        <p:spPr>
          <a:xfrm>
            <a:off x="1005839" y="2360000"/>
            <a:ext cx="3017522" cy="280000"/>
          </a:xfrm>
          <a:prstGeom prst="rect">
            <a:avLst/>
          </a:prstGeom>
          <a:noFill/>
        </p:spPr>
        <p:txBody>
          <a:bodyPr wrap="square">
            <a:spAutoFit/>
          </a:bodyPr>
          <a:lstStyle/>
          <a:p>
            <a:pPr>
              <a:defRPr sz="1000" b="0">
                <a:solidFill>
                  <a:srgbClr val="535353"/>
                </a:solidFill>
                <a:latin typeface="Georgia"/>
              </a:defRPr>
            </a:pPr>
            <a:r>
              <a:t>High UA spend: Applovin, Mistral, some Meta</a:t>
            </a:r>
          </a:p>
        </p:txBody>
      </p:sp>
      <p:pic>
        <p:nvPicPr>
          <p:cNvPr id="9" name="Picture 8" descr="bullet_teal.png"/>
          <p:cNvPicPr>
            <a:picLocks noChangeAspect="1"/>
          </p:cNvPicPr>
          <p:nvPr/>
        </p:nvPicPr>
        <p:blipFill>
          <a:blip r:embed="rId2"/>
          <a:stretch>
            <a:fillRect/>
          </a:stretch>
        </p:blipFill>
        <p:spPr>
          <a:xfrm>
            <a:off x="731519" y="2700000"/>
            <a:ext cx="182881" cy="182881"/>
          </a:xfrm>
          <a:prstGeom prst="rect">
            <a:avLst/>
          </a:prstGeom>
        </p:spPr>
      </p:pic>
      <p:sp>
        <p:nvSpPr>
          <p:cNvPr id="10" name="TextBox 9"/>
          <p:cNvSpPr txBox="1"/>
          <p:nvPr/>
        </p:nvSpPr>
        <p:spPr>
          <a:xfrm>
            <a:off x="1005839" y="2690000"/>
            <a:ext cx="3017522" cy="280000"/>
          </a:xfrm>
          <a:prstGeom prst="rect">
            <a:avLst/>
          </a:prstGeom>
          <a:noFill/>
        </p:spPr>
        <p:txBody>
          <a:bodyPr wrap="square">
            <a:spAutoFit/>
          </a:bodyPr>
          <a:lstStyle/>
          <a:p>
            <a:pPr>
              <a:defRPr sz="1000" b="0">
                <a:solidFill>
                  <a:srgbClr val="535353"/>
                </a:solidFill>
                <a:latin typeface="Georgia"/>
              </a:defRPr>
            </a:pPr>
            <a:r>
              <a:t>No reliable user-level view across spend + revenue + payouts</a:t>
            </a:r>
          </a:p>
        </p:txBody>
      </p:sp>
      <p:pic>
        <p:nvPicPr>
          <p:cNvPr id="11" name="Picture 10" descr="bullet_teal.png"/>
          <p:cNvPicPr>
            <a:picLocks noChangeAspect="1"/>
          </p:cNvPicPr>
          <p:nvPr/>
        </p:nvPicPr>
        <p:blipFill>
          <a:blip r:embed="rId2"/>
          <a:stretch>
            <a:fillRect/>
          </a:stretch>
        </p:blipFill>
        <p:spPr>
          <a:xfrm>
            <a:off x="731519" y="3030000"/>
            <a:ext cx="182881" cy="182881"/>
          </a:xfrm>
          <a:prstGeom prst="rect">
            <a:avLst/>
          </a:prstGeom>
        </p:spPr>
      </p:pic>
      <p:sp>
        <p:nvSpPr>
          <p:cNvPr id="12" name="TextBox 11"/>
          <p:cNvSpPr txBox="1"/>
          <p:nvPr/>
        </p:nvSpPr>
        <p:spPr>
          <a:xfrm>
            <a:off x="1005839" y="3020000"/>
            <a:ext cx="3017522" cy="280000"/>
          </a:xfrm>
          <a:prstGeom prst="rect">
            <a:avLst/>
          </a:prstGeom>
          <a:noFill/>
        </p:spPr>
        <p:txBody>
          <a:bodyPr wrap="square">
            <a:spAutoFit/>
          </a:bodyPr>
          <a:lstStyle/>
          <a:p>
            <a:pPr>
              <a:defRPr sz="1000" b="0">
                <a:solidFill>
                  <a:srgbClr val="535353"/>
                </a:solidFill>
                <a:latin typeface="Georgia"/>
              </a:defRPr>
            </a:pPr>
            <a:r>
              <a:t>No consistent definitions (ROAS, LTV, etc.)</a:t>
            </a:r>
          </a:p>
        </p:txBody>
      </p:sp>
      <p:pic>
        <p:nvPicPr>
          <p:cNvPr id="13" name="Picture 12" descr="bullet_teal.png"/>
          <p:cNvPicPr>
            <a:picLocks noChangeAspect="1"/>
          </p:cNvPicPr>
          <p:nvPr/>
        </p:nvPicPr>
        <p:blipFill>
          <a:blip r:embed="rId2"/>
          <a:stretch>
            <a:fillRect/>
          </a:stretch>
        </p:blipFill>
        <p:spPr>
          <a:xfrm>
            <a:off x="731519" y="3360000"/>
            <a:ext cx="182881" cy="182881"/>
          </a:xfrm>
          <a:prstGeom prst="rect">
            <a:avLst/>
          </a:prstGeom>
        </p:spPr>
      </p:pic>
      <p:sp>
        <p:nvSpPr>
          <p:cNvPr id="14" name="TextBox 13"/>
          <p:cNvSpPr txBox="1"/>
          <p:nvPr/>
        </p:nvSpPr>
        <p:spPr>
          <a:xfrm>
            <a:off x="1005839" y="3350000"/>
            <a:ext cx="3017522" cy="280000"/>
          </a:xfrm>
          <a:prstGeom prst="rect">
            <a:avLst/>
          </a:prstGeom>
          <a:noFill/>
        </p:spPr>
        <p:txBody>
          <a:bodyPr wrap="square">
            <a:spAutoFit/>
          </a:bodyPr>
          <a:lstStyle/>
          <a:p>
            <a:pPr>
              <a:defRPr sz="1000" b="0">
                <a:solidFill>
                  <a:srgbClr val="535353"/>
                </a:solidFill>
                <a:latin typeface="Georgia"/>
              </a:defRPr>
            </a:pPr>
            <a:r>
              <a:t>Reporting not decision-grade for daily budget allocation</a:t>
            </a:r>
          </a:p>
        </p:txBody>
      </p:sp>
      <p:pic>
        <p:nvPicPr>
          <p:cNvPr id="15" name="Picture 14" descr="bullet_teal.png"/>
          <p:cNvPicPr>
            <a:picLocks noChangeAspect="1"/>
          </p:cNvPicPr>
          <p:nvPr/>
        </p:nvPicPr>
        <p:blipFill>
          <a:blip r:embed="rId2"/>
          <a:stretch>
            <a:fillRect/>
          </a:stretch>
        </p:blipFill>
        <p:spPr>
          <a:xfrm>
            <a:off x="731519" y="3690000"/>
            <a:ext cx="182881" cy="182881"/>
          </a:xfrm>
          <a:prstGeom prst="rect">
            <a:avLst/>
          </a:prstGeom>
        </p:spPr>
      </p:pic>
      <p:sp>
        <p:nvSpPr>
          <p:cNvPr id="16" name="TextBox 15"/>
          <p:cNvSpPr txBox="1"/>
          <p:nvPr/>
        </p:nvSpPr>
        <p:spPr>
          <a:xfrm>
            <a:off x="1005839" y="3680000"/>
            <a:ext cx="3017522" cy="280000"/>
          </a:xfrm>
          <a:prstGeom prst="rect">
            <a:avLst/>
          </a:prstGeom>
          <a:noFill/>
        </p:spPr>
        <p:txBody>
          <a:bodyPr wrap="square">
            <a:spAutoFit/>
          </a:bodyPr>
          <a:lstStyle/>
          <a:p>
            <a:pPr>
              <a:defRPr sz="1000" b="0">
                <a:solidFill>
                  <a:srgbClr val="535353"/>
                </a:solidFill>
                <a:latin typeface="Georgia"/>
              </a:defRPr>
            </a:pPr>
            <a:r>
              <a:t>Heavy manual work, analyst dependency</a:t>
            </a:r>
          </a:p>
        </p:txBody>
      </p:sp>
      <p:sp>
        <p:nvSpPr>
          <p:cNvPr id="17" name="Rounded Rectangle 16"/>
          <p:cNvSpPr/>
          <p:nvPr/>
        </p:nvSpPr>
        <p:spPr>
          <a:xfrm>
            <a:off x="4572000" y="1850000"/>
            <a:ext cx="4114800" cy="24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1850000"/>
            <a:ext cx="4114800" cy="12701"/>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080000"/>
            <a:ext cx="3657600" cy="209669"/>
          </a:xfrm>
          <a:prstGeom prst="rect">
            <a:avLst/>
          </a:prstGeom>
          <a:noFill/>
        </p:spPr>
        <p:txBody>
          <a:bodyPr wrap="square">
            <a:spAutoFit/>
          </a:bodyPr>
          <a:lstStyle/>
          <a:p>
            <a:pPr>
              <a:defRPr sz="1500" b="1">
                <a:solidFill>
                  <a:srgbClr val="1A2332"/>
                </a:solidFill>
                <a:latin typeface="Georgia"/>
              </a:defRPr>
            </a:pPr>
            <a:r>
              <a:t>Internal Context &amp; NCSoft</a:t>
            </a:r>
          </a:p>
        </p:txBody>
      </p:sp>
      <p:pic>
        <p:nvPicPr>
          <p:cNvPr id="20" name="Picture 19" descr="bullet_alt.png"/>
          <p:cNvPicPr>
            <a:picLocks noChangeAspect="1"/>
          </p:cNvPicPr>
          <p:nvPr/>
        </p:nvPicPr>
        <p:blipFill>
          <a:blip r:embed="rId3"/>
          <a:stretch>
            <a:fillRect/>
          </a:stretch>
        </p:blipFill>
        <p:spPr>
          <a:xfrm>
            <a:off x="4846320" y="2370000"/>
            <a:ext cx="182881" cy="182881"/>
          </a:xfrm>
          <a:prstGeom prst="rect">
            <a:avLst/>
          </a:prstGeom>
        </p:spPr>
      </p:pic>
      <p:sp>
        <p:nvSpPr>
          <p:cNvPr id="21" name="TextBox 20"/>
          <p:cNvSpPr txBox="1"/>
          <p:nvPr/>
        </p:nvSpPr>
        <p:spPr>
          <a:xfrm>
            <a:off x="5120640" y="2360000"/>
            <a:ext cx="3383281" cy="280000"/>
          </a:xfrm>
          <a:prstGeom prst="rect">
            <a:avLst/>
          </a:prstGeom>
          <a:noFill/>
        </p:spPr>
        <p:txBody>
          <a:bodyPr wrap="square">
            <a:spAutoFit/>
          </a:bodyPr>
          <a:lstStyle/>
          <a:p>
            <a:pPr>
              <a:defRPr sz="1000" b="0">
                <a:solidFill>
                  <a:srgbClr val="535353"/>
                </a:solidFill>
                <a:latin typeface="Georgia"/>
              </a:defRPr>
            </a:pPr>
            <a:r>
              <a:t>NCSoft integration coming: requirements unclear</a:t>
            </a:r>
          </a:p>
        </p:txBody>
      </p:sp>
      <p:pic>
        <p:nvPicPr>
          <p:cNvPr id="22" name="Picture 21" descr="bullet_alt.png"/>
          <p:cNvPicPr>
            <a:picLocks noChangeAspect="1"/>
          </p:cNvPicPr>
          <p:nvPr/>
        </p:nvPicPr>
        <p:blipFill>
          <a:blip r:embed="rId3"/>
          <a:stretch>
            <a:fillRect/>
          </a:stretch>
        </p:blipFill>
        <p:spPr>
          <a:xfrm>
            <a:off x="4846320" y="2700000"/>
            <a:ext cx="182881" cy="182881"/>
          </a:xfrm>
          <a:prstGeom prst="rect">
            <a:avLst/>
          </a:prstGeom>
        </p:spPr>
      </p:pic>
      <p:sp>
        <p:nvSpPr>
          <p:cNvPr id="23" name="TextBox 22"/>
          <p:cNvSpPr txBox="1"/>
          <p:nvPr/>
        </p:nvSpPr>
        <p:spPr>
          <a:xfrm>
            <a:off x="5120640" y="2690000"/>
            <a:ext cx="3383281" cy="280000"/>
          </a:xfrm>
          <a:prstGeom prst="rect">
            <a:avLst/>
          </a:prstGeom>
          <a:noFill/>
        </p:spPr>
        <p:txBody>
          <a:bodyPr wrap="square">
            <a:spAutoFit/>
          </a:bodyPr>
          <a:lstStyle/>
          <a:p>
            <a:pPr>
              <a:defRPr sz="1000" b="0">
                <a:solidFill>
                  <a:srgbClr val="535353"/>
                </a:solidFill>
                <a:latin typeface="Georgia"/>
              </a:defRPr>
            </a:pPr>
            <a:r>
              <a:t>Increasing pressure to have clean, structured data</a:t>
            </a:r>
          </a:p>
        </p:txBody>
      </p:sp>
      <p:pic>
        <p:nvPicPr>
          <p:cNvPr id="24" name="Picture 23" descr="bullet_alt.png"/>
          <p:cNvPicPr>
            <a:picLocks noChangeAspect="1"/>
          </p:cNvPicPr>
          <p:nvPr/>
        </p:nvPicPr>
        <p:blipFill>
          <a:blip r:embed="rId3"/>
          <a:stretch>
            <a:fillRect/>
          </a:stretch>
        </p:blipFill>
        <p:spPr>
          <a:xfrm>
            <a:off x="4846320" y="3030000"/>
            <a:ext cx="182881" cy="182881"/>
          </a:xfrm>
          <a:prstGeom prst="rect">
            <a:avLst/>
          </a:prstGeom>
        </p:spPr>
      </p:pic>
      <p:sp>
        <p:nvSpPr>
          <p:cNvPr id="25" name="TextBox 24"/>
          <p:cNvSpPr txBox="1"/>
          <p:nvPr/>
        </p:nvSpPr>
        <p:spPr>
          <a:xfrm>
            <a:off x="5120640" y="3020000"/>
            <a:ext cx="3383281" cy="280000"/>
          </a:xfrm>
          <a:prstGeom prst="rect">
            <a:avLst/>
          </a:prstGeom>
          <a:noFill/>
        </p:spPr>
        <p:txBody>
          <a:bodyPr wrap="square">
            <a:spAutoFit/>
          </a:bodyPr>
          <a:lstStyle/>
          <a:p>
            <a:pPr>
              <a:defRPr sz="1000" b="0">
                <a:solidFill>
                  <a:srgbClr val="535353"/>
                </a:solidFill>
                <a:latin typeface="Georgia"/>
              </a:defRPr>
            </a:pPr>
            <a:r>
              <a:t>Recent data team restructuring</a:t>
            </a:r>
          </a:p>
        </p:txBody>
      </p:sp>
      <p:pic>
        <p:nvPicPr>
          <p:cNvPr id="26" name="Picture 25" descr="bullet_alt.png"/>
          <p:cNvPicPr>
            <a:picLocks noChangeAspect="1"/>
          </p:cNvPicPr>
          <p:nvPr/>
        </p:nvPicPr>
        <p:blipFill>
          <a:blip r:embed="rId3"/>
          <a:stretch>
            <a:fillRect/>
          </a:stretch>
        </p:blipFill>
        <p:spPr>
          <a:xfrm>
            <a:off x="4846320" y="3360000"/>
            <a:ext cx="182881" cy="182881"/>
          </a:xfrm>
          <a:prstGeom prst="rect">
            <a:avLst/>
          </a:prstGeom>
        </p:spPr>
      </p:pic>
      <p:sp>
        <p:nvSpPr>
          <p:cNvPr id="27" name="TextBox 26"/>
          <p:cNvSpPr txBox="1"/>
          <p:nvPr/>
        </p:nvSpPr>
        <p:spPr>
          <a:xfrm>
            <a:off x="5120640" y="3350000"/>
            <a:ext cx="3383281" cy="280000"/>
          </a:xfrm>
          <a:prstGeom prst="rect">
            <a:avLst/>
          </a:prstGeom>
          <a:noFill/>
        </p:spPr>
        <p:txBody>
          <a:bodyPr wrap="square">
            <a:spAutoFit/>
          </a:bodyPr>
          <a:lstStyle/>
          <a:p>
            <a:pPr>
              <a:defRPr sz="1000" b="0">
                <a:solidFill>
                  <a:srgbClr val="535353"/>
                </a:solidFill>
                <a:latin typeface="Georgia"/>
              </a:defRPr>
            </a:pPr>
            <a:r>
              <a:t>Existing data modelling work in place (data marts, KPI governance, Looker migration)</a:t>
            </a:r>
          </a:p>
        </p:txBody>
      </p:sp>
      <p:sp>
        <p:nvSpPr>
          <p:cNvPr id="28" name="TextBox 27"/>
          <p:cNvSpPr txBox="1"/>
          <p:nvPr/>
        </p:nvSpPr>
        <p:spPr>
          <a:xfrm>
            <a:off x="457200" y="4550000"/>
            <a:ext cx="8229600" cy="250000"/>
          </a:xfrm>
          <a:prstGeom prst="rect">
            <a:avLst/>
          </a:prstGeom>
          <a:noFill/>
        </p:spPr>
        <p:txBody>
          <a:bodyPr wrap="square">
            <a:spAutoFit/>
          </a:bodyPr>
          <a:lstStyle/>
          <a:p>
            <a:pPr>
              <a:defRPr sz="1300" b="1">
                <a:solidFill>
                  <a:srgbClr val="3ECDC4"/>
                </a:solidFill>
                <a:latin typeface="Georgia"/>
              </a:defRPr>
            </a:pPr>
            <a:r>
              <a:t>It seems like the core issue isn’t missing data — it’s trust in the data. Is that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81506"/>
            <a:ext cx="7315201" cy="134268"/>
          </a:xfrm>
          <a:prstGeom prst="rect">
            <a:avLst/>
          </a:prstGeom>
          <a:noFill/>
        </p:spPr>
        <p:txBody>
          <a:bodyPr wrap="square">
            <a:spAutoFit/>
          </a:bodyPr>
          <a:lstStyle/>
          <a:p>
            <a:pPr>
              <a:defRPr sz="1000" b="1">
                <a:solidFill>
                  <a:srgbClr val="3ECDC4"/>
                </a:solidFill>
                <a:latin typeface="Arial"/>
              </a:defRPr>
            </a:pPr>
            <a:r>
              <a:t>THE TRUST GAP</a:t>
            </a:r>
          </a:p>
        </p:txBody>
      </p:sp>
      <p:sp>
        <p:nvSpPr>
          <p:cNvPr id="4" name="TextBox 3"/>
          <p:cNvSpPr txBox="1"/>
          <p:nvPr/>
        </p:nvSpPr>
        <p:spPr>
          <a:xfrm>
            <a:off x="640080" y="650000"/>
            <a:ext cx="7315201" cy="1200000"/>
          </a:xfrm>
          <a:prstGeom prst="rect">
            <a:avLst/>
          </a:prstGeom>
          <a:noFill/>
        </p:spPr>
        <p:txBody>
          <a:bodyPr wrap="square">
            <a:spAutoFit/>
          </a:bodyPr>
          <a:lstStyle/>
          <a:p>
            <a:pPr>
              <a:spcAft>
                <a:spcPts val="200"/>
              </a:spcAft>
              <a:defRPr sz="3600" b="1">
                <a:solidFill>
                  <a:srgbClr val="FFFFFF"/>
                </a:solidFill>
                <a:latin typeface="Georgia"/>
              </a:defRPr>
            </a:pPr>
            <a:r>
              <a:t>The data exists.</a:t>
            </a:r>
          </a:p>
          <a:p>
            <a:pPr>
              <a:defRPr sz="3600" b="1">
                <a:solidFill>
                  <a:srgbClr val="CBD5E1"/>
                </a:solidFill>
                <a:latin typeface="Georgia"/>
              </a:defRPr>
            </a:pPr>
            <a:r>
              <a:t>It just doesn’t support decisions.</a:t>
            </a:r>
          </a:p>
        </p:txBody>
      </p:sp>
      <p:sp>
        <p:nvSpPr>
          <p:cNvPr id="5" name="Rounded Rectangle 4"/>
          <p:cNvSpPr/>
          <p:nvPr/>
        </p:nvSpPr>
        <p:spPr>
          <a:xfrm>
            <a:off x="640080" y="2200000"/>
            <a:ext cx="2500000" cy="1800000"/>
          </a:xfrm>
          <a:prstGeom prst="roundRect">
            <a:avLst/>
          </a:prstGeom>
          <a:solidFill>
            <a:srgbClr val="22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0080" y="2360000"/>
            <a:ext cx="2140000" cy="250000"/>
          </a:xfrm>
          <a:prstGeom prst="rect">
            <a:avLst/>
          </a:prstGeom>
          <a:noFill/>
        </p:spPr>
        <p:txBody>
          <a:bodyPr wrap="square">
            <a:spAutoFit/>
          </a:bodyPr>
          <a:lstStyle/>
          <a:p>
            <a:pPr>
              <a:defRPr sz="1500" b="1">
                <a:solidFill>
                  <a:srgbClr val="3ECDC4"/>
                </a:solidFill>
                <a:latin typeface="Georgia"/>
              </a:defRPr>
            </a:pPr>
            <a:r>
              <a:t>No single view</a:t>
            </a:r>
          </a:p>
        </p:txBody>
      </p:sp>
      <p:sp>
        <p:nvSpPr>
          <p:cNvPr id="7" name="TextBox 6"/>
          <p:cNvSpPr txBox="1"/>
          <p:nvPr/>
        </p:nvSpPr>
        <p:spPr>
          <a:xfrm>
            <a:off x="820080" y="2700000"/>
            <a:ext cx="2140000" cy="1200000"/>
          </a:xfrm>
          <a:prstGeom prst="rect">
            <a:avLst/>
          </a:prstGeom>
          <a:noFill/>
        </p:spPr>
        <p:txBody>
          <a:bodyPr wrap="square">
            <a:spAutoFit/>
          </a:bodyPr>
          <a:lstStyle/>
          <a:p>
            <a:pPr>
              <a:defRPr sz="1100" b="0">
                <a:solidFill>
                  <a:srgbClr val="CBD5E1"/>
                </a:solidFill>
                <a:latin typeface="Georgia"/>
              </a:defRPr>
            </a:pPr>
            <a:r>
              <a:t>User-level spend, revenue, and payouts</a:t>
            </a:r>
            <a:br/>
            <a:r>
              <a:t>live in different systems.</a:t>
            </a:r>
            <a:br/>
            <a:r>
              <a:t>No unified picture.</a:t>
            </a:r>
          </a:p>
        </p:txBody>
      </p:sp>
      <p:sp>
        <p:nvSpPr>
          <p:cNvPr id="8" name="Rounded Rectangle 7"/>
          <p:cNvSpPr/>
          <p:nvPr/>
        </p:nvSpPr>
        <p:spPr>
          <a:xfrm>
            <a:off x="3440080" y="2200000"/>
            <a:ext cx="2500000" cy="1800000"/>
          </a:xfrm>
          <a:prstGeom prst="roundRect">
            <a:avLst/>
          </a:prstGeom>
          <a:solidFill>
            <a:srgbClr val="22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0080" y="2360000"/>
            <a:ext cx="2140000" cy="250000"/>
          </a:xfrm>
          <a:prstGeom prst="rect">
            <a:avLst/>
          </a:prstGeom>
          <a:noFill/>
        </p:spPr>
        <p:txBody>
          <a:bodyPr wrap="square">
            <a:spAutoFit/>
          </a:bodyPr>
          <a:lstStyle/>
          <a:p>
            <a:pPr>
              <a:defRPr sz="1500" b="1">
                <a:solidFill>
                  <a:srgbClr val="3ECDC4"/>
                </a:solidFill>
                <a:latin typeface="Georgia"/>
              </a:defRPr>
            </a:pPr>
            <a:r>
              <a:t>No trusted numbers</a:t>
            </a:r>
          </a:p>
        </p:txBody>
      </p:sp>
      <p:sp>
        <p:nvSpPr>
          <p:cNvPr id="10" name="TextBox 9"/>
          <p:cNvSpPr txBox="1"/>
          <p:nvPr/>
        </p:nvSpPr>
        <p:spPr>
          <a:xfrm>
            <a:off x="3620080" y="2700000"/>
            <a:ext cx="2140000" cy="1200000"/>
          </a:xfrm>
          <a:prstGeom prst="rect">
            <a:avLst/>
          </a:prstGeom>
          <a:noFill/>
        </p:spPr>
        <p:txBody>
          <a:bodyPr wrap="square">
            <a:spAutoFit/>
          </a:bodyPr>
          <a:lstStyle/>
          <a:p>
            <a:pPr>
              <a:defRPr sz="1100" b="0">
                <a:solidFill>
                  <a:srgbClr val="CBD5E1"/>
                </a:solidFill>
                <a:latin typeface="Georgia"/>
              </a:defRPr>
            </a:pPr>
            <a:r>
              <a:t>Different answers depending on</a:t>
            </a:r>
            <a:br/>
            <a:r>
              <a:t>which source you ask.</a:t>
            </a:r>
            <a:br/>
            <a:r>
              <a:t>Decisions stall.</a:t>
            </a:r>
          </a:p>
        </p:txBody>
      </p:sp>
      <p:sp>
        <p:nvSpPr>
          <p:cNvPr id="11" name="Rounded Rectangle 10"/>
          <p:cNvSpPr/>
          <p:nvPr/>
        </p:nvSpPr>
        <p:spPr>
          <a:xfrm>
            <a:off x="6240080" y="2200000"/>
            <a:ext cx="2500000" cy="1800000"/>
          </a:xfrm>
          <a:prstGeom prst="roundRect">
            <a:avLst/>
          </a:prstGeom>
          <a:solidFill>
            <a:srgbClr val="22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0080" y="2360000"/>
            <a:ext cx="2140000" cy="250000"/>
          </a:xfrm>
          <a:prstGeom prst="rect">
            <a:avLst/>
          </a:prstGeom>
          <a:noFill/>
        </p:spPr>
        <p:txBody>
          <a:bodyPr wrap="square">
            <a:spAutoFit/>
          </a:bodyPr>
          <a:lstStyle/>
          <a:p>
            <a:pPr>
              <a:defRPr sz="1500" b="1">
                <a:solidFill>
                  <a:srgbClr val="3ECDC4"/>
                </a:solidFill>
                <a:latin typeface="Georgia"/>
              </a:defRPr>
            </a:pPr>
            <a:r>
              <a:t>No self-serve</a:t>
            </a:r>
          </a:p>
        </p:txBody>
      </p:sp>
      <p:sp>
        <p:nvSpPr>
          <p:cNvPr id="13" name="TextBox 12"/>
          <p:cNvSpPr txBox="1"/>
          <p:nvPr/>
        </p:nvSpPr>
        <p:spPr>
          <a:xfrm>
            <a:off x="6420080" y="2700000"/>
            <a:ext cx="2140000" cy="1200000"/>
          </a:xfrm>
          <a:prstGeom prst="rect">
            <a:avLst/>
          </a:prstGeom>
          <a:noFill/>
        </p:spPr>
        <p:txBody>
          <a:bodyPr wrap="square">
            <a:spAutoFit/>
          </a:bodyPr>
          <a:lstStyle/>
          <a:p>
            <a:pPr>
              <a:defRPr sz="1100" b="0">
                <a:solidFill>
                  <a:srgbClr val="CBD5E1"/>
                </a:solidFill>
                <a:latin typeface="Georgia"/>
              </a:defRPr>
            </a:pPr>
            <a:r>
              <a:t>Every question requires an analyst.</a:t>
            </a:r>
            <a:br/>
            <a:r>
              <a:t>Manual work slows everyone down.</a:t>
            </a:r>
            <a:br/>
            <a:r>
              <a:t>No room for AI.</a:t>
            </a:r>
          </a:p>
        </p:txBody>
      </p:sp>
      <p:sp>
        <p:nvSpPr>
          <p:cNvPr id="14" name="TextBox 13"/>
          <p:cNvSpPr txBox="1"/>
          <p:nvPr/>
        </p:nvSpPr>
        <p:spPr>
          <a:xfrm>
            <a:off x="640080" y="4340160"/>
            <a:ext cx="7315201" cy="189360"/>
          </a:xfrm>
          <a:prstGeom prst="rect">
            <a:avLst/>
          </a:prstGeom>
          <a:noFill/>
        </p:spPr>
        <p:txBody>
          <a:bodyPr wrap="square">
            <a:spAutoFit/>
          </a:bodyPr>
          <a:lstStyle/>
          <a:p>
            <a:pPr>
              <a:defRPr sz="1300" b="0">
                <a:solidFill>
                  <a:srgbClr val="FFFFFF"/>
                </a:solidFill>
                <a:latin typeface="Georgia"/>
              </a:defRPr>
            </a:pPr>
            <a:r>
              <a:t>When trust is low, decisions slow down. Everything ties back to faster spend decisions.</a:t>
            </a:r>
          </a:p>
        </p:txBody>
      </p:sp>
      <p:sp>
        <p:nvSpPr>
          <p:cNvPr id="15" name="Rounded Rectangle 14"/>
          <p:cNvSpPr/>
          <p:nvPr/>
        </p:nvSpPr>
        <p:spPr>
          <a:xfrm>
            <a:off x="6343684" y="600000"/>
            <a:ext cx="2343117" cy="1200000"/>
          </a:xfrm>
          <a:prstGeom prst="round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3682" y="750000"/>
            <a:ext cx="2103121" cy="900000"/>
          </a:xfrm>
          <a:prstGeom prst="rect">
            <a:avLst/>
          </a:prstGeom>
          <a:noFill/>
        </p:spPr>
        <p:txBody>
          <a:bodyPr wrap="square">
            <a:spAutoFit/>
          </a:bodyPr>
          <a:lstStyle/>
          <a:p>
            <a:pPr algn="ctr">
              <a:defRPr sz="2200" b="1">
                <a:solidFill>
                  <a:srgbClr val="1A2332"/>
                </a:solidFill>
                <a:latin typeface="Georgia"/>
              </a:defRPr>
            </a:pPr>
            <a:r>
              <a:t>Protect</a:t>
            </a:r>
          </a:p>
          <a:p>
            <a:pPr algn="ctr">
              <a:defRPr sz="2200" b="1">
                <a:solidFill>
                  <a:srgbClr val="1A2332"/>
                </a:solidFill>
                <a:latin typeface="Georgia"/>
              </a:defRPr>
            </a:pPr>
            <a:r>
              <a:t>your return</a:t>
            </a:r>
          </a:p>
          <a:p>
            <a:pPr algn="ctr">
              <a:defRPr sz="2200" b="1">
                <a:solidFill>
                  <a:srgbClr val="1A2332"/>
                </a:solidFill>
                <a:latin typeface="Georgia"/>
              </a:defRPr>
            </a:pPr>
            <a:r>
              <a:t>on ad spend.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00000"/>
            <a:ext cx="7863840" cy="700000"/>
          </a:xfrm>
          <a:prstGeom prst="rect">
            <a:avLst/>
          </a:prstGeom>
          <a:noFill/>
        </p:spPr>
        <p:txBody>
          <a:bodyPr wrap="square">
            <a:spAutoFit/>
          </a:bodyPr>
          <a:lstStyle/>
          <a:p>
            <a:pPr algn="ctr">
              <a:defRPr sz="3600" b="1">
                <a:solidFill>
                  <a:srgbClr val="FFFFFF"/>
                </a:solidFill>
                <a:latin typeface="Georgia"/>
              </a:defRPr>
            </a:pPr>
            <a:r>
              <a:t>This is what it looks like</a:t>
            </a:r>
            <a:br/>
            <a:r>
              <a:t>when the foundation is clean.</a:t>
            </a:r>
          </a:p>
        </p:txBody>
      </p:sp>
      <p:sp>
        <p:nvSpPr>
          <p:cNvPr id="4" name="TextBox 3"/>
          <p:cNvSpPr txBox="1"/>
          <p:nvPr/>
        </p:nvSpPr>
        <p:spPr>
          <a:xfrm>
            <a:off x="640080" y="1900000"/>
            <a:ext cx="7863840" cy="400000"/>
          </a:xfrm>
          <a:prstGeom prst="rect">
            <a:avLst/>
          </a:prstGeom>
          <a:noFill/>
        </p:spPr>
        <p:txBody>
          <a:bodyPr wrap="square">
            <a:spAutoFit/>
          </a:bodyPr>
          <a:lstStyle/>
          <a:p>
            <a:pPr algn="ctr">
              <a:defRPr sz="2400" b="1">
                <a:solidFill>
                  <a:srgbClr val="3ECDC4"/>
                </a:solidFill>
                <a:latin typeface="Georgia"/>
              </a:defRPr>
            </a:pPr>
            <a:r>
              <a:t>[ LIVE PRODUCT DEMO ]</a:t>
            </a:r>
          </a:p>
        </p:txBody>
      </p:sp>
      <p:pic>
        <p:nvPicPr>
          <p:cNvPr id="5" name="Picture 4" descr="icon_decisions.png"/>
          <p:cNvPicPr>
            <a:picLocks noChangeAspect="1"/>
          </p:cNvPicPr>
          <p:nvPr/>
        </p:nvPicPr>
        <p:blipFill>
          <a:blip r:embed="rId2"/>
          <a:stretch>
            <a:fillRect/>
          </a:stretch>
        </p:blipFill>
        <p:spPr>
          <a:xfrm>
            <a:off x="1750000" y="2700000"/>
            <a:ext cx="320041" cy="320041"/>
          </a:xfrm>
          <a:prstGeom prst="rect">
            <a:avLst/>
          </a:prstGeom>
        </p:spPr>
      </p:pic>
      <p:sp>
        <p:nvSpPr>
          <p:cNvPr id="6" name="TextBox 5"/>
          <p:cNvSpPr txBox="1"/>
          <p:nvPr/>
        </p:nvSpPr>
        <p:spPr>
          <a:xfrm>
            <a:off x="800000" y="3100000"/>
            <a:ext cx="2500000" cy="250000"/>
          </a:xfrm>
          <a:prstGeom prst="rect">
            <a:avLst/>
          </a:prstGeom>
          <a:noFill/>
        </p:spPr>
        <p:txBody>
          <a:bodyPr wrap="square">
            <a:spAutoFit/>
          </a:bodyPr>
          <a:lstStyle/>
          <a:p>
            <a:pPr algn="ctr">
              <a:defRPr sz="1400" b="1">
                <a:solidFill>
                  <a:srgbClr val="FFFFFF"/>
                </a:solidFill>
                <a:latin typeface="Georgia"/>
              </a:defRPr>
            </a:pPr>
            <a:r>
              <a:t>Slack Daily Report</a:t>
            </a:r>
          </a:p>
        </p:txBody>
      </p:sp>
      <p:sp>
        <p:nvSpPr>
          <p:cNvPr id="7" name="TextBox 6"/>
          <p:cNvSpPr txBox="1"/>
          <p:nvPr/>
        </p:nvSpPr>
        <p:spPr>
          <a:xfrm>
            <a:off x="800000" y="3380000"/>
            <a:ext cx="2500000" cy="250000"/>
          </a:xfrm>
          <a:prstGeom prst="rect">
            <a:avLst/>
          </a:prstGeom>
          <a:noFill/>
        </p:spPr>
        <p:txBody>
          <a:bodyPr wrap="square">
            <a:spAutoFit/>
          </a:bodyPr>
          <a:lstStyle/>
          <a:p>
            <a:pPr algn="ctr">
              <a:defRPr sz="1000" b="0">
                <a:solidFill>
                  <a:srgbClr val="CBD5E1"/>
                </a:solidFill>
                <a:latin typeface="Georgia"/>
              </a:defRPr>
            </a:pPr>
            <a:r>
              <a:t>How the Head of Growth starts their morning</a:t>
            </a:r>
          </a:p>
        </p:txBody>
      </p:sp>
      <p:pic>
        <p:nvPicPr>
          <p:cNvPr id="8" name="Picture 7" descr="icon_unified.png"/>
          <p:cNvPicPr>
            <a:picLocks noChangeAspect="1"/>
          </p:cNvPicPr>
          <p:nvPr/>
        </p:nvPicPr>
        <p:blipFill>
          <a:blip r:embed="rId3"/>
          <a:stretch>
            <a:fillRect/>
          </a:stretch>
        </p:blipFill>
        <p:spPr>
          <a:xfrm>
            <a:off x="4550000" y="2700000"/>
            <a:ext cx="320041" cy="320041"/>
          </a:xfrm>
          <a:prstGeom prst="rect">
            <a:avLst/>
          </a:prstGeom>
        </p:spPr>
      </p:pic>
      <p:sp>
        <p:nvSpPr>
          <p:cNvPr id="9" name="TextBox 8"/>
          <p:cNvSpPr txBox="1"/>
          <p:nvPr/>
        </p:nvSpPr>
        <p:spPr>
          <a:xfrm>
            <a:off x="3600000" y="3100000"/>
            <a:ext cx="2500000" cy="250000"/>
          </a:xfrm>
          <a:prstGeom prst="rect">
            <a:avLst/>
          </a:prstGeom>
          <a:noFill/>
        </p:spPr>
        <p:txBody>
          <a:bodyPr wrap="square">
            <a:spAutoFit/>
          </a:bodyPr>
          <a:lstStyle/>
          <a:p>
            <a:pPr algn="ctr">
              <a:defRPr sz="1400" b="1">
                <a:solidFill>
                  <a:srgbClr val="FFFFFF"/>
                </a:solidFill>
                <a:latin typeface="Georgia"/>
              </a:defRPr>
            </a:pPr>
            <a:r>
              <a:t>Natural Language Query</a:t>
            </a:r>
          </a:p>
        </p:txBody>
      </p:sp>
      <p:sp>
        <p:nvSpPr>
          <p:cNvPr id="10" name="TextBox 9"/>
          <p:cNvSpPr txBox="1"/>
          <p:nvPr/>
        </p:nvSpPr>
        <p:spPr>
          <a:xfrm>
            <a:off x="3600000" y="3380000"/>
            <a:ext cx="2500000" cy="250000"/>
          </a:xfrm>
          <a:prstGeom prst="rect">
            <a:avLst/>
          </a:prstGeom>
          <a:noFill/>
        </p:spPr>
        <p:txBody>
          <a:bodyPr wrap="square">
            <a:spAutoFit/>
          </a:bodyPr>
          <a:lstStyle/>
          <a:p>
            <a:pPr algn="ctr">
              <a:defRPr sz="1000" b="0">
                <a:solidFill>
                  <a:srgbClr val="CBD5E1"/>
                </a:solidFill>
                <a:latin typeface="Georgia"/>
              </a:defRPr>
            </a:pPr>
            <a:r>
              <a:t>How the analyst gets answers without SQL</a:t>
            </a:r>
          </a:p>
        </p:txBody>
      </p:sp>
      <p:pic>
        <p:nvPicPr>
          <p:cNvPr id="11" name="Picture 10" descr="icon_ltv.png"/>
          <p:cNvPicPr>
            <a:picLocks noChangeAspect="1"/>
          </p:cNvPicPr>
          <p:nvPr/>
        </p:nvPicPr>
        <p:blipFill>
          <a:blip r:embed="rId4"/>
          <a:stretch>
            <a:fillRect/>
          </a:stretch>
        </p:blipFill>
        <p:spPr>
          <a:xfrm>
            <a:off x="7350000" y="2700000"/>
            <a:ext cx="320041" cy="320041"/>
          </a:xfrm>
          <a:prstGeom prst="rect">
            <a:avLst/>
          </a:prstGeom>
        </p:spPr>
      </p:pic>
      <p:sp>
        <p:nvSpPr>
          <p:cNvPr id="12" name="TextBox 11"/>
          <p:cNvSpPr txBox="1"/>
          <p:nvPr/>
        </p:nvSpPr>
        <p:spPr>
          <a:xfrm>
            <a:off x="6400000" y="3100000"/>
            <a:ext cx="2500000" cy="250000"/>
          </a:xfrm>
          <a:prstGeom prst="rect">
            <a:avLst/>
          </a:prstGeom>
          <a:noFill/>
        </p:spPr>
        <p:txBody>
          <a:bodyPr wrap="square">
            <a:spAutoFit/>
          </a:bodyPr>
          <a:lstStyle/>
          <a:p>
            <a:pPr algn="ctr">
              <a:defRPr sz="1400" b="1">
                <a:solidFill>
                  <a:srgbClr val="FFFFFF"/>
                </a:solidFill>
                <a:latin typeface="Georgia"/>
              </a:defRPr>
            </a:pPr>
            <a:r>
              <a:t>Explain Feature</a:t>
            </a:r>
          </a:p>
        </p:txBody>
      </p:sp>
      <p:sp>
        <p:nvSpPr>
          <p:cNvPr id="13" name="TextBox 12"/>
          <p:cNvSpPr txBox="1"/>
          <p:nvPr/>
        </p:nvSpPr>
        <p:spPr>
          <a:xfrm>
            <a:off x="6400000" y="3380000"/>
            <a:ext cx="2500000" cy="250000"/>
          </a:xfrm>
          <a:prstGeom prst="rect">
            <a:avLst/>
          </a:prstGeom>
          <a:noFill/>
        </p:spPr>
        <p:txBody>
          <a:bodyPr wrap="square">
            <a:spAutoFit/>
          </a:bodyPr>
          <a:lstStyle/>
          <a:p>
            <a:pPr algn="ctr">
              <a:defRPr sz="1000" b="0">
                <a:solidFill>
                  <a:srgbClr val="CBD5E1"/>
                </a:solidFill>
                <a:latin typeface="Georgia"/>
              </a:defRPr>
            </a:pPr>
            <a:r>
              <a:t>How the team understands why metrics changed</a:t>
            </a:r>
          </a:p>
        </p:txBody>
      </p:sp>
      <p:sp>
        <p:nvSpPr>
          <p:cNvPr id="14" name="TextBox 13"/>
          <p:cNvSpPr txBox="1"/>
          <p:nvPr/>
        </p:nvSpPr>
        <p:spPr>
          <a:xfrm>
            <a:off x="640080" y="4200000"/>
            <a:ext cx="7863840" cy="300000"/>
          </a:xfrm>
          <a:prstGeom prst="rect">
            <a:avLst/>
          </a:prstGeom>
          <a:noFill/>
        </p:spPr>
        <p:txBody>
          <a:bodyPr wrap="square">
            <a:spAutoFit/>
          </a:bodyPr>
          <a:lstStyle/>
          <a:p>
            <a:pPr algn="ctr">
              <a:defRPr sz="1100" b="0">
                <a:solidFill>
                  <a:srgbClr val="94A3B8"/>
                </a:solidFill>
                <a:latin typeface="Georgia"/>
              </a:defRPr>
            </a:pPr>
            <a:r>
              <a:t>Running on live data for a publisher at similar scale. Not a mock-up.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7"/>
        </a:solidFill>
        <a:effectLst/>
      </p:bgPr>
    </p:bg>
    <p:spTree>
      <p:nvGrpSpPr>
        <p:cNvPr id="1" name=""/>
        <p:cNvGrpSpPr/>
        <p:nvPr/>
      </p:nvGrpSpPr>
      <p:grpSpPr/>
      <p:sp>
        <p:nvSpPr>
          <p:cNvPr id="2" name="TextBox 1"/>
          <p:cNvSpPr txBox="1"/>
          <p:nvPr/>
        </p:nvSpPr>
        <p:spPr>
          <a:xfrm>
            <a:off x="640080" y="497585"/>
            <a:ext cx="7315201" cy="147830"/>
          </a:xfrm>
          <a:prstGeom prst="rect">
            <a:avLst/>
          </a:prstGeom>
          <a:noFill/>
        </p:spPr>
        <p:txBody>
          <a:bodyPr wrap="square">
            <a:spAutoFit/>
          </a:bodyPr>
          <a:lstStyle/>
          <a:p>
            <a:pPr>
              <a:defRPr sz="1100" b="1">
                <a:solidFill>
                  <a:srgbClr val="3ECDC4"/>
                </a:solidFill>
                <a:latin typeface="Arial"/>
              </a:defRPr>
            </a:pPr>
            <a:r>
              <a:t>THE FOUNDATION</a:t>
            </a:r>
          </a:p>
        </p:txBody>
      </p:sp>
      <p:sp>
        <p:nvSpPr>
          <p:cNvPr id="3" name="TextBox 2"/>
          <p:cNvSpPr txBox="1"/>
          <p:nvPr/>
        </p:nvSpPr>
        <p:spPr>
          <a:xfrm>
            <a:off x="640080" y="700000"/>
            <a:ext cx="7315201" cy="500000"/>
          </a:xfrm>
          <a:prstGeom prst="rect">
            <a:avLst/>
          </a:prstGeom>
          <a:noFill/>
        </p:spPr>
        <p:txBody>
          <a:bodyPr wrap="square">
            <a:spAutoFit/>
          </a:bodyPr>
          <a:lstStyle/>
          <a:p>
            <a:pPr>
              <a:defRPr sz="3000" b="1">
                <a:solidFill>
                  <a:srgbClr val="1A2332"/>
                </a:solidFill>
                <a:latin typeface="Georgia"/>
              </a:defRPr>
            </a:pPr>
            <a:r>
              <a:t>What would need to be true</a:t>
            </a:r>
            <a:br/>
            <a:r>
              <a:t>before any of this works?</a:t>
            </a:r>
          </a:p>
        </p:txBody>
      </p:sp>
      <p:sp>
        <p:nvSpPr>
          <p:cNvPr id="4" name="Rounded Rectangle 3"/>
          <p:cNvSpPr/>
          <p:nvPr/>
        </p:nvSpPr>
        <p:spPr>
          <a:xfrm>
            <a:off x="457199" y="1500000"/>
            <a:ext cx="3750000" cy="12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_ssot.png"/>
          <p:cNvPicPr>
            <a:picLocks noChangeAspect="1"/>
          </p:cNvPicPr>
          <p:nvPr/>
        </p:nvPicPr>
        <p:blipFill>
          <a:blip r:embed="rId2"/>
          <a:stretch>
            <a:fillRect/>
          </a:stretch>
        </p:blipFill>
        <p:spPr>
          <a:xfrm>
            <a:off x="657199" y="1700000"/>
            <a:ext cx="320041" cy="320041"/>
          </a:xfrm>
          <a:prstGeom prst="rect">
            <a:avLst/>
          </a:prstGeom>
        </p:spPr>
      </p:pic>
      <p:sp>
        <p:nvSpPr>
          <p:cNvPr id="6" name="TextBox 5"/>
          <p:cNvSpPr txBox="1"/>
          <p:nvPr/>
        </p:nvSpPr>
        <p:spPr>
          <a:xfrm>
            <a:off x="1077199" y="1680000"/>
            <a:ext cx="3030000" cy="250000"/>
          </a:xfrm>
          <a:prstGeom prst="rect">
            <a:avLst/>
          </a:prstGeom>
          <a:noFill/>
        </p:spPr>
        <p:txBody>
          <a:bodyPr wrap="square">
            <a:spAutoFit/>
          </a:bodyPr>
          <a:lstStyle/>
          <a:p>
            <a:pPr>
              <a:defRPr sz="1400" b="1">
                <a:solidFill>
                  <a:srgbClr val="1A2332"/>
                </a:solidFill>
                <a:latin typeface="Georgia"/>
              </a:defRPr>
            </a:pPr>
            <a:r>
              <a:t>Single Source of Truth</a:t>
            </a:r>
          </a:p>
        </p:txBody>
      </p:sp>
      <p:sp>
        <p:nvSpPr>
          <p:cNvPr id="7" name="TextBox 6"/>
          <p:cNvSpPr txBox="1"/>
          <p:nvPr/>
        </p:nvSpPr>
        <p:spPr>
          <a:xfrm>
            <a:off x="1077199" y="1980000"/>
            <a:ext cx="3030000" cy="650000"/>
          </a:xfrm>
          <a:prstGeom prst="rect">
            <a:avLst/>
          </a:prstGeom>
          <a:noFill/>
        </p:spPr>
        <p:txBody>
          <a:bodyPr wrap="square">
            <a:spAutoFit/>
          </a:bodyPr>
          <a:lstStyle/>
          <a:p>
            <a:pPr>
              <a:defRPr sz="1000" b="0">
                <a:solidFill>
                  <a:srgbClr val="535353"/>
                </a:solidFill>
                <a:latin typeface="Georgia"/>
              </a:defRPr>
            </a:pPr>
            <a:r>
              <a:t>User-level dataset unifying spend, revenue, payouts and attribution across all channels.</a:t>
            </a:r>
          </a:p>
        </p:txBody>
      </p:sp>
      <p:sp>
        <p:nvSpPr>
          <p:cNvPr id="8" name="Rounded Rectangle 7"/>
          <p:cNvSpPr/>
          <p:nvPr/>
        </p:nvSpPr>
        <p:spPr>
          <a:xfrm>
            <a:off x="4572000" y="1500000"/>
            <a:ext cx="3750000" cy="12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on_id.png"/>
          <p:cNvPicPr>
            <a:picLocks noChangeAspect="1"/>
          </p:cNvPicPr>
          <p:nvPr/>
        </p:nvPicPr>
        <p:blipFill>
          <a:blip r:embed="rId3"/>
          <a:stretch>
            <a:fillRect/>
          </a:stretch>
        </p:blipFill>
        <p:spPr>
          <a:xfrm>
            <a:off x="4772000" y="1700000"/>
            <a:ext cx="320041" cy="320041"/>
          </a:xfrm>
          <a:prstGeom prst="rect">
            <a:avLst/>
          </a:prstGeom>
        </p:spPr>
      </p:pic>
      <p:sp>
        <p:nvSpPr>
          <p:cNvPr id="10" name="TextBox 9"/>
          <p:cNvSpPr txBox="1"/>
          <p:nvPr/>
        </p:nvSpPr>
        <p:spPr>
          <a:xfrm>
            <a:off x="5192000" y="1680000"/>
            <a:ext cx="3030000" cy="250000"/>
          </a:xfrm>
          <a:prstGeom prst="rect">
            <a:avLst/>
          </a:prstGeom>
          <a:noFill/>
        </p:spPr>
        <p:txBody>
          <a:bodyPr wrap="square">
            <a:spAutoFit/>
          </a:bodyPr>
          <a:lstStyle/>
          <a:p>
            <a:pPr>
              <a:defRPr sz="1400" b="1">
                <a:solidFill>
                  <a:srgbClr val="1A2332"/>
                </a:solidFill>
                <a:latin typeface="Georgia"/>
              </a:defRPr>
            </a:pPr>
            <a:r>
              <a:t>Identity Resolution</a:t>
            </a:r>
          </a:p>
        </p:txBody>
      </p:sp>
      <p:sp>
        <p:nvSpPr>
          <p:cNvPr id="11" name="TextBox 10"/>
          <p:cNvSpPr txBox="1"/>
          <p:nvPr/>
        </p:nvSpPr>
        <p:spPr>
          <a:xfrm>
            <a:off x="5192000" y="1980000"/>
            <a:ext cx="3030000" cy="650000"/>
          </a:xfrm>
          <a:prstGeom prst="rect">
            <a:avLst/>
          </a:prstGeom>
          <a:noFill/>
        </p:spPr>
        <p:txBody>
          <a:bodyPr wrap="square">
            <a:spAutoFit/>
          </a:bodyPr>
          <a:lstStyle/>
          <a:p>
            <a:pPr>
              <a:defRPr sz="1000" b="0">
                <a:solidFill>
                  <a:srgbClr val="535353"/>
                </a:solidFill>
                <a:latin typeface="Georgia"/>
              </a:defRPr>
            </a:pPr>
            <a:r>
              <a:t>Stable mapping across MMP IDs, network IDs, and product data. One user, one record.</a:t>
            </a:r>
          </a:p>
        </p:txBody>
      </p:sp>
      <p:sp>
        <p:nvSpPr>
          <p:cNvPr id="12" name="Rounded Rectangle 11"/>
          <p:cNvSpPr/>
          <p:nvPr/>
        </p:nvSpPr>
        <p:spPr>
          <a:xfrm>
            <a:off x="457199" y="2850000"/>
            <a:ext cx="3750000" cy="12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n_defs.png"/>
          <p:cNvPicPr>
            <a:picLocks noChangeAspect="1"/>
          </p:cNvPicPr>
          <p:nvPr/>
        </p:nvPicPr>
        <p:blipFill>
          <a:blip r:embed="rId4"/>
          <a:stretch>
            <a:fillRect/>
          </a:stretch>
        </p:blipFill>
        <p:spPr>
          <a:xfrm>
            <a:off x="657199" y="3050000"/>
            <a:ext cx="320041" cy="320041"/>
          </a:xfrm>
          <a:prstGeom prst="rect">
            <a:avLst/>
          </a:prstGeom>
        </p:spPr>
      </p:pic>
      <p:sp>
        <p:nvSpPr>
          <p:cNvPr id="14" name="TextBox 13"/>
          <p:cNvSpPr txBox="1"/>
          <p:nvPr/>
        </p:nvSpPr>
        <p:spPr>
          <a:xfrm>
            <a:off x="1077199" y="3030000"/>
            <a:ext cx="3030000" cy="250000"/>
          </a:xfrm>
          <a:prstGeom prst="rect">
            <a:avLst/>
          </a:prstGeom>
          <a:noFill/>
        </p:spPr>
        <p:txBody>
          <a:bodyPr wrap="square">
            <a:spAutoFit/>
          </a:bodyPr>
          <a:lstStyle/>
          <a:p>
            <a:pPr>
              <a:defRPr sz="1400" b="1">
                <a:solidFill>
                  <a:srgbClr val="1A2332"/>
                </a:solidFill>
                <a:latin typeface="Georgia"/>
              </a:defRPr>
            </a:pPr>
            <a:r>
              <a:t>Consistent Definitions</a:t>
            </a:r>
          </a:p>
        </p:txBody>
      </p:sp>
      <p:sp>
        <p:nvSpPr>
          <p:cNvPr id="15" name="TextBox 14"/>
          <p:cNvSpPr txBox="1"/>
          <p:nvPr/>
        </p:nvSpPr>
        <p:spPr>
          <a:xfrm>
            <a:off x="1077199" y="3330000"/>
            <a:ext cx="3030000" cy="650000"/>
          </a:xfrm>
          <a:prstGeom prst="rect">
            <a:avLst/>
          </a:prstGeom>
          <a:noFill/>
        </p:spPr>
        <p:txBody>
          <a:bodyPr wrap="square">
            <a:spAutoFit/>
          </a:bodyPr>
          <a:lstStyle/>
          <a:p>
            <a:pPr>
              <a:defRPr sz="1000" b="0">
                <a:solidFill>
                  <a:srgbClr val="535353"/>
                </a:solidFill>
                <a:latin typeface="Georgia"/>
              </a:defRPr>
            </a:pPr>
            <a:r>
              <a:t>One agreed definition of ROAS, LTV, installs, retention. Used everywhere.</a:t>
            </a:r>
          </a:p>
        </p:txBody>
      </p:sp>
      <p:sp>
        <p:nvSpPr>
          <p:cNvPr id="16" name="Rounded Rectangle 15"/>
          <p:cNvSpPr/>
          <p:nvPr/>
        </p:nvSpPr>
        <p:spPr>
          <a:xfrm>
            <a:off x="4572000" y="2850000"/>
            <a:ext cx="3750000" cy="12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integration.png"/>
          <p:cNvPicPr>
            <a:picLocks noChangeAspect="1"/>
          </p:cNvPicPr>
          <p:nvPr/>
        </p:nvPicPr>
        <p:blipFill>
          <a:blip r:embed="rId5"/>
          <a:stretch>
            <a:fillRect/>
          </a:stretch>
        </p:blipFill>
        <p:spPr>
          <a:xfrm>
            <a:off x="4772000" y="3050000"/>
            <a:ext cx="320041" cy="320041"/>
          </a:xfrm>
          <a:prstGeom prst="rect">
            <a:avLst/>
          </a:prstGeom>
        </p:spPr>
      </p:pic>
      <p:sp>
        <p:nvSpPr>
          <p:cNvPr id="18" name="TextBox 17"/>
          <p:cNvSpPr txBox="1"/>
          <p:nvPr/>
        </p:nvSpPr>
        <p:spPr>
          <a:xfrm>
            <a:off x="5192000" y="3030000"/>
            <a:ext cx="3030000" cy="250000"/>
          </a:xfrm>
          <a:prstGeom prst="rect">
            <a:avLst/>
          </a:prstGeom>
          <a:noFill/>
        </p:spPr>
        <p:txBody>
          <a:bodyPr wrap="square">
            <a:spAutoFit/>
          </a:bodyPr>
          <a:lstStyle/>
          <a:p>
            <a:pPr>
              <a:defRPr sz="1400" b="1">
                <a:solidFill>
                  <a:srgbClr val="1A2332"/>
                </a:solidFill>
                <a:latin typeface="Georgia"/>
              </a:defRPr>
            </a:pPr>
            <a:r>
              <a:t>Integration-Ready Structure</a:t>
            </a:r>
          </a:p>
        </p:txBody>
      </p:sp>
      <p:sp>
        <p:nvSpPr>
          <p:cNvPr id="19" name="TextBox 18"/>
          <p:cNvSpPr txBox="1"/>
          <p:nvPr/>
        </p:nvSpPr>
        <p:spPr>
          <a:xfrm>
            <a:off x="5192000" y="3330000"/>
            <a:ext cx="3030000" cy="650000"/>
          </a:xfrm>
          <a:prstGeom prst="rect">
            <a:avLst/>
          </a:prstGeom>
          <a:noFill/>
        </p:spPr>
        <p:txBody>
          <a:bodyPr wrap="square">
            <a:spAutoFit/>
          </a:bodyPr>
          <a:lstStyle/>
          <a:p>
            <a:pPr>
              <a:defRPr sz="1000" b="0">
                <a:solidFill>
                  <a:srgbClr val="535353"/>
                </a:solidFill>
                <a:latin typeface="Georgia"/>
              </a:defRPr>
            </a:pPr>
            <a:r>
              <a:t>Supports internal daily decisions, external platform integration (NCSoft) and AI-ready data.</a:t>
            </a:r>
          </a:p>
        </p:txBody>
      </p:sp>
      <p:sp>
        <p:nvSpPr>
          <p:cNvPr id="20" name="TextBox 19"/>
          <p:cNvSpPr txBox="1"/>
          <p:nvPr/>
        </p:nvSpPr>
        <p:spPr>
          <a:xfrm>
            <a:off x="457200" y="4350000"/>
            <a:ext cx="8229600" cy="250000"/>
          </a:xfrm>
          <a:prstGeom prst="rect">
            <a:avLst/>
          </a:prstGeom>
          <a:noFill/>
        </p:spPr>
        <p:txBody>
          <a:bodyPr wrap="square">
            <a:spAutoFit/>
          </a:bodyPr>
          <a:lstStyle/>
          <a:p>
            <a:pPr>
              <a:defRPr sz="1200" b="0">
                <a:solidFill>
                  <a:srgbClr val="535353"/>
                </a:solidFill>
                <a:latin typeface="Georgia"/>
              </a:defRPr>
            </a:pPr>
            <a:r>
              <a:t>These aren’t our requirements. They’re the reality any solution must address.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19" y="480104"/>
            <a:ext cx="4572001" cy="137072"/>
          </a:xfrm>
          <a:prstGeom prst="rect">
            <a:avLst/>
          </a:prstGeom>
          <a:noFill/>
        </p:spPr>
        <p:txBody>
          <a:bodyPr wrap="square">
            <a:spAutoFit/>
          </a:bodyPr>
          <a:lstStyle/>
          <a:p>
            <a:pPr>
              <a:defRPr sz="1000" b="1">
                <a:solidFill>
                  <a:srgbClr val="3ECDC4"/>
                </a:solidFill>
                <a:latin typeface="Arial"/>
              </a:defRPr>
            </a:pPr>
            <a:r>
              <a:t>WHAT LUPE DELIVERS</a:t>
            </a:r>
          </a:p>
        </p:txBody>
      </p:sp>
      <p:sp>
        <p:nvSpPr>
          <p:cNvPr id="4" name="TextBox 3"/>
          <p:cNvSpPr txBox="1"/>
          <p:nvPr/>
        </p:nvSpPr>
        <p:spPr>
          <a:xfrm>
            <a:off x="731520" y="700000"/>
            <a:ext cx="7680960" cy="700000"/>
          </a:xfrm>
          <a:prstGeom prst="rect">
            <a:avLst/>
          </a:prstGeom>
          <a:noFill/>
        </p:spPr>
        <p:txBody>
          <a:bodyPr wrap="square">
            <a:spAutoFit/>
          </a:bodyPr>
          <a:lstStyle/>
          <a:p>
            <a:pPr>
              <a:spcAft>
                <a:spcPts val="200"/>
              </a:spcAft>
              <a:defRPr sz="2400" b="1">
                <a:solidFill>
                  <a:srgbClr val="FFFFFF"/>
                </a:solidFill>
                <a:latin typeface="Georgia"/>
              </a:defRPr>
            </a:pPr>
            <a:r>
              <a:t>One specific layer</a:t>
            </a:r>
          </a:p>
          <a:p>
            <a:pPr>
              <a:defRPr sz="2400" b="1">
                <a:solidFill>
                  <a:srgbClr val="CBD5E1"/>
                </a:solidFill>
                <a:latin typeface="Georgia"/>
              </a:defRPr>
            </a:pPr>
            <a:r>
              <a:t>on top of your infrastructure.</a:t>
            </a:r>
          </a:p>
        </p:txBody>
      </p:sp>
      <p:sp>
        <p:nvSpPr>
          <p:cNvPr id="5" name="TextBox 4"/>
          <p:cNvSpPr txBox="1"/>
          <p:nvPr/>
        </p:nvSpPr>
        <p:spPr>
          <a:xfrm>
            <a:off x="731520" y="1400000"/>
            <a:ext cx="7680960" cy="300000"/>
          </a:xfrm>
          <a:prstGeom prst="rect">
            <a:avLst/>
          </a:prstGeom>
          <a:noFill/>
        </p:spPr>
        <p:txBody>
          <a:bodyPr wrap="square">
            <a:spAutoFit/>
          </a:bodyPr>
          <a:lstStyle/>
          <a:p>
            <a:pPr>
              <a:defRPr sz="1100" b="0">
                <a:solidFill>
                  <a:srgbClr val="CBD5E1"/>
                </a:solidFill>
                <a:latin typeface="Georgia"/>
              </a:defRPr>
            </a:pPr>
            <a:r>
              <a:t>We don’t replace your data engineering or the work already done. We add the intelligence layer that makes your data actionable for marketing decisions.</a:t>
            </a:r>
          </a:p>
        </p:txBody>
      </p:sp>
      <p:sp>
        <p:nvSpPr>
          <p:cNvPr id="6" name="TextBox 5"/>
          <p:cNvSpPr txBox="1"/>
          <p:nvPr/>
        </p:nvSpPr>
        <p:spPr>
          <a:xfrm>
            <a:off x="731520" y="2000000"/>
            <a:ext cx="3600000" cy="250000"/>
          </a:xfrm>
          <a:prstGeom prst="rect">
            <a:avLst/>
          </a:prstGeom>
          <a:noFill/>
        </p:spPr>
        <p:txBody>
          <a:bodyPr wrap="square">
            <a:spAutoFit/>
          </a:bodyPr>
          <a:lstStyle/>
          <a:p>
            <a:pPr>
              <a:defRPr sz="1300" b="1">
                <a:solidFill>
                  <a:srgbClr val="FFFFFF"/>
                </a:solidFill>
                <a:latin typeface="Georgia"/>
              </a:defRPr>
            </a:pPr>
            <a:r>
              <a:t>Your team owns</a:t>
            </a:r>
          </a:p>
        </p:txBody>
      </p:sp>
      <p:pic>
        <p:nvPicPr>
          <p:cNvPr id="7" name="Picture 6" descr="check_dark.png"/>
          <p:cNvPicPr>
            <a:picLocks noChangeAspect="1"/>
          </p:cNvPicPr>
          <p:nvPr/>
        </p:nvPicPr>
        <p:blipFill>
          <a:blip r:embed="rId2"/>
          <a:stretch>
            <a:fillRect/>
          </a:stretch>
        </p:blipFill>
        <p:spPr>
          <a:xfrm>
            <a:off x="731520" y="2350000"/>
            <a:ext cx="182881" cy="182881"/>
          </a:xfrm>
          <a:prstGeom prst="rect">
            <a:avLst/>
          </a:prstGeom>
        </p:spPr>
      </p:pic>
      <p:sp>
        <p:nvSpPr>
          <p:cNvPr id="8" name="TextBox 7"/>
          <p:cNvSpPr txBox="1"/>
          <p:nvPr/>
        </p:nvSpPr>
        <p:spPr>
          <a:xfrm>
            <a:off x="1005842" y="2340000"/>
            <a:ext cx="3325678" cy="200000"/>
          </a:xfrm>
          <a:prstGeom prst="rect">
            <a:avLst/>
          </a:prstGeom>
          <a:noFill/>
        </p:spPr>
        <p:txBody>
          <a:bodyPr wrap="square">
            <a:spAutoFit/>
          </a:bodyPr>
          <a:lstStyle/>
          <a:p>
            <a:pPr>
              <a:defRPr sz="1000" b="0">
                <a:solidFill>
                  <a:srgbClr val="CBD5E1"/>
                </a:solidFill>
                <a:latin typeface="Georgia"/>
              </a:defRPr>
            </a:pPr>
            <a:r>
              <a:t>Data warehouse and infrastructure</a:t>
            </a:r>
          </a:p>
        </p:txBody>
      </p:sp>
      <p:pic>
        <p:nvPicPr>
          <p:cNvPr id="9" name="Picture 8" descr="check_dark.png"/>
          <p:cNvPicPr>
            <a:picLocks noChangeAspect="1"/>
          </p:cNvPicPr>
          <p:nvPr/>
        </p:nvPicPr>
        <p:blipFill>
          <a:blip r:embed="rId2"/>
          <a:stretch>
            <a:fillRect/>
          </a:stretch>
        </p:blipFill>
        <p:spPr>
          <a:xfrm>
            <a:off x="731520" y="2650000"/>
            <a:ext cx="182881" cy="182881"/>
          </a:xfrm>
          <a:prstGeom prst="rect">
            <a:avLst/>
          </a:prstGeom>
        </p:spPr>
      </p:pic>
      <p:sp>
        <p:nvSpPr>
          <p:cNvPr id="10" name="TextBox 9"/>
          <p:cNvSpPr txBox="1"/>
          <p:nvPr/>
        </p:nvSpPr>
        <p:spPr>
          <a:xfrm>
            <a:off x="1005842" y="2640000"/>
            <a:ext cx="3325678" cy="200000"/>
          </a:xfrm>
          <a:prstGeom prst="rect">
            <a:avLst/>
          </a:prstGeom>
          <a:noFill/>
        </p:spPr>
        <p:txBody>
          <a:bodyPr wrap="square">
            <a:spAutoFit/>
          </a:bodyPr>
          <a:lstStyle/>
          <a:p>
            <a:pPr>
              <a:defRPr sz="1000" b="0">
                <a:solidFill>
                  <a:srgbClr val="CBD5E1"/>
                </a:solidFill>
                <a:latin typeface="Georgia"/>
              </a:defRPr>
            </a:pPr>
            <a:r>
              <a:t>Ingestion pipelines for all sources</a:t>
            </a:r>
          </a:p>
        </p:txBody>
      </p:sp>
      <p:pic>
        <p:nvPicPr>
          <p:cNvPr id="11" name="Picture 10" descr="check_dark.png"/>
          <p:cNvPicPr>
            <a:picLocks noChangeAspect="1"/>
          </p:cNvPicPr>
          <p:nvPr/>
        </p:nvPicPr>
        <p:blipFill>
          <a:blip r:embed="rId2"/>
          <a:stretch>
            <a:fillRect/>
          </a:stretch>
        </p:blipFill>
        <p:spPr>
          <a:xfrm>
            <a:off x="731520" y="2950000"/>
            <a:ext cx="182881" cy="182881"/>
          </a:xfrm>
          <a:prstGeom prst="rect">
            <a:avLst/>
          </a:prstGeom>
        </p:spPr>
      </p:pic>
      <p:sp>
        <p:nvSpPr>
          <p:cNvPr id="12" name="TextBox 11"/>
          <p:cNvSpPr txBox="1"/>
          <p:nvPr/>
        </p:nvSpPr>
        <p:spPr>
          <a:xfrm>
            <a:off x="1005842" y="2940000"/>
            <a:ext cx="3325678" cy="200000"/>
          </a:xfrm>
          <a:prstGeom prst="rect">
            <a:avLst/>
          </a:prstGeom>
          <a:noFill/>
        </p:spPr>
        <p:txBody>
          <a:bodyPr wrap="square">
            <a:spAutoFit/>
          </a:bodyPr>
          <a:lstStyle/>
          <a:p>
            <a:pPr>
              <a:defRPr sz="1000" b="0">
                <a:solidFill>
                  <a:srgbClr val="CBD5E1"/>
                </a:solidFill>
                <a:latin typeface="Georgia"/>
              </a:defRPr>
            </a:pPr>
            <a:r>
              <a:t>Dashboard and reporting migration</a:t>
            </a:r>
          </a:p>
        </p:txBody>
      </p:sp>
      <p:pic>
        <p:nvPicPr>
          <p:cNvPr id="13" name="Picture 12" descr="check_dark.png"/>
          <p:cNvPicPr>
            <a:picLocks noChangeAspect="1"/>
          </p:cNvPicPr>
          <p:nvPr/>
        </p:nvPicPr>
        <p:blipFill>
          <a:blip r:embed="rId2"/>
          <a:stretch>
            <a:fillRect/>
          </a:stretch>
        </p:blipFill>
        <p:spPr>
          <a:xfrm>
            <a:off x="731520" y="3250000"/>
            <a:ext cx="182881" cy="182881"/>
          </a:xfrm>
          <a:prstGeom prst="rect">
            <a:avLst/>
          </a:prstGeom>
        </p:spPr>
      </p:pic>
      <p:sp>
        <p:nvSpPr>
          <p:cNvPr id="14" name="TextBox 13"/>
          <p:cNvSpPr txBox="1"/>
          <p:nvPr/>
        </p:nvSpPr>
        <p:spPr>
          <a:xfrm>
            <a:off x="1005842" y="3240000"/>
            <a:ext cx="3325678" cy="200000"/>
          </a:xfrm>
          <a:prstGeom prst="rect">
            <a:avLst/>
          </a:prstGeom>
          <a:noFill/>
        </p:spPr>
        <p:txBody>
          <a:bodyPr wrap="square">
            <a:spAutoFit/>
          </a:bodyPr>
          <a:lstStyle/>
          <a:p>
            <a:pPr>
              <a:defRPr sz="1000" b="0">
                <a:solidFill>
                  <a:srgbClr val="CBD5E1"/>
                </a:solidFill>
                <a:latin typeface="Georgia"/>
              </a:defRPr>
            </a:pPr>
            <a:r>
              <a:t>Existing data models and KPI governance</a:t>
            </a:r>
          </a:p>
        </p:txBody>
      </p:sp>
      <p:sp>
        <p:nvSpPr>
          <p:cNvPr id="15" name="TextBox 14"/>
          <p:cNvSpPr txBox="1"/>
          <p:nvPr/>
        </p:nvSpPr>
        <p:spPr>
          <a:xfrm>
            <a:off x="4800000" y="2000000"/>
            <a:ext cx="3600000" cy="250000"/>
          </a:xfrm>
          <a:prstGeom prst="rect">
            <a:avLst/>
          </a:prstGeom>
          <a:noFill/>
        </p:spPr>
        <p:txBody>
          <a:bodyPr wrap="square">
            <a:spAutoFit/>
          </a:bodyPr>
          <a:lstStyle/>
          <a:p>
            <a:pPr>
              <a:defRPr sz="1300" b="1">
                <a:solidFill>
                  <a:srgbClr val="3ECDC4"/>
                </a:solidFill>
                <a:latin typeface="Georgia"/>
              </a:defRPr>
            </a:pPr>
            <a:r>
              <a:t>Lupe delivers</a:t>
            </a:r>
          </a:p>
        </p:txBody>
      </p:sp>
      <p:pic>
        <p:nvPicPr>
          <p:cNvPr id="16" name="Picture 15" descr="check_teal.png"/>
          <p:cNvPicPr>
            <a:picLocks noChangeAspect="1"/>
          </p:cNvPicPr>
          <p:nvPr/>
        </p:nvPicPr>
        <p:blipFill>
          <a:blip r:embed="rId3"/>
          <a:stretch>
            <a:fillRect/>
          </a:stretch>
        </p:blipFill>
        <p:spPr>
          <a:xfrm>
            <a:off x="4800000" y="2350000"/>
            <a:ext cx="182881" cy="182881"/>
          </a:xfrm>
          <a:prstGeom prst="rect">
            <a:avLst/>
          </a:prstGeom>
        </p:spPr>
      </p:pic>
      <p:sp>
        <p:nvSpPr>
          <p:cNvPr id="17" name="TextBox 16"/>
          <p:cNvSpPr txBox="1"/>
          <p:nvPr/>
        </p:nvSpPr>
        <p:spPr>
          <a:xfrm>
            <a:off x="5074322" y="2340000"/>
            <a:ext cx="3325678" cy="200000"/>
          </a:xfrm>
          <a:prstGeom prst="rect">
            <a:avLst/>
          </a:prstGeom>
          <a:noFill/>
        </p:spPr>
        <p:txBody>
          <a:bodyPr wrap="square">
            <a:spAutoFit/>
          </a:bodyPr>
          <a:lstStyle/>
          <a:p>
            <a:pPr>
              <a:defRPr sz="1000" b="0">
                <a:solidFill>
                  <a:srgbClr val="CBD5E1"/>
                </a:solidFill>
                <a:latin typeface="Georgia"/>
              </a:defRPr>
            </a:pPr>
            <a:r>
              <a:t>Data audit and SSOT architecture</a:t>
            </a:r>
          </a:p>
        </p:txBody>
      </p:sp>
      <p:pic>
        <p:nvPicPr>
          <p:cNvPr id="18" name="Picture 17" descr="check_teal.png"/>
          <p:cNvPicPr>
            <a:picLocks noChangeAspect="1"/>
          </p:cNvPicPr>
          <p:nvPr/>
        </p:nvPicPr>
        <p:blipFill>
          <a:blip r:embed="rId3"/>
          <a:stretch>
            <a:fillRect/>
          </a:stretch>
        </p:blipFill>
        <p:spPr>
          <a:xfrm>
            <a:off x="4800000" y="2650000"/>
            <a:ext cx="182881" cy="182881"/>
          </a:xfrm>
          <a:prstGeom prst="rect">
            <a:avLst/>
          </a:prstGeom>
        </p:spPr>
      </p:pic>
      <p:sp>
        <p:nvSpPr>
          <p:cNvPr id="19" name="TextBox 18"/>
          <p:cNvSpPr txBox="1"/>
          <p:nvPr/>
        </p:nvSpPr>
        <p:spPr>
          <a:xfrm>
            <a:off x="5074322" y="2640000"/>
            <a:ext cx="3325678" cy="200000"/>
          </a:xfrm>
          <a:prstGeom prst="rect">
            <a:avLst/>
          </a:prstGeom>
          <a:noFill/>
        </p:spPr>
        <p:txBody>
          <a:bodyPr wrap="square">
            <a:spAutoFit/>
          </a:bodyPr>
          <a:lstStyle/>
          <a:p>
            <a:pPr>
              <a:defRPr sz="1000" b="0">
                <a:solidFill>
                  <a:srgbClr val="CBD5E1"/>
                </a:solidFill>
                <a:latin typeface="Georgia"/>
              </a:defRPr>
            </a:pPr>
            <a:r>
              <a:t>User-level attribution and ID logic</a:t>
            </a:r>
          </a:p>
        </p:txBody>
      </p:sp>
      <p:pic>
        <p:nvPicPr>
          <p:cNvPr id="20" name="Picture 19" descr="check_teal.png"/>
          <p:cNvPicPr>
            <a:picLocks noChangeAspect="1"/>
          </p:cNvPicPr>
          <p:nvPr/>
        </p:nvPicPr>
        <p:blipFill>
          <a:blip r:embed="rId3"/>
          <a:stretch>
            <a:fillRect/>
          </a:stretch>
        </p:blipFill>
        <p:spPr>
          <a:xfrm>
            <a:off x="4800000" y="2950000"/>
            <a:ext cx="182881" cy="182881"/>
          </a:xfrm>
          <a:prstGeom prst="rect">
            <a:avLst/>
          </a:prstGeom>
        </p:spPr>
      </p:pic>
      <p:sp>
        <p:nvSpPr>
          <p:cNvPr id="21" name="TextBox 20"/>
          <p:cNvSpPr txBox="1"/>
          <p:nvPr/>
        </p:nvSpPr>
        <p:spPr>
          <a:xfrm>
            <a:off x="5074322" y="2940000"/>
            <a:ext cx="3325678" cy="200000"/>
          </a:xfrm>
          <a:prstGeom prst="rect">
            <a:avLst/>
          </a:prstGeom>
          <a:noFill/>
        </p:spPr>
        <p:txBody>
          <a:bodyPr wrap="square">
            <a:spAutoFit/>
          </a:bodyPr>
          <a:lstStyle/>
          <a:p>
            <a:pPr>
              <a:defRPr sz="1000" b="0">
                <a:solidFill>
                  <a:srgbClr val="CBD5E1"/>
                </a:solidFill>
                <a:latin typeface="Georgia"/>
              </a:defRPr>
            </a:pPr>
            <a:r>
              <a:t>Semantic layer with your business logic</a:t>
            </a:r>
          </a:p>
        </p:txBody>
      </p:sp>
      <p:pic>
        <p:nvPicPr>
          <p:cNvPr id="22" name="Picture 21" descr="check_teal.png"/>
          <p:cNvPicPr>
            <a:picLocks noChangeAspect="1"/>
          </p:cNvPicPr>
          <p:nvPr/>
        </p:nvPicPr>
        <p:blipFill>
          <a:blip r:embed="rId3"/>
          <a:stretch>
            <a:fillRect/>
          </a:stretch>
        </p:blipFill>
        <p:spPr>
          <a:xfrm>
            <a:off x="4800000" y="3250000"/>
            <a:ext cx="182881" cy="182881"/>
          </a:xfrm>
          <a:prstGeom prst="rect">
            <a:avLst/>
          </a:prstGeom>
        </p:spPr>
      </p:pic>
      <p:sp>
        <p:nvSpPr>
          <p:cNvPr id="23" name="TextBox 22"/>
          <p:cNvSpPr txBox="1"/>
          <p:nvPr/>
        </p:nvSpPr>
        <p:spPr>
          <a:xfrm>
            <a:off x="5074322" y="3240000"/>
            <a:ext cx="3325678" cy="200000"/>
          </a:xfrm>
          <a:prstGeom prst="rect">
            <a:avLst/>
          </a:prstGeom>
          <a:noFill/>
        </p:spPr>
        <p:txBody>
          <a:bodyPr wrap="square">
            <a:spAutoFit/>
          </a:bodyPr>
          <a:lstStyle/>
          <a:p>
            <a:pPr>
              <a:defRPr sz="1000" b="0">
                <a:solidFill>
                  <a:srgbClr val="CBD5E1"/>
                </a:solidFill>
                <a:latin typeface="Georgia"/>
              </a:defRPr>
            </a:pPr>
            <a:r>
              <a:t>AI-powered reports, chat, and explain</a:t>
            </a:r>
          </a:p>
        </p:txBody>
      </p:sp>
      <p:sp>
        <p:nvSpPr>
          <p:cNvPr id="24" name="TextBox 23"/>
          <p:cNvSpPr txBox="1"/>
          <p:nvPr/>
        </p:nvSpPr>
        <p:spPr>
          <a:xfrm>
            <a:off x="731520" y="4200000"/>
            <a:ext cx="7680960" cy="300000"/>
          </a:xfrm>
          <a:prstGeom prst="rect">
            <a:avLst/>
          </a:prstGeom>
          <a:noFill/>
        </p:spPr>
        <p:txBody>
          <a:bodyPr wrap="square">
            <a:spAutoFit/>
          </a:bodyPr>
          <a:lstStyle/>
          <a:p>
            <a:pPr>
              <a:defRPr sz="1100" b="1">
                <a:solidFill>
                  <a:srgbClr val="94A3B8"/>
                </a:solidFill>
                <a:latin typeface="Georgia"/>
              </a:defRPr>
            </a:pPr>
            <a:r>
              <a:t>Complementary to existing work. Nothing gets replaced or disrupted.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81506"/>
            <a:ext cx="7315201" cy="147830"/>
          </a:xfrm>
          <a:prstGeom prst="rect">
            <a:avLst/>
          </a:prstGeom>
          <a:noFill/>
        </p:spPr>
        <p:txBody>
          <a:bodyPr wrap="square">
            <a:spAutoFit/>
          </a:bodyPr>
          <a:lstStyle/>
          <a:p>
            <a:pPr>
              <a:defRPr sz="1000" b="1">
                <a:solidFill>
                  <a:srgbClr val="3ECDC4"/>
                </a:solidFill>
                <a:latin typeface="Arial"/>
              </a:defRPr>
            </a:pPr>
            <a:r>
              <a:t>THE NCSOFT FACTOR</a:t>
            </a:r>
          </a:p>
        </p:txBody>
      </p:sp>
      <p:sp>
        <p:nvSpPr>
          <p:cNvPr id="4" name="TextBox 3"/>
          <p:cNvSpPr txBox="1"/>
          <p:nvPr/>
        </p:nvSpPr>
        <p:spPr>
          <a:xfrm>
            <a:off x="640080" y="700000"/>
            <a:ext cx="7315201" cy="700000"/>
          </a:xfrm>
          <a:prstGeom prst="rect">
            <a:avLst/>
          </a:prstGeom>
          <a:noFill/>
        </p:spPr>
        <p:txBody>
          <a:bodyPr wrap="square">
            <a:spAutoFit/>
          </a:bodyPr>
          <a:lstStyle/>
          <a:p>
            <a:pPr>
              <a:spcAft>
                <a:spcPts val="200"/>
              </a:spcAft>
              <a:defRPr sz="2800" b="1">
                <a:solidFill>
                  <a:srgbClr val="FFFFFF"/>
                </a:solidFill>
                <a:latin typeface="Georgia"/>
              </a:defRPr>
            </a:pPr>
            <a:r>
              <a:t>This is about maintaining control</a:t>
            </a:r>
          </a:p>
          <a:p>
            <a:pPr>
              <a:defRPr sz="2800" b="1">
                <a:solidFill>
                  <a:srgbClr val="CBD5E1"/>
                </a:solidFill>
                <a:latin typeface="Georgia"/>
              </a:defRPr>
            </a:pPr>
            <a:r>
              <a:t>over your UA decisions.</a:t>
            </a:r>
          </a:p>
        </p:txBody>
      </p:sp>
      <p:sp>
        <p:nvSpPr>
          <p:cNvPr id="5" name="Oval 4"/>
          <p:cNvSpPr/>
          <p:nvPr/>
        </p:nvSpPr>
        <p:spPr>
          <a:xfrm>
            <a:off x="640080" y="1700000"/>
            <a:ext cx="365760" cy="365760"/>
          </a:xfrm>
          <a:prstGeom prst="ellipse">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1A2332"/>
                </a:solidFill>
                <a:latin typeface="Georgia"/>
              </a:defRPr>
            </a:pPr>
            <a:r>
              <a:t>1</a:t>
            </a:r>
          </a:p>
        </p:txBody>
      </p:sp>
      <p:sp>
        <p:nvSpPr>
          <p:cNvPr id="6" name="TextBox 5"/>
          <p:cNvSpPr txBox="1"/>
          <p:nvPr/>
        </p:nvSpPr>
        <p:spPr>
          <a:xfrm>
            <a:off x="1100000" y="1680000"/>
            <a:ext cx="7400000" cy="200000"/>
          </a:xfrm>
          <a:prstGeom prst="rect">
            <a:avLst/>
          </a:prstGeom>
          <a:noFill/>
        </p:spPr>
        <p:txBody>
          <a:bodyPr wrap="square">
            <a:spAutoFit/>
          </a:bodyPr>
          <a:lstStyle/>
          <a:p>
            <a:pPr>
              <a:defRPr sz="1400" b="1">
                <a:solidFill>
                  <a:srgbClr val="FFFFFF"/>
                </a:solidFill>
                <a:latin typeface="Georgia"/>
              </a:defRPr>
            </a:pPr>
            <a:r>
              <a:t>Your performance data will be evaluated externally</a:t>
            </a:r>
          </a:p>
        </p:txBody>
      </p:sp>
      <p:sp>
        <p:nvSpPr>
          <p:cNvPr id="7" name="TextBox 6"/>
          <p:cNvSpPr txBox="1"/>
          <p:nvPr/>
        </p:nvSpPr>
        <p:spPr>
          <a:xfrm>
            <a:off x="1100000" y="1950000"/>
            <a:ext cx="7400000" cy="300000"/>
          </a:xfrm>
          <a:prstGeom prst="rect">
            <a:avLst/>
          </a:prstGeom>
          <a:noFill/>
        </p:spPr>
        <p:txBody>
          <a:bodyPr wrap="square">
            <a:spAutoFit/>
          </a:bodyPr>
          <a:lstStyle/>
          <a:p>
            <a:pPr>
              <a:defRPr sz="1100" b="0">
                <a:solidFill>
                  <a:srgbClr val="CBD5E1"/>
                </a:solidFill>
                <a:latin typeface="Georgia"/>
              </a:defRPr>
            </a:pPr>
            <a:r>
              <a:t>NCSoft’s centralised platform will consume your marketing data. That’s a given.</a:t>
            </a:r>
          </a:p>
        </p:txBody>
      </p:sp>
      <p:sp>
        <p:nvSpPr>
          <p:cNvPr id="8" name="Oval 7"/>
          <p:cNvSpPr/>
          <p:nvPr/>
        </p:nvSpPr>
        <p:spPr>
          <a:xfrm>
            <a:off x="640080" y="2400000"/>
            <a:ext cx="365760" cy="365760"/>
          </a:xfrm>
          <a:prstGeom prst="ellipse">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1A2332"/>
                </a:solidFill>
                <a:latin typeface="Georgia"/>
              </a:defRPr>
            </a:pPr>
            <a:r>
              <a:t>2</a:t>
            </a:r>
          </a:p>
        </p:txBody>
      </p:sp>
      <p:sp>
        <p:nvSpPr>
          <p:cNvPr id="9" name="TextBox 8"/>
          <p:cNvSpPr txBox="1"/>
          <p:nvPr/>
        </p:nvSpPr>
        <p:spPr>
          <a:xfrm>
            <a:off x="1100000" y="2380000"/>
            <a:ext cx="7400000" cy="200000"/>
          </a:xfrm>
          <a:prstGeom prst="rect">
            <a:avLst/>
          </a:prstGeom>
          <a:noFill/>
        </p:spPr>
        <p:txBody>
          <a:bodyPr wrap="square">
            <a:spAutoFit/>
          </a:bodyPr>
          <a:lstStyle/>
          <a:p>
            <a:pPr>
              <a:defRPr sz="1400" b="1">
                <a:solidFill>
                  <a:srgbClr val="FFFFFF"/>
                </a:solidFill>
                <a:latin typeface="Georgia"/>
              </a:defRPr>
            </a:pPr>
            <a:r>
              <a:t>If the data is inconsistent, others define how performance is read</a:t>
            </a:r>
          </a:p>
        </p:txBody>
      </p:sp>
      <p:sp>
        <p:nvSpPr>
          <p:cNvPr id="10" name="TextBox 9"/>
          <p:cNvSpPr txBox="1"/>
          <p:nvPr/>
        </p:nvSpPr>
        <p:spPr>
          <a:xfrm>
            <a:off x="1100000" y="2650000"/>
            <a:ext cx="7400000" cy="300000"/>
          </a:xfrm>
          <a:prstGeom prst="rect">
            <a:avLst/>
          </a:prstGeom>
          <a:noFill/>
        </p:spPr>
        <p:txBody>
          <a:bodyPr wrap="square">
            <a:spAutoFit/>
          </a:bodyPr>
          <a:lstStyle/>
          <a:p>
            <a:pPr>
              <a:defRPr sz="1100" b="0">
                <a:solidFill>
                  <a:srgbClr val="CBD5E1"/>
                </a:solidFill>
                <a:latin typeface="Georgia"/>
              </a:defRPr>
            </a:pPr>
            <a:r>
              <a:t>When your numbers don’t tell a clear story, someone else writes the narrative.</a:t>
            </a:r>
          </a:p>
        </p:txBody>
      </p:sp>
      <p:sp>
        <p:nvSpPr>
          <p:cNvPr id="11" name="Oval 10"/>
          <p:cNvSpPr/>
          <p:nvPr/>
        </p:nvSpPr>
        <p:spPr>
          <a:xfrm>
            <a:off x="640080" y="3100000"/>
            <a:ext cx="365760" cy="365760"/>
          </a:xfrm>
          <a:prstGeom prst="ellipse">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1A2332"/>
                </a:solidFill>
                <a:latin typeface="Georgia"/>
              </a:defRPr>
            </a:pPr>
            <a:r>
              <a:t>3</a:t>
            </a:r>
          </a:p>
        </p:txBody>
      </p:sp>
      <p:sp>
        <p:nvSpPr>
          <p:cNvPr id="12" name="TextBox 11"/>
          <p:cNvSpPr txBox="1"/>
          <p:nvPr/>
        </p:nvSpPr>
        <p:spPr>
          <a:xfrm>
            <a:off x="1100000" y="3080000"/>
            <a:ext cx="7400000" cy="200000"/>
          </a:xfrm>
          <a:prstGeom prst="rect">
            <a:avLst/>
          </a:prstGeom>
          <a:noFill/>
        </p:spPr>
        <p:txBody>
          <a:bodyPr wrap="square">
            <a:spAutoFit/>
          </a:bodyPr>
          <a:lstStyle/>
          <a:p>
            <a:pPr>
              <a:defRPr sz="1400" b="1">
                <a:solidFill>
                  <a:srgbClr val="FFFFFF"/>
                </a:solidFill>
                <a:latin typeface="Georgia"/>
              </a:defRPr>
            </a:pPr>
            <a:r>
              <a:t>Clean data means integration is a non-event</a:t>
            </a:r>
          </a:p>
        </p:txBody>
      </p:sp>
      <p:sp>
        <p:nvSpPr>
          <p:cNvPr id="13" name="TextBox 12"/>
          <p:cNvSpPr txBox="1"/>
          <p:nvPr/>
        </p:nvSpPr>
        <p:spPr>
          <a:xfrm>
            <a:off x="1100000" y="3350000"/>
            <a:ext cx="7400000" cy="300000"/>
          </a:xfrm>
          <a:prstGeom prst="rect">
            <a:avLst/>
          </a:prstGeom>
          <a:noFill/>
        </p:spPr>
        <p:txBody>
          <a:bodyPr wrap="square">
            <a:spAutoFit/>
          </a:bodyPr>
          <a:lstStyle/>
          <a:p>
            <a:pPr>
              <a:defRPr sz="1100" b="0">
                <a:solidFill>
                  <a:srgbClr val="CBD5E1"/>
                </a:solidFill>
                <a:latin typeface="Georgia"/>
              </a:defRPr>
            </a:pPr>
            <a:r>
              <a:t>You control how your performance is presented. Integration becomes straightforward.</a:t>
            </a:r>
          </a:p>
        </p:txBody>
      </p:sp>
      <p:sp>
        <p:nvSpPr>
          <p:cNvPr id="14" name="TextBox 13"/>
          <p:cNvSpPr txBox="1"/>
          <p:nvPr/>
        </p:nvSpPr>
        <p:spPr>
          <a:xfrm>
            <a:off x="640080" y="4200000"/>
            <a:ext cx="8000000" cy="300000"/>
          </a:xfrm>
          <a:prstGeom prst="rect">
            <a:avLst/>
          </a:prstGeom>
          <a:noFill/>
        </p:spPr>
        <p:txBody>
          <a:bodyPr wrap="square">
            <a:spAutoFit/>
          </a:bodyPr>
          <a:lstStyle/>
          <a:p>
            <a:pPr>
              <a:defRPr sz="1300" b="1">
                <a:solidFill>
                  <a:srgbClr val="3ECDC4"/>
                </a:solidFill>
                <a:latin typeface="Georgia"/>
              </a:defRPr>
            </a:pPr>
            <a:r>
              <a:t>Would it be a problem if NCSoft ends up defining how your UA performance is evaluated?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640080" y="497585"/>
            <a:ext cx="3657601" cy="147830"/>
          </a:xfrm>
          <a:prstGeom prst="rect">
            <a:avLst/>
          </a:prstGeom>
          <a:noFill/>
        </p:spPr>
        <p:txBody>
          <a:bodyPr wrap="square">
            <a:spAutoFit/>
          </a:bodyPr>
          <a:lstStyle/>
          <a:p>
            <a:pPr>
              <a:defRPr sz="1100" b="1">
                <a:solidFill>
                  <a:srgbClr val="3ECDC4"/>
                </a:solidFill>
                <a:latin typeface="Arial"/>
              </a:defRPr>
            </a:pPr>
            <a:r>
              <a:t>CREDIBILITY</a:t>
            </a:r>
          </a:p>
        </p:txBody>
      </p:sp>
      <p:sp>
        <p:nvSpPr>
          <p:cNvPr id="3" name="TextBox 2"/>
          <p:cNvSpPr txBox="1"/>
          <p:nvPr/>
        </p:nvSpPr>
        <p:spPr>
          <a:xfrm>
            <a:off x="640080" y="700000"/>
            <a:ext cx="7315201" cy="500000"/>
          </a:xfrm>
          <a:prstGeom prst="rect">
            <a:avLst/>
          </a:prstGeom>
          <a:noFill/>
        </p:spPr>
        <p:txBody>
          <a:bodyPr wrap="square">
            <a:spAutoFit/>
          </a:bodyPr>
          <a:lstStyle/>
          <a:p>
            <a:pPr>
              <a:defRPr sz="2800" b="1">
                <a:solidFill>
                  <a:srgbClr val="1A2332"/>
                </a:solidFill>
                <a:latin typeface="Georgia"/>
              </a:defRPr>
            </a:pPr>
            <a:r>
              <a:t>We’ve done this exact integration before.</a:t>
            </a:r>
          </a:p>
        </p:txBody>
      </p:sp>
      <p:sp>
        <p:nvSpPr>
          <p:cNvPr id="4" name="TextBox 3"/>
          <p:cNvSpPr txBox="1"/>
          <p:nvPr/>
        </p:nvSpPr>
        <p:spPr>
          <a:xfrm>
            <a:off x="640080" y="1200000"/>
            <a:ext cx="7315201" cy="250000"/>
          </a:xfrm>
          <a:prstGeom prst="rect">
            <a:avLst/>
          </a:prstGeom>
          <a:noFill/>
        </p:spPr>
        <p:txBody>
          <a:bodyPr wrap="square">
            <a:spAutoFit/>
          </a:bodyPr>
          <a:lstStyle/>
          <a:p>
            <a:pPr>
              <a:defRPr sz="1800" b="1">
                <a:solidFill>
                  <a:srgbClr val="535353"/>
                </a:solidFill>
                <a:latin typeface="Georgia"/>
              </a:defRPr>
            </a:pPr>
            <a:r>
              <a:t>Popcore → Zynga / Take-Two</a:t>
            </a:r>
          </a:p>
        </p:txBody>
      </p:sp>
      <p:sp>
        <p:nvSpPr>
          <p:cNvPr id="5" name="TextBox 4"/>
          <p:cNvSpPr txBox="1"/>
          <p:nvPr/>
        </p:nvSpPr>
        <p:spPr>
          <a:xfrm>
            <a:off x="640080" y="1550000"/>
            <a:ext cx="7315201" cy="1000000"/>
          </a:xfrm>
          <a:prstGeom prst="rect">
            <a:avLst/>
          </a:prstGeom>
          <a:noFill/>
        </p:spPr>
        <p:txBody>
          <a:bodyPr wrap="square">
            <a:spAutoFit/>
          </a:bodyPr>
          <a:lstStyle/>
          <a:p>
            <a:pPr>
              <a:spcAft>
                <a:spcPts val="1200"/>
              </a:spcAft>
              <a:defRPr sz="1200" b="0">
                <a:solidFill>
                  <a:srgbClr val="535353"/>
                </a:solidFill>
                <a:latin typeface="Georgia"/>
              </a:defRPr>
            </a:pPr>
            <a:r>
              <a:t>Kostas and Claudia built the UA data platform at Popcore as BI Director and VP Technology. After the Zynga/Take-Two acquisition, we handled the full data integration into their centralized systems. Spend, revenue, forecasts, retention, engagement.</a:t>
            </a:r>
          </a:p>
          <a:p>
            <a:pPr>
              <a:defRPr sz="1200" b="1">
                <a:solidFill>
                  <a:srgbClr val="1A2332"/>
                </a:solidFill>
                <a:latin typeface="Georgia"/>
              </a:defRPr>
            </a:pPr>
            <a:r>
              <a:t>Because the data foundation was clean, the integration was straightforward.</a:t>
            </a:r>
          </a:p>
        </p:txBody>
      </p:sp>
      <p:sp>
        <p:nvSpPr>
          <p:cNvPr id="6" name="TextBox 5"/>
          <p:cNvSpPr txBox="1"/>
          <p:nvPr/>
        </p:nvSpPr>
        <p:spPr>
          <a:xfrm>
            <a:off x="640080" y="2800000"/>
            <a:ext cx="4000000" cy="250000"/>
          </a:xfrm>
          <a:prstGeom prst="rect">
            <a:avLst/>
          </a:prstGeom>
          <a:noFill/>
        </p:spPr>
        <p:txBody>
          <a:bodyPr wrap="square">
            <a:spAutoFit/>
          </a:bodyPr>
          <a:lstStyle/>
          <a:p>
            <a:pPr>
              <a:defRPr sz="1400" b="1">
                <a:solidFill>
                  <a:srgbClr val="1A2332"/>
                </a:solidFill>
                <a:latin typeface="Georgia"/>
              </a:defRPr>
            </a:pPr>
            <a:r>
              <a:t>What it delivered</a:t>
            </a:r>
          </a:p>
        </p:txBody>
      </p:sp>
      <p:pic>
        <p:nvPicPr>
          <p:cNvPr id="7" name="Picture 6" descr="icon_decisions.png"/>
          <p:cNvPicPr>
            <a:picLocks noChangeAspect="1"/>
          </p:cNvPicPr>
          <p:nvPr/>
        </p:nvPicPr>
        <p:blipFill>
          <a:blip r:embed="rId2"/>
          <a:stretch>
            <a:fillRect/>
          </a:stretch>
        </p:blipFill>
        <p:spPr>
          <a:xfrm>
            <a:off x="640080" y="3100000"/>
            <a:ext cx="228601" cy="228601"/>
          </a:xfrm>
          <a:prstGeom prst="rect">
            <a:avLst/>
          </a:prstGeom>
        </p:spPr>
      </p:pic>
      <p:sp>
        <p:nvSpPr>
          <p:cNvPr id="8" name="TextBox 7"/>
          <p:cNvSpPr txBox="1"/>
          <p:nvPr/>
        </p:nvSpPr>
        <p:spPr>
          <a:xfrm>
            <a:off x="960000" y="3090000"/>
            <a:ext cx="5000000" cy="250000"/>
          </a:xfrm>
          <a:prstGeom prst="rect">
            <a:avLst/>
          </a:prstGeom>
          <a:noFill/>
        </p:spPr>
        <p:txBody>
          <a:bodyPr wrap="square">
            <a:spAutoFit/>
          </a:bodyPr>
          <a:lstStyle/>
          <a:p>
            <a:pPr>
              <a:defRPr sz="1100" b="0">
                <a:solidFill>
                  <a:srgbClr val="535353"/>
                </a:solidFill>
                <a:latin typeface="Georgia"/>
              </a:defRPr>
            </a:pPr>
            <a:r>
              <a:t>Consistent performance view across systems</a:t>
            </a:r>
          </a:p>
        </p:txBody>
      </p:sp>
      <p:pic>
        <p:nvPicPr>
          <p:cNvPr id="9" name="Picture 8" descr="icon_decisions.png"/>
          <p:cNvPicPr>
            <a:picLocks noChangeAspect="1"/>
          </p:cNvPicPr>
          <p:nvPr/>
        </p:nvPicPr>
        <p:blipFill>
          <a:blip r:embed="rId2"/>
          <a:stretch>
            <a:fillRect/>
          </a:stretch>
        </p:blipFill>
        <p:spPr>
          <a:xfrm>
            <a:off x="640080" y="3450000"/>
            <a:ext cx="228601" cy="228601"/>
          </a:xfrm>
          <a:prstGeom prst="rect">
            <a:avLst/>
          </a:prstGeom>
        </p:spPr>
      </p:pic>
      <p:sp>
        <p:nvSpPr>
          <p:cNvPr id="10" name="TextBox 9"/>
          <p:cNvSpPr txBox="1"/>
          <p:nvPr/>
        </p:nvSpPr>
        <p:spPr>
          <a:xfrm>
            <a:off x="960000" y="3440000"/>
            <a:ext cx="5000000" cy="250000"/>
          </a:xfrm>
          <a:prstGeom prst="rect">
            <a:avLst/>
          </a:prstGeom>
          <a:noFill/>
        </p:spPr>
        <p:txBody>
          <a:bodyPr wrap="square">
            <a:spAutoFit/>
          </a:bodyPr>
          <a:lstStyle/>
          <a:p>
            <a:pPr>
              <a:defRPr sz="1100" b="0">
                <a:solidFill>
                  <a:srgbClr val="535353"/>
                </a:solidFill>
                <a:latin typeface="Georgia"/>
              </a:defRPr>
            </a:pPr>
            <a:r>
              <a:t>Faster decision cycles for UA teams</a:t>
            </a:r>
          </a:p>
        </p:txBody>
      </p:sp>
      <p:pic>
        <p:nvPicPr>
          <p:cNvPr id="11" name="Picture 10" descr="icon_decisions.png"/>
          <p:cNvPicPr>
            <a:picLocks noChangeAspect="1"/>
          </p:cNvPicPr>
          <p:nvPr/>
        </p:nvPicPr>
        <p:blipFill>
          <a:blip r:embed="rId2"/>
          <a:stretch>
            <a:fillRect/>
          </a:stretch>
        </p:blipFill>
        <p:spPr>
          <a:xfrm>
            <a:off x="640080" y="3800000"/>
            <a:ext cx="228601" cy="228601"/>
          </a:xfrm>
          <a:prstGeom prst="rect">
            <a:avLst/>
          </a:prstGeom>
        </p:spPr>
      </p:pic>
      <p:sp>
        <p:nvSpPr>
          <p:cNvPr id="12" name="TextBox 11"/>
          <p:cNvSpPr txBox="1"/>
          <p:nvPr/>
        </p:nvSpPr>
        <p:spPr>
          <a:xfrm>
            <a:off x="960000" y="3790000"/>
            <a:ext cx="5000000" cy="250000"/>
          </a:xfrm>
          <a:prstGeom prst="rect">
            <a:avLst/>
          </a:prstGeom>
          <a:noFill/>
        </p:spPr>
        <p:txBody>
          <a:bodyPr wrap="square">
            <a:spAutoFit/>
          </a:bodyPr>
          <a:lstStyle/>
          <a:p>
            <a:pPr>
              <a:defRPr sz="1100" b="0">
                <a:solidFill>
                  <a:srgbClr val="535353"/>
                </a:solidFill>
                <a:latin typeface="Georgia"/>
              </a:defRPr>
            </a:pPr>
            <a:r>
              <a:t>Seamless integration into centralised platform</a:t>
            </a:r>
          </a:p>
        </p:txBody>
      </p:sp>
      <p:sp>
        <p:nvSpPr>
          <p:cNvPr id="13" name="Rounded Rectangle 12"/>
          <p:cNvSpPr/>
          <p:nvPr/>
        </p:nvSpPr>
        <p:spPr>
          <a:xfrm>
            <a:off x="5200000" y="2800000"/>
            <a:ext cx="3400000" cy="1500000"/>
          </a:xfrm>
          <a:prstGeom prst="roundRect">
            <a:avLst/>
          </a:prstGeom>
          <a:solidFill>
            <a:srgbClr val="E8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00000" y="2950000"/>
            <a:ext cx="3000000" cy="1200000"/>
          </a:xfrm>
          <a:prstGeom prst="rect">
            <a:avLst/>
          </a:prstGeom>
          <a:noFill/>
        </p:spPr>
        <p:txBody>
          <a:bodyPr wrap="square">
            <a:spAutoFit/>
          </a:bodyPr>
          <a:lstStyle/>
          <a:p>
            <a:pPr>
              <a:spcAft>
                <a:spcPts val="1000"/>
              </a:spcAft>
              <a:defRPr sz="1300" b="1">
                <a:solidFill>
                  <a:srgbClr val="1A2332"/>
                </a:solidFill>
                <a:latin typeface="Georgia"/>
              </a:defRPr>
            </a:pPr>
            <a:r>
              <a:t>The NCSoft parallel</a:t>
            </a:r>
          </a:p>
          <a:p>
            <a:pPr>
              <a:defRPr sz="1000" b="0">
                <a:solidFill>
                  <a:srgbClr val="535353"/>
                </a:solidFill>
                <a:latin typeface="Georgia"/>
              </a:defRPr>
            </a:pPr>
            <a:r>
              <a:t>Popcore → Zynga’s centralised platform is directly analogous to JustPlay → NCSoft. Same challenge, same approach, same outcome when the data is clean.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640080" y="497585"/>
            <a:ext cx="3657601" cy="147830"/>
          </a:xfrm>
          <a:prstGeom prst="rect">
            <a:avLst/>
          </a:prstGeom>
          <a:noFill/>
        </p:spPr>
        <p:txBody>
          <a:bodyPr wrap="square">
            <a:spAutoFit/>
          </a:bodyPr>
          <a:lstStyle/>
          <a:p>
            <a:pPr>
              <a:defRPr sz="1100" b="1">
                <a:solidFill>
                  <a:srgbClr val="3ECDC4"/>
                </a:solidFill>
                <a:latin typeface="Arial"/>
              </a:defRPr>
            </a:pPr>
            <a:r>
              <a:t>PHASED APPROACH</a:t>
            </a:r>
          </a:p>
        </p:txBody>
      </p:sp>
      <p:sp>
        <p:nvSpPr>
          <p:cNvPr id="3" name="TextBox 2"/>
          <p:cNvSpPr txBox="1"/>
          <p:nvPr/>
        </p:nvSpPr>
        <p:spPr>
          <a:xfrm>
            <a:off x="640080" y="700000"/>
            <a:ext cx="7315201" cy="700000"/>
          </a:xfrm>
          <a:prstGeom prst="rect">
            <a:avLst/>
          </a:prstGeom>
          <a:noFill/>
        </p:spPr>
        <p:txBody>
          <a:bodyPr wrap="square">
            <a:spAutoFit/>
          </a:bodyPr>
          <a:lstStyle/>
          <a:p>
            <a:pPr>
              <a:spcAft>
                <a:spcPts val="200"/>
              </a:spcAft>
              <a:defRPr sz="2800" b="1">
                <a:solidFill>
                  <a:srgbClr val="1A2332"/>
                </a:solidFill>
                <a:latin typeface="Georgia"/>
              </a:defRPr>
            </a:pPr>
            <a:r>
              <a:t>Five phases. Sign-off gates.</a:t>
            </a:r>
          </a:p>
          <a:p>
            <a:pPr>
              <a:defRPr sz="2800" b="1">
                <a:solidFill>
                  <a:srgbClr val="3ECDC4"/>
                </a:solidFill>
                <a:latin typeface="Georgia"/>
              </a:defRPr>
            </a:pPr>
            <a:r>
              <a:t>No surprises.</a:t>
            </a:r>
          </a:p>
        </p:txBody>
      </p:sp>
      <p:sp>
        <p:nvSpPr>
          <p:cNvPr id="4" name="Rounded Rectangle 3"/>
          <p:cNvSpPr/>
          <p:nvPr/>
        </p:nvSpPr>
        <p:spPr>
          <a:xfrm>
            <a:off x="400000" y="1700000"/>
            <a:ext cx="1500000" cy="26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800000"/>
            <a:ext cx="400000" cy="300000"/>
          </a:xfrm>
          <a:prstGeom prst="rect">
            <a:avLst/>
          </a:prstGeom>
          <a:noFill/>
        </p:spPr>
        <p:txBody>
          <a:bodyPr wrap="square">
            <a:spAutoFit/>
          </a:bodyPr>
          <a:lstStyle/>
          <a:p>
            <a:pPr>
              <a:defRPr sz="2800" b="1">
                <a:solidFill>
                  <a:srgbClr val="3ECDC4"/>
                </a:solidFill>
                <a:latin typeface="Georgia"/>
              </a:defRPr>
            </a:pPr>
            <a:r>
              <a:t>1</a:t>
            </a:r>
          </a:p>
        </p:txBody>
      </p:sp>
      <p:sp>
        <p:nvSpPr>
          <p:cNvPr id="6" name="TextBox 5"/>
          <p:cNvSpPr txBox="1"/>
          <p:nvPr/>
        </p:nvSpPr>
        <p:spPr>
          <a:xfrm>
            <a:off x="500000" y="2200000"/>
            <a:ext cx="1300000" cy="500000"/>
          </a:xfrm>
          <a:prstGeom prst="rect">
            <a:avLst/>
          </a:prstGeom>
          <a:noFill/>
        </p:spPr>
        <p:txBody>
          <a:bodyPr wrap="square">
            <a:spAutoFit/>
          </a:bodyPr>
          <a:lstStyle/>
          <a:p>
            <a:pPr>
              <a:defRPr sz="1300" b="1">
                <a:solidFill>
                  <a:srgbClr val="1A2332"/>
                </a:solidFill>
                <a:latin typeface="Georgia"/>
              </a:defRPr>
            </a:pPr>
            <a:r>
              <a:t>Data Audit</a:t>
            </a:r>
            <a:br/>
            <a:r>
              <a:t>&amp; Planning</a:t>
            </a:r>
          </a:p>
        </p:txBody>
      </p:sp>
      <p:sp>
        <p:nvSpPr>
          <p:cNvPr id="7" name="TextBox 6"/>
          <p:cNvSpPr txBox="1"/>
          <p:nvPr/>
        </p:nvSpPr>
        <p:spPr>
          <a:xfrm>
            <a:off x="500000" y="2800000"/>
            <a:ext cx="1300000" cy="1400000"/>
          </a:xfrm>
          <a:prstGeom prst="rect">
            <a:avLst/>
          </a:prstGeom>
          <a:noFill/>
        </p:spPr>
        <p:txBody>
          <a:bodyPr wrap="square">
            <a:spAutoFit/>
          </a:bodyPr>
          <a:lstStyle/>
          <a:p>
            <a:pPr>
              <a:defRPr sz="900" b="0">
                <a:solidFill>
                  <a:srgbClr val="535353"/>
                </a:solidFill>
                <a:latin typeface="Georgia"/>
              </a:defRPr>
            </a:pPr>
            <a:r>
              <a:t>Automated audit.</a:t>
            </a:r>
            <a:br/>
            <a:r>
              <a:t>SSOT blueprint.</a:t>
            </a:r>
            <a:br/>
            <a:r>
              <a:t>Sign-off.</a:t>
            </a:r>
          </a:p>
        </p:txBody>
      </p:sp>
      <p:pic>
        <p:nvPicPr>
          <p:cNvPr id="8" name="Picture 7" descr="check_teal.png"/>
          <p:cNvPicPr>
            <a:picLocks noChangeAspect="1"/>
          </p:cNvPicPr>
          <p:nvPr/>
        </p:nvPicPr>
        <p:blipFill>
          <a:blip r:embed="rId2"/>
          <a:stretch>
            <a:fillRect/>
          </a:stretch>
        </p:blipFill>
        <p:spPr>
          <a:xfrm>
            <a:off x="1920000" y="2908560"/>
            <a:ext cx="120000" cy="120000"/>
          </a:xfrm>
          <a:prstGeom prst="rect">
            <a:avLst/>
          </a:prstGeom>
        </p:spPr>
      </p:pic>
      <p:sp>
        <p:nvSpPr>
          <p:cNvPr id="9" name="Rounded Rectangle 8"/>
          <p:cNvSpPr/>
          <p:nvPr/>
        </p:nvSpPr>
        <p:spPr>
          <a:xfrm>
            <a:off x="2050000" y="1700000"/>
            <a:ext cx="1500000" cy="26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50000" y="1800000"/>
            <a:ext cx="400000" cy="300000"/>
          </a:xfrm>
          <a:prstGeom prst="rect">
            <a:avLst/>
          </a:prstGeom>
          <a:noFill/>
        </p:spPr>
        <p:txBody>
          <a:bodyPr wrap="square">
            <a:spAutoFit/>
          </a:bodyPr>
          <a:lstStyle/>
          <a:p>
            <a:pPr>
              <a:defRPr sz="2800" b="1">
                <a:solidFill>
                  <a:srgbClr val="3ECDC4"/>
                </a:solidFill>
                <a:latin typeface="Georgia"/>
              </a:defRPr>
            </a:pPr>
            <a:r>
              <a:t>2</a:t>
            </a:r>
          </a:p>
        </p:txBody>
      </p:sp>
      <p:sp>
        <p:nvSpPr>
          <p:cNvPr id="11" name="TextBox 10"/>
          <p:cNvSpPr txBox="1"/>
          <p:nvPr/>
        </p:nvSpPr>
        <p:spPr>
          <a:xfrm>
            <a:off x="2150000" y="2200000"/>
            <a:ext cx="1300000" cy="500000"/>
          </a:xfrm>
          <a:prstGeom prst="rect">
            <a:avLst/>
          </a:prstGeom>
          <a:noFill/>
        </p:spPr>
        <p:txBody>
          <a:bodyPr wrap="square">
            <a:spAutoFit/>
          </a:bodyPr>
          <a:lstStyle/>
          <a:p>
            <a:pPr>
              <a:defRPr sz="1300" b="1">
                <a:solidFill>
                  <a:srgbClr val="1A2332"/>
                </a:solidFill>
                <a:latin typeface="Georgia"/>
              </a:defRPr>
            </a:pPr>
            <a:r>
              <a:t>Data</a:t>
            </a:r>
            <a:br/>
            <a:r>
              <a:t>Foundation</a:t>
            </a:r>
          </a:p>
        </p:txBody>
      </p:sp>
      <p:sp>
        <p:nvSpPr>
          <p:cNvPr id="12" name="TextBox 11"/>
          <p:cNvSpPr txBox="1"/>
          <p:nvPr/>
        </p:nvSpPr>
        <p:spPr>
          <a:xfrm>
            <a:off x="2150000" y="2800000"/>
            <a:ext cx="1300000" cy="1400000"/>
          </a:xfrm>
          <a:prstGeom prst="rect">
            <a:avLst/>
          </a:prstGeom>
          <a:noFill/>
        </p:spPr>
        <p:txBody>
          <a:bodyPr wrap="square">
            <a:spAutoFit/>
          </a:bodyPr>
          <a:lstStyle/>
          <a:p>
            <a:pPr>
              <a:defRPr sz="900" b="0">
                <a:solidFill>
                  <a:srgbClr val="535353"/>
                </a:solidFill>
                <a:latin typeface="Georgia"/>
              </a:defRPr>
            </a:pPr>
            <a:r>
              <a:t>User-level attribution.</a:t>
            </a:r>
            <a:br/>
            <a:r>
              <a:t>Product data.</a:t>
            </a:r>
            <a:br/>
            <a:r>
              <a:t>User catalog.</a:t>
            </a:r>
          </a:p>
        </p:txBody>
      </p:sp>
      <p:pic>
        <p:nvPicPr>
          <p:cNvPr id="13" name="Picture 12" descr="check_teal.png"/>
          <p:cNvPicPr>
            <a:picLocks noChangeAspect="1"/>
          </p:cNvPicPr>
          <p:nvPr/>
        </p:nvPicPr>
        <p:blipFill>
          <a:blip r:embed="rId2"/>
          <a:stretch>
            <a:fillRect/>
          </a:stretch>
        </p:blipFill>
        <p:spPr>
          <a:xfrm>
            <a:off x="3570000" y="2908560"/>
            <a:ext cx="120000" cy="120000"/>
          </a:xfrm>
          <a:prstGeom prst="rect">
            <a:avLst/>
          </a:prstGeom>
        </p:spPr>
      </p:pic>
      <p:sp>
        <p:nvSpPr>
          <p:cNvPr id="14" name="Rounded Rectangle 13"/>
          <p:cNvSpPr/>
          <p:nvPr/>
        </p:nvSpPr>
        <p:spPr>
          <a:xfrm>
            <a:off x="3700000" y="1700000"/>
            <a:ext cx="1500000" cy="26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00000" y="1800000"/>
            <a:ext cx="400000" cy="300000"/>
          </a:xfrm>
          <a:prstGeom prst="rect">
            <a:avLst/>
          </a:prstGeom>
          <a:noFill/>
        </p:spPr>
        <p:txBody>
          <a:bodyPr wrap="square">
            <a:spAutoFit/>
          </a:bodyPr>
          <a:lstStyle/>
          <a:p>
            <a:pPr>
              <a:defRPr sz="2800" b="1">
                <a:solidFill>
                  <a:srgbClr val="3ECDC4"/>
                </a:solidFill>
                <a:latin typeface="Georgia"/>
              </a:defRPr>
            </a:pPr>
            <a:r>
              <a:t>3</a:t>
            </a:r>
          </a:p>
        </p:txBody>
      </p:sp>
      <p:sp>
        <p:nvSpPr>
          <p:cNvPr id="16" name="TextBox 15"/>
          <p:cNvSpPr txBox="1"/>
          <p:nvPr/>
        </p:nvSpPr>
        <p:spPr>
          <a:xfrm>
            <a:off x="3800000" y="2200000"/>
            <a:ext cx="1300000" cy="500000"/>
          </a:xfrm>
          <a:prstGeom prst="rect">
            <a:avLst/>
          </a:prstGeom>
          <a:noFill/>
        </p:spPr>
        <p:txBody>
          <a:bodyPr wrap="square">
            <a:spAutoFit/>
          </a:bodyPr>
          <a:lstStyle/>
          <a:p>
            <a:pPr>
              <a:defRPr sz="1300" b="1">
                <a:solidFill>
                  <a:srgbClr val="1A2332"/>
                </a:solidFill>
                <a:latin typeface="Georgia"/>
              </a:defRPr>
            </a:pPr>
            <a:r>
              <a:t>Activation</a:t>
            </a:r>
          </a:p>
        </p:txBody>
      </p:sp>
      <p:sp>
        <p:nvSpPr>
          <p:cNvPr id="17" name="TextBox 16"/>
          <p:cNvSpPr txBox="1"/>
          <p:nvPr/>
        </p:nvSpPr>
        <p:spPr>
          <a:xfrm>
            <a:off x="3800000" y="2800000"/>
            <a:ext cx="1300000" cy="1400000"/>
          </a:xfrm>
          <a:prstGeom prst="rect">
            <a:avLst/>
          </a:prstGeom>
          <a:noFill/>
        </p:spPr>
        <p:txBody>
          <a:bodyPr wrap="square">
            <a:spAutoFit/>
          </a:bodyPr>
          <a:lstStyle/>
          <a:p>
            <a:pPr>
              <a:defRPr sz="900" b="0">
                <a:solidFill>
                  <a:srgbClr val="535353"/>
                </a:solidFill>
                <a:latin typeface="Georgia"/>
              </a:defRPr>
            </a:pPr>
            <a:r>
              <a:t>Production.</a:t>
            </a:r>
            <a:br/>
            <a:r>
              <a:t>Backfill.</a:t>
            </a:r>
            <a:br/>
            <a:r>
              <a:t>Migration support.</a:t>
            </a:r>
          </a:p>
        </p:txBody>
      </p:sp>
      <p:pic>
        <p:nvPicPr>
          <p:cNvPr id="18" name="Picture 17" descr="check_teal.png"/>
          <p:cNvPicPr>
            <a:picLocks noChangeAspect="1"/>
          </p:cNvPicPr>
          <p:nvPr/>
        </p:nvPicPr>
        <p:blipFill>
          <a:blip r:embed="rId2"/>
          <a:stretch>
            <a:fillRect/>
          </a:stretch>
        </p:blipFill>
        <p:spPr>
          <a:xfrm>
            <a:off x="5220000" y="2908560"/>
            <a:ext cx="120000" cy="120000"/>
          </a:xfrm>
          <a:prstGeom prst="rect">
            <a:avLst/>
          </a:prstGeom>
        </p:spPr>
      </p:pic>
      <p:sp>
        <p:nvSpPr>
          <p:cNvPr id="19" name="Rounded Rectangle 18"/>
          <p:cNvSpPr/>
          <p:nvPr/>
        </p:nvSpPr>
        <p:spPr>
          <a:xfrm>
            <a:off x="5350000" y="1700000"/>
            <a:ext cx="1500000" cy="26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50000" y="1800000"/>
            <a:ext cx="400000" cy="300000"/>
          </a:xfrm>
          <a:prstGeom prst="rect">
            <a:avLst/>
          </a:prstGeom>
          <a:noFill/>
        </p:spPr>
        <p:txBody>
          <a:bodyPr wrap="square">
            <a:spAutoFit/>
          </a:bodyPr>
          <a:lstStyle/>
          <a:p>
            <a:pPr>
              <a:defRPr sz="2800" b="1">
                <a:solidFill>
                  <a:srgbClr val="3ECDC4"/>
                </a:solidFill>
                <a:latin typeface="Georgia"/>
              </a:defRPr>
            </a:pPr>
            <a:r>
              <a:t>4</a:t>
            </a:r>
          </a:p>
        </p:txBody>
      </p:sp>
      <p:sp>
        <p:nvSpPr>
          <p:cNvPr id="21" name="TextBox 20"/>
          <p:cNvSpPr txBox="1"/>
          <p:nvPr/>
        </p:nvSpPr>
        <p:spPr>
          <a:xfrm>
            <a:off x="5450000" y="2200000"/>
            <a:ext cx="1300000" cy="500000"/>
          </a:xfrm>
          <a:prstGeom prst="rect">
            <a:avLst/>
          </a:prstGeom>
          <a:noFill/>
        </p:spPr>
        <p:txBody>
          <a:bodyPr wrap="square">
            <a:spAutoFit/>
          </a:bodyPr>
          <a:lstStyle/>
          <a:p>
            <a:pPr>
              <a:defRPr sz="1300" b="1">
                <a:solidFill>
                  <a:srgbClr val="1A2332"/>
                </a:solidFill>
                <a:latin typeface="Georgia"/>
              </a:defRPr>
            </a:pPr>
            <a:r>
              <a:t>AI-Ready</a:t>
            </a:r>
            <a:br/>
            <a:r>
              <a:t>Data</a:t>
            </a:r>
          </a:p>
        </p:txBody>
      </p:sp>
      <p:sp>
        <p:nvSpPr>
          <p:cNvPr id="22" name="TextBox 21"/>
          <p:cNvSpPr txBox="1"/>
          <p:nvPr/>
        </p:nvSpPr>
        <p:spPr>
          <a:xfrm>
            <a:off x="5450000" y="2800000"/>
            <a:ext cx="1300000" cy="1400000"/>
          </a:xfrm>
          <a:prstGeom prst="rect">
            <a:avLst/>
          </a:prstGeom>
          <a:noFill/>
        </p:spPr>
        <p:txBody>
          <a:bodyPr wrap="square">
            <a:spAutoFit/>
          </a:bodyPr>
          <a:lstStyle/>
          <a:p>
            <a:pPr>
              <a:defRPr sz="900" b="0">
                <a:solidFill>
                  <a:srgbClr val="535353"/>
                </a:solidFill>
                <a:latin typeface="Georgia"/>
              </a:defRPr>
            </a:pPr>
            <a:r>
              <a:t>Semantic layer.</a:t>
            </a:r>
            <a:br/>
            <a:r>
              <a:t>Base pLTV.</a:t>
            </a:r>
            <a:br/>
            <a:r>
              <a:t>Metric governance.</a:t>
            </a:r>
          </a:p>
        </p:txBody>
      </p:sp>
      <p:pic>
        <p:nvPicPr>
          <p:cNvPr id="23" name="Picture 22" descr="check_teal.png"/>
          <p:cNvPicPr>
            <a:picLocks noChangeAspect="1"/>
          </p:cNvPicPr>
          <p:nvPr/>
        </p:nvPicPr>
        <p:blipFill>
          <a:blip r:embed="rId2"/>
          <a:stretch>
            <a:fillRect/>
          </a:stretch>
        </p:blipFill>
        <p:spPr>
          <a:xfrm>
            <a:off x="6870000" y="2908560"/>
            <a:ext cx="120000" cy="120000"/>
          </a:xfrm>
          <a:prstGeom prst="rect">
            <a:avLst/>
          </a:prstGeom>
        </p:spPr>
      </p:pic>
      <p:sp>
        <p:nvSpPr>
          <p:cNvPr id="24" name="Rounded Rectangle 23"/>
          <p:cNvSpPr/>
          <p:nvPr/>
        </p:nvSpPr>
        <p:spPr>
          <a:xfrm>
            <a:off x="7000000" y="1700000"/>
            <a:ext cx="1500000" cy="2600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0000" y="1800000"/>
            <a:ext cx="400000" cy="300000"/>
          </a:xfrm>
          <a:prstGeom prst="rect">
            <a:avLst/>
          </a:prstGeom>
          <a:noFill/>
        </p:spPr>
        <p:txBody>
          <a:bodyPr wrap="square">
            <a:spAutoFit/>
          </a:bodyPr>
          <a:lstStyle/>
          <a:p>
            <a:pPr>
              <a:defRPr sz="2800" b="1">
                <a:solidFill>
                  <a:srgbClr val="3ECDC4"/>
                </a:solidFill>
                <a:latin typeface="Georgia"/>
              </a:defRPr>
            </a:pPr>
            <a:r>
              <a:t>5</a:t>
            </a:r>
          </a:p>
        </p:txBody>
      </p:sp>
      <p:sp>
        <p:nvSpPr>
          <p:cNvPr id="26" name="TextBox 25"/>
          <p:cNvSpPr txBox="1"/>
          <p:nvPr/>
        </p:nvSpPr>
        <p:spPr>
          <a:xfrm>
            <a:off x="7100000" y="2200000"/>
            <a:ext cx="1300000" cy="500000"/>
          </a:xfrm>
          <a:prstGeom prst="rect">
            <a:avLst/>
          </a:prstGeom>
          <a:noFill/>
        </p:spPr>
        <p:txBody>
          <a:bodyPr wrap="square">
            <a:spAutoFit/>
          </a:bodyPr>
          <a:lstStyle/>
          <a:p>
            <a:pPr>
              <a:defRPr sz="1300" b="1">
                <a:solidFill>
                  <a:srgbClr val="1A2332"/>
                </a:solidFill>
                <a:latin typeface="Georgia"/>
              </a:defRPr>
            </a:pPr>
            <a:r>
              <a:t>Custom</a:t>
            </a:r>
            <a:br/>
            <a:r>
              <a:t>Models</a:t>
            </a:r>
          </a:p>
        </p:txBody>
      </p:sp>
      <p:sp>
        <p:nvSpPr>
          <p:cNvPr id="27" name="TextBox 26"/>
          <p:cNvSpPr txBox="1"/>
          <p:nvPr/>
        </p:nvSpPr>
        <p:spPr>
          <a:xfrm>
            <a:off x="7100000" y="2800000"/>
            <a:ext cx="1300000" cy="1400000"/>
          </a:xfrm>
          <a:prstGeom prst="rect">
            <a:avLst/>
          </a:prstGeom>
          <a:noFill/>
        </p:spPr>
        <p:txBody>
          <a:bodyPr wrap="square">
            <a:spAutoFit/>
          </a:bodyPr>
          <a:lstStyle/>
          <a:p>
            <a:pPr>
              <a:defRPr sz="900" b="0">
                <a:solidFill>
                  <a:srgbClr val="535353"/>
                </a:solidFill>
                <a:latin typeface="Georgia"/>
              </a:defRPr>
            </a:pPr>
            <a:r>
              <a:t>Custom pLTV.</a:t>
            </a:r>
            <a:br/>
            <a:r>
              <a:t>Payout prediction.</a:t>
            </a:r>
            <a:br/>
            <a:r>
              <a:t>CTV attribution.</a:t>
            </a:r>
          </a:p>
        </p:txBody>
      </p:sp>
      <p:sp>
        <p:nvSpPr>
          <p:cNvPr id="28" name="TextBox 27"/>
          <p:cNvSpPr txBox="1"/>
          <p:nvPr/>
        </p:nvSpPr>
        <p:spPr>
          <a:xfrm>
            <a:off x="400000" y="4500000"/>
            <a:ext cx="8229600" cy="250000"/>
          </a:xfrm>
          <a:prstGeom prst="rect">
            <a:avLst/>
          </a:prstGeom>
          <a:noFill/>
        </p:spPr>
        <p:txBody>
          <a:bodyPr wrap="square">
            <a:spAutoFit/>
          </a:bodyPr>
          <a:lstStyle/>
          <a:p>
            <a:pPr>
              <a:defRPr sz="1200" b="1">
                <a:solidFill>
                  <a:srgbClr val="535353"/>
                </a:solidFill>
                <a:latin typeface="Georgia"/>
              </a:defRPr>
            </a:pPr>
            <a:r>
              <a:t>Phase 1 is standalone. Low commitment. Clear deliverables. No build until sign-off.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4983500"/>
            <a:ext cx="9144000" cy="160000"/>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81506"/>
            <a:ext cx="7315201" cy="137072"/>
          </a:xfrm>
          <a:prstGeom prst="rect">
            <a:avLst/>
          </a:prstGeom>
          <a:noFill/>
        </p:spPr>
        <p:txBody>
          <a:bodyPr wrap="square">
            <a:spAutoFit/>
          </a:bodyPr>
          <a:lstStyle/>
          <a:p>
            <a:pPr>
              <a:defRPr sz="1000" b="1">
                <a:solidFill>
                  <a:srgbClr val="3ECDC4"/>
                </a:solidFill>
                <a:latin typeface="Arial"/>
              </a:defRPr>
            </a:pPr>
            <a:r>
              <a:t>START SMALL</a:t>
            </a:r>
          </a:p>
        </p:txBody>
      </p:sp>
      <p:sp>
        <p:nvSpPr>
          <p:cNvPr id="4" name="TextBox 3"/>
          <p:cNvSpPr txBox="1"/>
          <p:nvPr/>
        </p:nvSpPr>
        <p:spPr>
          <a:xfrm>
            <a:off x="640080" y="700000"/>
            <a:ext cx="7315201" cy="700000"/>
          </a:xfrm>
          <a:prstGeom prst="rect">
            <a:avLst/>
          </a:prstGeom>
          <a:noFill/>
        </p:spPr>
        <p:txBody>
          <a:bodyPr wrap="square">
            <a:spAutoFit/>
          </a:bodyPr>
          <a:lstStyle/>
          <a:p>
            <a:pPr>
              <a:spcAft>
                <a:spcPts val="200"/>
              </a:spcAft>
              <a:defRPr sz="3000" b="1">
                <a:solidFill>
                  <a:srgbClr val="FFFFFF"/>
                </a:solidFill>
                <a:latin typeface="Georgia"/>
              </a:defRPr>
            </a:pPr>
            <a:r>
              <a:t>Data audit only.</a:t>
            </a:r>
          </a:p>
          <a:p>
            <a:pPr>
              <a:defRPr sz="3000" b="1">
                <a:solidFill>
                  <a:srgbClr val="CBD5E1"/>
                </a:solidFill>
                <a:latin typeface="Georgia"/>
              </a:defRPr>
            </a:pPr>
            <a:r>
              <a:t>No commitment to full build.</a:t>
            </a:r>
          </a:p>
        </p:txBody>
      </p:sp>
      <p:sp>
        <p:nvSpPr>
          <p:cNvPr id="5" name="TextBox 4"/>
          <p:cNvSpPr txBox="1"/>
          <p:nvPr/>
        </p:nvSpPr>
        <p:spPr>
          <a:xfrm>
            <a:off x="640080" y="1600000"/>
            <a:ext cx="7315201" cy="300000"/>
          </a:xfrm>
          <a:prstGeom prst="rect">
            <a:avLst/>
          </a:prstGeom>
          <a:noFill/>
        </p:spPr>
        <p:txBody>
          <a:bodyPr wrap="square">
            <a:spAutoFit/>
          </a:bodyPr>
          <a:lstStyle/>
          <a:p>
            <a:pPr>
              <a:defRPr sz="1500" b="1">
                <a:solidFill>
                  <a:srgbClr val="FFFFFF"/>
                </a:solidFill>
                <a:latin typeface="Georgia"/>
              </a:defRPr>
            </a:pPr>
            <a:r>
              <a:t>What the audit delivers</a:t>
            </a:r>
          </a:p>
        </p:txBody>
      </p:sp>
      <p:pic>
        <p:nvPicPr>
          <p:cNvPr id="6" name="Picture 5" descr="bullet_white.png"/>
          <p:cNvPicPr>
            <a:picLocks noChangeAspect="1"/>
          </p:cNvPicPr>
          <p:nvPr/>
        </p:nvPicPr>
        <p:blipFill>
          <a:blip r:embed="rId2"/>
          <a:stretch>
            <a:fillRect/>
          </a:stretch>
        </p:blipFill>
        <p:spPr>
          <a:xfrm>
            <a:off x="640080" y="2000000"/>
            <a:ext cx="201169" cy="201169"/>
          </a:xfrm>
          <a:prstGeom prst="rect">
            <a:avLst/>
          </a:prstGeom>
        </p:spPr>
      </p:pic>
      <p:sp>
        <p:nvSpPr>
          <p:cNvPr id="7" name="TextBox 6"/>
          <p:cNvSpPr txBox="1"/>
          <p:nvPr/>
        </p:nvSpPr>
        <p:spPr>
          <a:xfrm>
            <a:off x="960000" y="1990000"/>
            <a:ext cx="7000000" cy="250000"/>
          </a:xfrm>
          <a:prstGeom prst="rect">
            <a:avLst/>
          </a:prstGeom>
          <a:noFill/>
        </p:spPr>
        <p:txBody>
          <a:bodyPr wrap="square">
            <a:spAutoFit/>
          </a:bodyPr>
          <a:lstStyle/>
          <a:p>
            <a:pPr>
              <a:defRPr sz="1200" b="0">
                <a:solidFill>
                  <a:srgbClr val="CBD5E1"/>
                </a:solidFill>
                <a:latin typeface="Georgia"/>
              </a:defRPr>
            </a:pPr>
            <a:r>
              <a:t>Where decisions are currently unreliable</a:t>
            </a:r>
          </a:p>
        </p:txBody>
      </p:sp>
      <p:pic>
        <p:nvPicPr>
          <p:cNvPr id="8" name="Picture 7" descr="bullet_white.png"/>
          <p:cNvPicPr>
            <a:picLocks noChangeAspect="1"/>
          </p:cNvPicPr>
          <p:nvPr/>
        </p:nvPicPr>
        <p:blipFill>
          <a:blip r:embed="rId2"/>
          <a:stretch>
            <a:fillRect/>
          </a:stretch>
        </p:blipFill>
        <p:spPr>
          <a:xfrm>
            <a:off x="640080" y="2400000"/>
            <a:ext cx="201169" cy="201169"/>
          </a:xfrm>
          <a:prstGeom prst="rect">
            <a:avLst/>
          </a:prstGeom>
        </p:spPr>
      </p:pic>
      <p:sp>
        <p:nvSpPr>
          <p:cNvPr id="9" name="TextBox 8"/>
          <p:cNvSpPr txBox="1"/>
          <p:nvPr/>
        </p:nvSpPr>
        <p:spPr>
          <a:xfrm>
            <a:off x="960000" y="2390000"/>
            <a:ext cx="7000000" cy="250000"/>
          </a:xfrm>
          <a:prstGeom prst="rect">
            <a:avLst/>
          </a:prstGeom>
          <a:noFill/>
        </p:spPr>
        <p:txBody>
          <a:bodyPr wrap="square">
            <a:spAutoFit/>
          </a:bodyPr>
          <a:lstStyle/>
          <a:p>
            <a:pPr>
              <a:defRPr sz="1200" b="0">
                <a:solidFill>
                  <a:srgbClr val="CBD5E1"/>
                </a:solidFill>
                <a:latin typeface="Georgia"/>
              </a:defRPr>
            </a:pPr>
            <a:r>
              <a:t>What needs to change in your data foundation</a:t>
            </a:r>
          </a:p>
        </p:txBody>
      </p:sp>
      <p:pic>
        <p:nvPicPr>
          <p:cNvPr id="10" name="Picture 9" descr="bullet_white.png"/>
          <p:cNvPicPr>
            <a:picLocks noChangeAspect="1"/>
          </p:cNvPicPr>
          <p:nvPr/>
        </p:nvPicPr>
        <p:blipFill>
          <a:blip r:embed="rId2"/>
          <a:stretch>
            <a:fillRect/>
          </a:stretch>
        </p:blipFill>
        <p:spPr>
          <a:xfrm>
            <a:off x="640080" y="2800000"/>
            <a:ext cx="201169" cy="201169"/>
          </a:xfrm>
          <a:prstGeom prst="rect">
            <a:avLst/>
          </a:prstGeom>
        </p:spPr>
      </p:pic>
      <p:sp>
        <p:nvSpPr>
          <p:cNvPr id="11" name="TextBox 10"/>
          <p:cNvSpPr txBox="1"/>
          <p:nvPr/>
        </p:nvSpPr>
        <p:spPr>
          <a:xfrm>
            <a:off x="960000" y="2790000"/>
            <a:ext cx="7000000" cy="250000"/>
          </a:xfrm>
          <a:prstGeom prst="rect">
            <a:avLst/>
          </a:prstGeom>
          <a:noFill/>
        </p:spPr>
        <p:txBody>
          <a:bodyPr wrap="square">
            <a:spAutoFit/>
          </a:bodyPr>
          <a:lstStyle/>
          <a:p>
            <a:pPr>
              <a:defRPr sz="1200" b="0">
                <a:solidFill>
                  <a:srgbClr val="CBD5E1"/>
                </a:solidFill>
                <a:latin typeface="Georgia"/>
              </a:defRPr>
            </a:pPr>
            <a:r>
              <a:t>SSOT blueprint and architecture design</a:t>
            </a:r>
          </a:p>
        </p:txBody>
      </p:sp>
      <p:pic>
        <p:nvPicPr>
          <p:cNvPr id="12" name="Picture 11" descr="bullet_white.png"/>
          <p:cNvPicPr>
            <a:picLocks noChangeAspect="1"/>
          </p:cNvPicPr>
          <p:nvPr/>
        </p:nvPicPr>
        <p:blipFill>
          <a:blip r:embed="rId2"/>
          <a:stretch>
            <a:fillRect/>
          </a:stretch>
        </p:blipFill>
        <p:spPr>
          <a:xfrm>
            <a:off x="640080" y="3200000"/>
            <a:ext cx="201169" cy="201169"/>
          </a:xfrm>
          <a:prstGeom prst="rect">
            <a:avLst/>
          </a:prstGeom>
        </p:spPr>
      </p:pic>
      <p:sp>
        <p:nvSpPr>
          <p:cNvPr id="13" name="TextBox 12"/>
          <p:cNvSpPr txBox="1"/>
          <p:nvPr/>
        </p:nvSpPr>
        <p:spPr>
          <a:xfrm>
            <a:off x="960000" y="3190000"/>
            <a:ext cx="7000000" cy="250000"/>
          </a:xfrm>
          <a:prstGeom prst="rect">
            <a:avLst/>
          </a:prstGeom>
          <a:noFill/>
        </p:spPr>
        <p:txBody>
          <a:bodyPr wrap="square">
            <a:spAutoFit/>
          </a:bodyPr>
          <a:lstStyle/>
          <a:p>
            <a:pPr>
              <a:defRPr sz="1200" b="0">
                <a:solidFill>
                  <a:srgbClr val="CBD5E1"/>
                </a:solidFill>
                <a:latin typeface="Georgia"/>
              </a:defRPr>
            </a:pPr>
            <a:r>
              <a:t>Clear project plan for full build (if you decide to proceed)</a:t>
            </a:r>
          </a:p>
        </p:txBody>
      </p:sp>
      <p:sp>
        <p:nvSpPr>
          <p:cNvPr id="14" name="TextBox 13"/>
          <p:cNvSpPr txBox="1"/>
          <p:nvPr/>
        </p:nvSpPr>
        <p:spPr>
          <a:xfrm>
            <a:off x="640080" y="3800000"/>
            <a:ext cx="7315201" cy="300000"/>
          </a:xfrm>
          <a:prstGeom prst="rect">
            <a:avLst/>
          </a:prstGeom>
          <a:noFill/>
        </p:spPr>
        <p:txBody>
          <a:bodyPr wrap="square">
            <a:spAutoFit/>
          </a:bodyPr>
          <a:lstStyle/>
          <a:p>
            <a:pPr>
              <a:defRPr sz="1300" b="1">
                <a:solidFill>
                  <a:srgbClr val="FFFFFF"/>
                </a:solidFill>
                <a:latin typeface="Georgia"/>
              </a:defRPr>
            </a:pPr>
            <a:r>
              <a:t>You’ll see immediately if this improves your decision-making.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lupe_logo.png"/>
          <p:cNvPicPr>
            <a:picLocks noChangeAspect="1"/>
          </p:cNvPicPr>
          <p:nvPr/>
        </p:nvPicPr>
        <p:blipFill>
          <a:blip r:embed="rId2"/>
          <a:stretch>
            <a:fillRect/>
          </a:stretch>
        </p:blipFill>
        <p:spPr>
          <a:xfrm>
            <a:off x="640080" y="457200"/>
            <a:ext cx="411481" cy="466345"/>
          </a:xfrm>
          <a:prstGeom prst="rect">
            <a:avLst/>
          </a:prstGeom>
        </p:spPr>
      </p:pic>
      <p:sp>
        <p:nvSpPr>
          <p:cNvPr id="3" name="TextBox 2"/>
          <p:cNvSpPr txBox="1"/>
          <p:nvPr/>
        </p:nvSpPr>
        <p:spPr>
          <a:xfrm>
            <a:off x="1180000" y="560000"/>
            <a:ext cx="875893" cy="370839"/>
          </a:xfrm>
          <a:prstGeom prst="rect">
            <a:avLst/>
          </a:prstGeom>
          <a:noFill/>
        </p:spPr>
        <p:txBody>
          <a:bodyPr wrap="square">
            <a:spAutoFit/>
          </a:bodyPr>
          <a:lstStyle/>
          <a:p>
            <a:pPr>
              <a:defRPr sz="1800" b="0">
                <a:solidFill>
                  <a:srgbClr val="1A2332"/>
                </a:solidFill>
                <a:latin typeface="BrunoAce-Regular"/>
              </a:defRPr>
            </a:pPr>
            <a:r>
              <a:t>LUPE</a:t>
            </a:r>
          </a:p>
        </p:txBody>
      </p:sp>
      <p:sp>
        <p:nvSpPr>
          <p:cNvPr id="4" name="TextBox 3"/>
          <p:cNvSpPr txBox="1"/>
          <p:nvPr/>
        </p:nvSpPr>
        <p:spPr>
          <a:xfrm>
            <a:off x="640080" y="497585"/>
            <a:ext cx="7315201" cy="147830"/>
          </a:xfrm>
          <a:prstGeom prst="rect">
            <a:avLst/>
          </a:prstGeom>
          <a:noFill/>
        </p:spPr>
        <p:txBody>
          <a:bodyPr wrap="square">
            <a:spAutoFit/>
          </a:bodyPr>
          <a:lstStyle/>
          <a:p>
            <a:pPr>
              <a:defRPr sz="1100" b="1">
                <a:solidFill>
                  <a:srgbClr val="3ECDC4"/>
                </a:solidFill>
                <a:latin typeface="Arial"/>
              </a:defRPr>
            </a:pPr>
            <a:r>
              <a:t>NEXT STEP</a:t>
            </a:r>
          </a:p>
        </p:txBody>
      </p:sp>
      <p:sp>
        <p:nvSpPr>
          <p:cNvPr id="5" name="TextBox 4"/>
          <p:cNvSpPr txBox="1"/>
          <p:nvPr/>
        </p:nvSpPr>
        <p:spPr>
          <a:xfrm>
            <a:off x="640080" y="1400000"/>
            <a:ext cx="7863840" cy="700000"/>
          </a:xfrm>
          <a:prstGeom prst="rect">
            <a:avLst/>
          </a:prstGeom>
          <a:noFill/>
        </p:spPr>
        <p:txBody>
          <a:bodyPr wrap="square">
            <a:spAutoFit/>
          </a:bodyPr>
          <a:lstStyle/>
          <a:p>
            <a:pPr>
              <a:defRPr sz="4000" b="1">
                <a:solidFill>
                  <a:srgbClr val="1A2332"/>
                </a:solidFill>
                <a:latin typeface="Georgia"/>
              </a:defRPr>
            </a:pPr>
            <a:r>
              <a:t>How would you want to</a:t>
            </a:r>
            <a:br/>
            <a:r>
              <a:t>move forward?</a:t>
            </a:r>
          </a:p>
        </p:txBody>
      </p:sp>
      <p:sp>
        <p:nvSpPr>
          <p:cNvPr id="6" name="TextBox 5"/>
          <p:cNvSpPr txBox="1"/>
          <p:nvPr/>
        </p:nvSpPr>
        <p:spPr>
          <a:xfrm>
            <a:off x="640080" y="2400000"/>
            <a:ext cx="7863840" cy="600000"/>
          </a:xfrm>
          <a:prstGeom prst="rect">
            <a:avLst/>
          </a:prstGeom>
          <a:noFill/>
        </p:spPr>
        <p:txBody>
          <a:bodyPr wrap="square">
            <a:spAutoFit/>
          </a:bodyPr>
          <a:lstStyle/>
          <a:p>
            <a:pPr>
              <a:defRPr sz="1400" b="0">
                <a:solidFill>
                  <a:srgbClr val="535353"/>
                </a:solidFill>
                <a:latin typeface="Georgia"/>
              </a:defRPr>
            </a:pPr>
            <a:r>
              <a:t>The simplest next step is a data audit. We get warehouse access, run an automated audit, and deliver a structured report with an SSOT blueprint. You decide what comes after.</a:t>
            </a:r>
          </a:p>
        </p:txBody>
      </p:sp>
      <p:sp>
        <p:nvSpPr>
          <p:cNvPr id="7" name="TextBox 6"/>
          <p:cNvSpPr txBox="1"/>
          <p:nvPr/>
        </p:nvSpPr>
        <p:spPr>
          <a:xfrm>
            <a:off x="640080" y="3200000"/>
            <a:ext cx="7863840" cy="400000"/>
          </a:xfrm>
          <a:prstGeom prst="rect">
            <a:avLst/>
          </a:prstGeom>
          <a:noFill/>
        </p:spPr>
        <p:txBody>
          <a:bodyPr wrap="square">
            <a:spAutoFit/>
          </a:bodyPr>
          <a:lstStyle/>
          <a:p>
            <a:pPr>
              <a:defRPr sz="1200" b="0">
                <a:solidFill>
                  <a:srgbClr val="94A3B8"/>
                </a:solidFill>
                <a:latin typeface="Georgia"/>
              </a:defRPr>
            </a:pPr>
            <a:r>
              <a:t>Or if you’d rather align internally first, we’re happy to reconvene with a focused technical session. Either way, the next step is clear and low-risk.</a:t>
            </a:r>
          </a:p>
        </p:txBody>
      </p:sp>
      <p:sp>
        <p:nvSpPr>
          <p:cNvPr id="8" name="Rectangle 7"/>
          <p:cNvSpPr/>
          <p:nvPr/>
        </p:nvSpPr>
        <p:spPr>
          <a:xfrm>
            <a:off x="640080" y="3800000"/>
            <a:ext cx="7863840" cy="12701"/>
          </a:xfrm>
          <a:prstGeom prst="rect">
            <a:avLst/>
          </a:prstGeom>
          <a:solidFill>
            <a:srgbClr val="3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950000"/>
            <a:ext cx="7863840" cy="300000"/>
          </a:xfrm>
          <a:prstGeom prst="rect">
            <a:avLst/>
          </a:prstGeom>
          <a:noFill/>
        </p:spPr>
        <p:txBody>
          <a:bodyPr wrap="square">
            <a:spAutoFit/>
          </a:bodyPr>
          <a:lstStyle/>
          <a:p>
            <a:pPr algn="l">
              <a:defRPr sz="1600" b="1">
                <a:solidFill>
                  <a:srgbClr val="1A2332"/>
                </a:solidFill>
                <a:latin typeface="Georgia"/>
              </a:defRPr>
            </a:pPr>
            <a:r>
              <a:t>No pressure. No timeline. Your 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pic>
        <p:nvPicPr>
          <p:cNvPr id="254" name="Image 0" descr="Image 0"/>
          <p:cNvPicPr>
            <a:picLocks noChangeAspect="1"/>
          </p:cNvPicPr>
          <p:nvPr/>
        </p:nvPicPr>
        <p:blipFill>
          <a:blip r:embed="rId2">
            <a:extLst/>
          </a:blip>
          <a:stretch>
            <a:fillRect/>
          </a:stretch>
        </p:blipFill>
        <p:spPr>
          <a:xfrm>
            <a:off x="731519" y="822960"/>
            <a:ext cx="1005842" cy="1005840"/>
          </a:xfrm>
          <a:prstGeom prst="rect">
            <a:avLst/>
          </a:prstGeom>
          <a:ln w="12700">
            <a:miter lim="400000"/>
          </a:ln>
        </p:spPr>
      </p:pic>
      <p:sp>
        <p:nvSpPr>
          <p:cNvPr id="255" name="Text 0"/>
          <p:cNvSpPr txBox="1"/>
          <p:nvPr/>
        </p:nvSpPr>
        <p:spPr>
          <a:xfrm>
            <a:off x="731519" y="2129789"/>
            <a:ext cx="7315201" cy="12268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000">
                <a:solidFill>
                  <a:srgbClr val="FFFFFF"/>
                </a:solidFill>
                <a:latin typeface="Georgia"/>
                <a:ea typeface="Georgia"/>
                <a:cs typeface="Georgia"/>
                <a:sym typeface="Georgia"/>
              </a:defRPr>
            </a:pPr>
            <a:r>
              <a:t>Protect your return</a:t>
            </a:r>
          </a:p>
          <a:p>
            <a:pPr>
              <a:lnSpc>
                <a:spcPct val="110000"/>
              </a:lnSpc>
              <a:defRPr b="1" sz="4000">
                <a:solidFill>
                  <a:srgbClr val="FFFFFF"/>
                </a:solidFill>
                <a:latin typeface="Georgia"/>
                <a:ea typeface="Georgia"/>
                <a:cs typeface="Georgia"/>
                <a:sym typeface="Georgia"/>
              </a:defRPr>
            </a:pPr>
            <a:r>
              <a:t>on ad spend.</a:t>
            </a:r>
          </a:p>
        </p:txBody>
      </p:sp>
      <p:sp>
        <p:nvSpPr>
          <p:cNvPr id="256" name="Text 1"/>
          <p:cNvSpPr txBox="1"/>
          <p:nvPr/>
        </p:nvSpPr>
        <p:spPr>
          <a:xfrm>
            <a:off x="731519" y="3624335"/>
            <a:ext cx="6858001" cy="7980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8895A7"/>
                </a:solidFill>
              </a:defRPr>
            </a:pPr>
            <a:r>
              <a:t>A single view of all relevant data down to device level.</a:t>
            </a:r>
          </a:p>
          <a:p>
            <a:pPr>
              <a:lnSpc>
                <a:spcPct val="140000"/>
              </a:lnSpc>
              <a:defRPr sz="1400">
                <a:solidFill>
                  <a:srgbClr val="8895A7"/>
                </a:solidFill>
              </a:defRPr>
            </a:pPr>
            <a:r>
              <a:t>AI agents surface growth potential, where you're wasting budget,</a:t>
            </a:r>
          </a:p>
          <a:p>
            <a:pPr>
              <a:lnSpc>
                <a:spcPct val="140000"/>
              </a:lnSpc>
              <a:defRPr sz="1400">
                <a:solidFill>
                  <a:srgbClr val="8895A7"/>
                </a:solidFill>
              </a:defRPr>
            </a:pPr>
            <a:r>
              <a:t>and where to act.</a:t>
            </a:r>
          </a:p>
        </p:txBody>
      </p:sp>
      <p:sp>
        <p:nvSpPr>
          <p:cNvPr id="257" name="Shape 2"/>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
        <p:nvSpPr>
          <p:cNvPr id="258" name="LUPE"/>
          <p:cNvSpPr txBox="1"/>
          <p:nvPr/>
        </p:nvSpPr>
        <p:spPr>
          <a:xfrm>
            <a:off x="1730573" y="1140461"/>
            <a:ext cx="875893" cy="370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solidFill>
                  <a:srgbClr val="FFFFFF"/>
                </a:solidFill>
                <a:latin typeface="BrunoAce-Regular"/>
                <a:ea typeface="BrunoAce-Regular"/>
                <a:cs typeface="BrunoAce-Regular"/>
                <a:sym typeface="BrunoAce-Regular"/>
              </a:defRPr>
            </a:lvl1pPr>
          </a:lstStyle>
          <a:p>
            <a:pPr/>
            <a:r>
              <a:t>LUPE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60" name="Text 0"/>
          <p:cNvSpPr txBox="1"/>
          <p:nvPr/>
        </p:nvSpPr>
        <p:spPr>
          <a:xfrm>
            <a:off x="777239" y="388664"/>
            <a:ext cx="44805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1000">
                <a:solidFill>
                  <a:srgbClr val="2A8A8A"/>
                </a:solidFill>
              </a:defRPr>
            </a:lvl1pPr>
          </a:lstStyle>
          <a:p>
            <a:pPr/>
            <a:r>
              <a:t>WHAT LUPE BUILT</a:t>
            </a:r>
          </a:p>
        </p:txBody>
      </p:sp>
      <p:sp>
        <p:nvSpPr>
          <p:cNvPr id="261" name="Text 1"/>
          <p:cNvSpPr txBox="1"/>
          <p:nvPr/>
        </p:nvSpPr>
        <p:spPr>
          <a:xfrm>
            <a:off x="777239" y="728662"/>
            <a:ext cx="7223761" cy="8286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15000"/>
              </a:lnSpc>
              <a:defRPr b="1" sz="2400">
                <a:solidFill>
                  <a:srgbClr val="1A2332"/>
                </a:solidFill>
                <a:latin typeface="Georgia"/>
                <a:ea typeface="Georgia"/>
                <a:cs typeface="Georgia"/>
                <a:sym typeface="Georgia"/>
              </a:defRPr>
            </a:pPr>
            <a:r>
              <a:t>A context layer for</a:t>
            </a:r>
          </a:p>
          <a:p>
            <a:pPr>
              <a:lnSpc>
                <a:spcPct val="115000"/>
              </a:lnSpc>
              <a:defRPr b="1" sz="2400">
                <a:solidFill>
                  <a:srgbClr val="1A2332"/>
                </a:solidFill>
                <a:latin typeface="Georgia"/>
                <a:ea typeface="Georgia"/>
                <a:cs typeface="Georgia"/>
                <a:sym typeface="Georgia"/>
              </a:defRPr>
            </a:pPr>
            <a:r>
              <a:t>mobile marketing teams.</a:t>
            </a:r>
          </a:p>
        </p:txBody>
      </p:sp>
      <p:sp>
        <p:nvSpPr>
          <p:cNvPr id="262" name="Shape 2"/>
          <p:cNvSpPr/>
          <p:nvPr/>
        </p:nvSpPr>
        <p:spPr>
          <a:xfrm>
            <a:off x="457200" y="1828800"/>
            <a:ext cx="2286000" cy="2468880"/>
          </a:xfrm>
          <a:prstGeom prst="roundRect">
            <a:avLst>
              <a:gd name="adj" fmla="val 4000"/>
            </a:avLst>
          </a:prstGeom>
          <a:solidFill>
            <a:srgbClr val="1A2332"/>
          </a:solidFill>
          <a:ln w="12700">
            <a:miter lim="400000"/>
          </a:ln>
        </p:spPr>
        <p:txBody>
          <a:bodyPr lIns="45718" tIns="45718" rIns="45718" bIns="45718"/>
          <a:lstStyle/>
          <a:p>
            <a:pPr/>
          </a:p>
        </p:txBody>
      </p:sp>
      <p:sp>
        <p:nvSpPr>
          <p:cNvPr id="263" name="Text 3"/>
          <p:cNvSpPr txBox="1"/>
          <p:nvPr/>
        </p:nvSpPr>
        <p:spPr>
          <a:xfrm>
            <a:off x="502919" y="1954443"/>
            <a:ext cx="21945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pc="200" sz="900">
                <a:solidFill>
                  <a:srgbClr val="3AADAD"/>
                </a:solidFill>
              </a:defRPr>
            </a:lvl1pPr>
          </a:lstStyle>
          <a:p>
            <a:pPr/>
            <a:r>
              <a:t>DATA SOURCES</a:t>
            </a:r>
          </a:p>
        </p:txBody>
      </p:sp>
      <p:sp>
        <p:nvSpPr>
          <p:cNvPr id="264" name="Shape 4"/>
          <p:cNvSpPr/>
          <p:nvPr/>
        </p:nvSpPr>
        <p:spPr>
          <a:xfrm>
            <a:off x="640080" y="22860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65" name="Text 5"/>
          <p:cNvSpPr txBox="1"/>
          <p:nvPr/>
        </p:nvSpPr>
        <p:spPr>
          <a:xfrm>
            <a:off x="685800" y="23454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Ad Networks</a:t>
            </a:r>
          </a:p>
        </p:txBody>
      </p:sp>
      <p:sp>
        <p:nvSpPr>
          <p:cNvPr id="266" name="Shape 6"/>
          <p:cNvSpPr/>
          <p:nvPr/>
        </p:nvSpPr>
        <p:spPr>
          <a:xfrm>
            <a:off x="640080" y="27432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67" name="Text 7"/>
          <p:cNvSpPr txBox="1"/>
          <p:nvPr/>
        </p:nvSpPr>
        <p:spPr>
          <a:xfrm>
            <a:off x="685800" y="28026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MMPs</a:t>
            </a:r>
          </a:p>
        </p:txBody>
      </p:sp>
      <p:sp>
        <p:nvSpPr>
          <p:cNvPr id="268" name="Shape 8"/>
          <p:cNvSpPr/>
          <p:nvPr/>
        </p:nvSpPr>
        <p:spPr>
          <a:xfrm>
            <a:off x="640080" y="32004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69" name="Text 9"/>
          <p:cNvSpPr txBox="1"/>
          <p:nvPr/>
        </p:nvSpPr>
        <p:spPr>
          <a:xfrm>
            <a:off x="685800" y="32598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Revenue Platforms</a:t>
            </a:r>
          </a:p>
        </p:txBody>
      </p:sp>
      <p:sp>
        <p:nvSpPr>
          <p:cNvPr id="270" name="Shape 10"/>
          <p:cNvSpPr/>
          <p:nvPr/>
        </p:nvSpPr>
        <p:spPr>
          <a:xfrm>
            <a:off x="640080" y="36576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71" name="Text 11"/>
          <p:cNvSpPr txBox="1"/>
          <p:nvPr/>
        </p:nvSpPr>
        <p:spPr>
          <a:xfrm>
            <a:off x="685800" y="37170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Analytics Tools</a:t>
            </a:r>
          </a:p>
        </p:txBody>
      </p:sp>
      <p:sp>
        <p:nvSpPr>
          <p:cNvPr id="272" name="Shape 12"/>
          <p:cNvSpPr/>
          <p:nvPr/>
        </p:nvSpPr>
        <p:spPr>
          <a:xfrm>
            <a:off x="2880360" y="1828800"/>
            <a:ext cx="3383280" cy="2468880"/>
          </a:xfrm>
          <a:prstGeom prst="roundRect">
            <a:avLst>
              <a:gd name="adj" fmla="val 3704"/>
            </a:avLst>
          </a:prstGeom>
          <a:solidFill>
            <a:srgbClr val="1A2332"/>
          </a:solidFill>
          <a:ln w="12700">
            <a:miter lim="400000"/>
          </a:ln>
        </p:spPr>
        <p:txBody>
          <a:bodyPr lIns="45718" tIns="45718" rIns="45718" bIns="45718"/>
          <a:lstStyle/>
          <a:p>
            <a:pPr/>
          </a:p>
        </p:txBody>
      </p:sp>
      <p:sp>
        <p:nvSpPr>
          <p:cNvPr id="273" name="Text 13"/>
          <p:cNvSpPr txBox="1"/>
          <p:nvPr/>
        </p:nvSpPr>
        <p:spPr>
          <a:xfrm>
            <a:off x="2926080" y="3514090"/>
            <a:ext cx="329184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latin typeface="Georgia"/>
                <a:ea typeface="Georgia"/>
                <a:cs typeface="Georgia"/>
                <a:sym typeface="Georgia"/>
              </a:defRPr>
            </a:lvl1pPr>
          </a:lstStyle>
          <a:p>
            <a:pPr/>
            <a:r>
              <a:t>SSOT</a:t>
            </a:r>
          </a:p>
        </p:txBody>
      </p:sp>
      <p:sp>
        <p:nvSpPr>
          <p:cNvPr id="274" name="Text 14"/>
          <p:cNvSpPr txBox="1"/>
          <p:nvPr/>
        </p:nvSpPr>
        <p:spPr>
          <a:xfrm>
            <a:off x="2926080" y="3840479"/>
            <a:ext cx="3291840" cy="2059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900">
                <a:solidFill>
                  <a:srgbClr val="8895A7"/>
                </a:solidFill>
              </a:defRPr>
            </a:lvl1pPr>
          </a:lstStyle>
          <a:p>
            <a:pPr/>
            <a:r>
              <a:t>Single Source of Truth</a:t>
            </a:r>
          </a:p>
        </p:txBody>
      </p:sp>
      <p:sp>
        <p:nvSpPr>
          <p:cNvPr id="275" name="Shape 15"/>
          <p:cNvSpPr/>
          <p:nvPr/>
        </p:nvSpPr>
        <p:spPr>
          <a:xfrm>
            <a:off x="3017520" y="1920239"/>
            <a:ext cx="3108961" cy="1600201"/>
          </a:xfrm>
          <a:prstGeom prst="roundRect">
            <a:avLst>
              <a:gd name="adj" fmla="val 4571"/>
            </a:avLst>
          </a:prstGeom>
          <a:solidFill>
            <a:srgbClr val="2A8A8A"/>
          </a:solidFill>
          <a:ln w="12700">
            <a:miter lim="400000"/>
          </a:ln>
        </p:spPr>
        <p:txBody>
          <a:bodyPr lIns="45718" tIns="45718" rIns="45718" bIns="45718"/>
          <a:lstStyle/>
          <a:p>
            <a:pPr/>
          </a:p>
        </p:txBody>
      </p:sp>
      <p:sp>
        <p:nvSpPr>
          <p:cNvPr id="276" name="Text 16"/>
          <p:cNvSpPr txBox="1"/>
          <p:nvPr/>
        </p:nvSpPr>
        <p:spPr>
          <a:xfrm>
            <a:off x="3063239" y="2019807"/>
            <a:ext cx="3017522"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Context Agent</a:t>
            </a:r>
          </a:p>
        </p:txBody>
      </p:sp>
      <p:sp>
        <p:nvSpPr>
          <p:cNvPr id="277" name="Shape 17"/>
          <p:cNvSpPr/>
          <p:nvPr/>
        </p:nvSpPr>
        <p:spPr>
          <a:xfrm>
            <a:off x="3154679" y="2423160"/>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78" name="Text 18"/>
          <p:cNvSpPr txBox="1"/>
          <p:nvPr/>
        </p:nvSpPr>
        <p:spPr>
          <a:xfrm>
            <a:off x="3200400" y="2484795"/>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Semantic Layer</a:t>
            </a:r>
          </a:p>
        </p:txBody>
      </p:sp>
      <p:sp>
        <p:nvSpPr>
          <p:cNvPr id="279" name="Shape 19"/>
          <p:cNvSpPr/>
          <p:nvPr/>
        </p:nvSpPr>
        <p:spPr>
          <a:xfrm>
            <a:off x="4617720" y="2423160"/>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80" name="Text 20"/>
          <p:cNvSpPr txBox="1"/>
          <p:nvPr/>
        </p:nvSpPr>
        <p:spPr>
          <a:xfrm>
            <a:off x="4663440" y="2484795"/>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Vertical Context</a:t>
            </a:r>
          </a:p>
        </p:txBody>
      </p:sp>
      <p:sp>
        <p:nvSpPr>
          <p:cNvPr id="281" name="Shape 21"/>
          <p:cNvSpPr/>
          <p:nvPr/>
        </p:nvSpPr>
        <p:spPr>
          <a:xfrm>
            <a:off x="3154679" y="2862072"/>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82" name="Text 22"/>
          <p:cNvSpPr txBox="1"/>
          <p:nvPr/>
        </p:nvSpPr>
        <p:spPr>
          <a:xfrm>
            <a:off x="3200400" y="2923707"/>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Business Context</a:t>
            </a:r>
          </a:p>
        </p:txBody>
      </p:sp>
      <p:sp>
        <p:nvSpPr>
          <p:cNvPr id="283" name="Shape 23"/>
          <p:cNvSpPr/>
          <p:nvPr/>
        </p:nvSpPr>
        <p:spPr>
          <a:xfrm>
            <a:off x="4617720" y="2862072"/>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84" name="Text 24"/>
          <p:cNvSpPr txBox="1"/>
          <p:nvPr/>
        </p:nvSpPr>
        <p:spPr>
          <a:xfrm>
            <a:off x="4663440" y="2923707"/>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User Context</a:t>
            </a:r>
          </a:p>
        </p:txBody>
      </p:sp>
      <p:sp>
        <p:nvSpPr>
          <p:cNvPr id="285" name="Text 25"/>
          <p:cNvSpPr txBox="1"/>
          <p:nvPr/>
        </p:nvSpPr>
        <p:spPr>
          <a:xfrm>
            <a:off x="2743200" y="2896696"/>
            <a:ext cx="27432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2A8A8A"/>
                </a:solidFill>
              </a:defRPr>
            </a:lvl1pPr>
          </a:lstStyle>
          <a:p>
            <a:pPr/>
            <a:r>
              <a:t>→</a:t>
            </a:r>
          </a:p>
        </p:txBody>
      </p:sp>
      <p:sp>
        <p:nvSpPr>
          <p:cNvPr id="286" name="Text 26"/>
          <p:cNvSpPr txBox="1"/>
          <p:nvPr/>
        </p:nvSpPr>
        <p:spPr>
          <a:xfrm>
            <a:off x="6263640" y="2896696"/>
            <a:ext cx="27432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2A8A8A"/>
                </a:solidFill>
              </a:defRPr>
            </a:lvl1pPr>
          </a:lstStyle>
          <a:p>
            <a:pPr/>
            <a:r>
              <a:t>→</a:t>
            </a:r>
          </a:p>
        </p:txBody>
      </p:sp>
      <p:sp>
        <p:nvSpPr>
          <p:cNvPr id="287" name="Shape 27"/>
          <p:cNvSpPr/>
          <p:nvPr/>
        </p:nvSpPr>
        <p:spPr>
          <a:xfrm>
            <a:off x="6400800" y="1828800"/>
            <a:ext cx="2286000" cy="2468880"/>
          </a:xfrm>
          <a:prstGeom prst="roundRect">
            <a:avLst>
              <a:gd name="adj" fmla="val 4000"/>
            </a:avLst>
          </a:prstGeom>
          <a:solidFill>
            <a:srgbClr val="1A2332"/>
          </a:solidFill>
          <a:ln w="12700">
            <a:miter lim="400000"/>
          </a:ln>
        </p:spPr>
        <p:txBody>
          <a:bodyPr lIns="45718" tIns="45718" rIns="45718" bIns="45718"/>
          <a:lstStyle/>
          <a:p>
            <a:pPr/>
          </a:p>
        </p:txBody>
      </p:sp>
      <p:sp>
        <p:nvSpPr>
          <p:cNvPr id="288" name="Text 28"/>
          <p:cNvSpPr txBox="1"/>
          <p:nvPr/>
        </p:nvSpPr>
        <p:spPr>
          <a:xfrm>
            <a:off x="6446520" y="1954443"/>
            <a:ext cx="21945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pc="200" sz="900">
                <a:solidFill>
                  <a:srgbClr val="3AADAD"/>
                </a:solidFill>
              </a:defRPr>
            </a:lvl1pPr>
          </a:lstStyle>
          <a:p>
            <a:pPr/>
            <a:r>
              <a:t>FEATURES</a:t>
            </a:r>
          </a:p>
        </p:txBody>
      </p:sp>
      <p:sp>
        <p:nvSpPr>
          <p:cNvPr id="289" name="Shape 29"/>
          <p:cNvSpPr/>
          <p:nvPr/>
        </p:nvSpPr>
        <p:spPr>
          <a:xfrm>
            <a:off x="6583680" y="22860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0" name="Text 30"/>
          <p:cNvSpPr txBox="1"/>
          <p:nvPr/>
        </p:nvSpPr>
        <p:spPr>
          <a:xfrm>
            <a:off x="6629400" y="23454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Daily Report</a:t>
            </a:r>
          </a:p>
        </p:txBody>
      </p:sp>
      <p:sp>
        <p:nvSpPr>
          <p:cNvPr id="291" name="Shape 31"/>
          <p:cNvSpPr/>
          <p:nvPr/>
        </p:nvSpPr>
        <p:spPr>
          <a:xfrm>
            <a:off x="6583680" y="27432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2" name="Text 32"/>
          <p:cNvSpPr txBox="1"/>
          <p:nvPr/>
        </p:nvSpPr>
        <p:spPr>
          <a:xfrm>
            <a:off x="6629400" y="28026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Weekly Summary</a:t>
            </a:r>
          </a:p>
        </p:txBody>
      </p:sp>
      <p:sp>
        <p:nvSpPr>
          <p:cNvPr id="293" name="Shape 33"/>
          <p:cNvSpPr/>
          <p:nvPr/>
        </p:nvSpPr>
        <p:spPr>
          <a:xfrm>
            <a:off x="6583680" y="32004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4" name="Text 34"/>
          <p:cNvSpPr txBox="1"/>
          <p:nvPr/>
        </p:nvSpPr>
        <p:spPr>
          <a:xfrm>
            <a:off x="6629400" y="32598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Explain Feature</a:t>
            </a:r>
          </a:p>
        </p:txBody>
      </p:sp>
      <p:sp>
        <p:nvSpPr>
          <p:cNvPr id="295" name="Shape 35"/>
          <p:cNvSpPr/>
          <p:nvPr/>
        </p:nvSpPr>
        <p:spPr>
          <a:xfrm>
            <a:off x="6583680" y="36576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6" name="Text 36"/>
          <p:cNvSpPr txBox="1"/>
          <p:nvPr/>
        </p:nvSpPr>
        <p:spPr>
          <a:xfrm>
            <a:off x="6629400" y="37170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NL Querying</a:t>
            </a:r>
          </a:p>
        </p:txBody>
      </p:sp>
      <p:sp>
        <p:nvSpPr>
          <p:cNvPr id="297" name="Text 37"/>
          <p:cNvSpPr txBox="1"/>
          <p:nvPr/>
        </p:nvSpPr>
        <p:spPr>
          <a:xfrm>
            <a:off x="777239" y="445774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8895A7"/>
                </a:solidFill>
              </a:defRPr>
            </a:lvl1pPr>
          </a:lstStyle>
          <a:p>
            <a:pPr/>
            <a:r>
              <a:t>Accessible through Slack Bot &amp; Dashboard</a:t>
            </a:r>
          </a:p>
        </p:txBody>
      </p:sp>
      <p:sp>
        <p:nvSpPr>
          <p:cNvPr id="298" name="Shape 38"/>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30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DAILY MARKETING REPORT</a:t>
            </a:r>
          </a:p>
        </p:txBody>
      </p:sp>
      <p:sp>
        <p:nvSpPr>
          <p:cNvPr id="30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Wake up knowing where</a:t>
            </a:r>
          </a:p>
          <a:p>
            <a:pPr>
              <a:lnSpc>
                <a:spcPct val="115000"/>
              </a:lnSpc>
              <a:defRPr b="1" sz="2000">
                <a:solidFill>
                  <a:srgbClr val="1A2332"/>
                </a:solidFill>
                <a:latin typeface="Georgia"/>
                <a:ea typeface="Georgia"/>
                <a:cs typeface="Georgia"/>
                <a:sym typeface="Georgia"/>
              </a:defRPr>
            </a:pPr>
            <a:r>
              <a:t>you're losing money.</a:t>
            </a:r>
          </a:p>
        </p:txBody>
      </p:sp>
      <p:sp>
        <p:nvSpPr>
          <p:cNvPr id="302" name="Text 2"/>
          <p:cNvSpPr txBox="1"/>
          <p:nvPr/>
        </p:nvSpPr>
        <p:spPr>
          <a:xfrm>
            <a:off x="731518" y="1733354"/>
            <a:ext cx="3657603" cy="8309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Every morning, Lupe's AI agents analyze your campaigns across every channel and flag where budget is being wasted. You get a prioritized breakdown: which campaigns to pause, which to scale, and where your next dollar works hardest.</a:t>
            </a:r>
          </a:p>
        </p:txBody>
      </p:sp>
      <p:pic>
        <p:nvPicPr>
          <p:cNvPr id="303" name="Image 0" descr="Image 0"/>
          <p:cNvPicPr>
            <a:picLocks noChangeAspect="1"/>
          </p:cNvPicPr>
          <p:nvPr/>
        </p:nvPicPr>
        <p:blipFill>
          <a:blip r:embed="rId2">
            <a:extLst/>
          </a:blip>
          <a:stretch>
            <a:fillRect/>
          </a:stretch>
        </p:blipFill>
        <p:spPr>
          <a:xfrm>
            <a:off x="731519" y="2880360"/>
            <a:ext cx="228602" cy="228602"/>
          </a:xfrm>
          <a:prstGeom prst="rect">
            <a:avLst/>
          </a:prstGeom>
          <a:ln w="12700">
            <a:miter lim="400000"/>
          </a:ln>
        </p:spPr>
      </p:pic>
      <p:sp>
        <p:nvSpPr>
          <p:cNvPr id="30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every morning</a:t>
            </a:r>
          </a:p>
        </p:txBody>
      </p:sp>
      <p:pic>
        <p:nvPicPr>
          <p:cNvPr id="305" name="Image 1" descr="Image 1"/>
          <p:cNvPicPr>
            <a:picLocks noChangeAspect="1"/>
          </p:cNvPicPr>
          <p:nvPr/>
        </p:nvPicPr>
        <p:blipFill>
          <a:blip r:embed="rId3">
            <a:extLst/>
          </a:blip>
          <a:stretch>
            <a:fillRect/>
          </a:stretch>
        </p:blipFill>
        <p:spPr>
          <a:xfrm>
            <a:off x="731519" y="3337559"/>
            <a:ext cx="228602" cy="228602"/>
          </a:xfrm>
          <a:prstGeom prst="rect">
            <a:avLst/>
          </a:prstGeom>
          <a:ln w="12700">
            <a:miter lim="400000"/>
          </a:ln>
        </p:spPr>
      </p:pic>
      <p:sp>
        <p:nvSpPr>
          <p:cNvPr id="30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Full dashboard with drill-down</a:t>
            </a:r>
          </a:p>
        </p:txBody>
      </p:sp>
      <p:sp>
        <p:nvSpPr>
          <p:cNvPr id="307" name="Shape 5"/>
          <p:cNvSpPr/>
          <p:nvPr/>
        </p:nvSpPr>
        <p:spPr>
          <a:xfrm>
            <a:off x="4754879" y="320040"/>
            <a:ext cx="4114802"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08" name="daily_feature.png" descr="daily_feature.png"/>
          <p:cNvPicPr>
            <a:picLocks noChangeAspect="1"/>
          </p:cNvPicPr>
          <p:nvPr/>
        </p:nvPicPr>
        <p:blipFill>
          <a:blip r:embed="rId4">
            <a:extLst/>
          </a:blip>
          <a:srcRect l="0" t="4817" r="0" b="0"/>
          <a:stretch>
            <a:fillRect/>
          </a:stretch>
        </p:blipFill>
        <p:spPr>
          <a:xfrm>
            <a:off x="5314958" y="429814"/>
            <a:ext cx="2773252" cy="4264662"/>
          </a:xfrm>
          <a:prstGeom prst="rect">
            <a:avLst/>
          </a:prstGeom>
          <a:ln w="12700">
            <a:miter lim="400000"/>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31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WEEKLY EXECUTIVE SUMMARY</a:t>
            </a:r>
          </a:p>
        </p:txBody>
      </p:sp>
      <p:sp>
        <p:nvSpPr>
          <p:cNvPr id="31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Strategic performance</a:t>
            </a:r>
          </a:p>
          <a:p>
            <a:pPr>
              <a:lnSpc>
                <a:spcPct val="115000"/>
              </a:lnSpc>
              <a:defRPr b="1" sz="2000">
                <a:solidFill>
                  <a:srgbClr val="1A2332"/>
                </a:solidFill>
                <a:latin typeface="Georgia"/>
                <a:ea typeface="Georgia"/>
                <a:cs typeface="Georgia"/>
                <a:sym typeface="Georgia"/>
              </a:defRPr>
            </a:pPr>
            <a:r>
              <a:t>overview, every week.</a:t>
            </a:r>
          </a:p>
        </p:txBody>
      </p:sp>
      <p:sp>
        <p:nvSpPr>
          <p:cNvPr id="312" name="Text 2"/>
          <p:cNvSpPr txBox="1"/>
          <p:nvPr/>
        </p:nvSpPr>
        <p:spPr>
          <a:xfrm>
            <a:off x="731518" y="1733354"/>
            <a:ext cx="3657603" cy="8309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Revenue, Spend, Installs, ROAS, DAU at a glance. AI-generated insights classify findings as risks or opportunities with confidence scoring. Each summary includes a prioritized action plan with urgency levels.</a:t>
            </a:r>
          </a:p>
        </p:txBody>
      </p:sp>
      <p:pic>
        <p:nvPicPr>
          <p:cNvPr id="313" name="Image 0" descr="Image 0"/>
          <p:cNvPicPr>
            <a:picLocks noChangeAspect="1"/>
          </p:cNvPicPr>
          <p:nvPr/>
        </p:nvPicPr>
        <p:blipFill>
          <a:blip r:embed="rId2">
            <a:extLst/>
          </a:blip>
          <a:stretch>
            <a:fillRect/>
          </a:stretch>
        </p:blipFill>
        <p:spPr>
          <a:xfrm>
            <a:off x="731519" y="2880360"/>
            <a:ext cx="228602" cy="228602"/>
          </a:xfrm>
          <a:prstGeom prst="rect">
            <a:avLst/>
          </a:prstGeom>
          <a:ln w="12700">
            <a:miter lim="400000"/>
          </a:ln>
        </p:spPr>
      </p:pic>
      <p:sp>
        <p:nvSpPr>
          <p:cNvPr id="31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weekly</a:t>
            </a:r>
          </a:p>
        </p:txBody>
      </p:sp>
      <p:pic>
        <p:nvPicPr>
          <p:cNvPr id="315" name="Image 1" descr="Image 1"/>
          <p:cNvPicPr>
            <a:picLocks noChangeAspect="1"/>
          </p:cNvPicPr>
          <p:nvPr/>
        </p:nvPicPr>
        <p:blipFill>
          <a:blip r:embed="rId3">
            <a:extLst/>
          </a:blip>
          <a:stretch>
            <a:fillRect/>
          </a:stretch>
        </p:blipFill>
        <p:spPr>
          <a:xfrm>
            <a:off x="731519" y="3337559"/>
            <a:ext cx="228602" cy="228602"/>
          </a:xfrm>
          <a:prstGeom prst="rect">
            <a:avLst/>
          </a:prstGeom>
          <a:ln w="12700">
            <a:miter lim="400000"/>
          </a:ln>
        </p:spPr>
      </p:pic>
      <p:sp>
        <p:nvSpPr>
          <p:cNvPr id="31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KPI dashboard with trend lines</a:t>
            </a:r>
          </a:p>
        </p:txBody>
      </p:sp>
      <p:sp>
        <p:nvSpPr>
          <p:cNvPr id="317" name="Shape 5"/>
          <p:cNvSpPr/>
          <p:nvPr/>
        </p:nvSpPr>
        <p:spPr>
          <a:xfrm>
            <a:off x="4754879" y="320039"/>
            <a:ext cx="4114802" cy="4271962"/>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18" name="pasted-movie.png" descr="pasted-movie.png"/>
          <p:cNvPicPr>
            <a:picLocks noChangeAspect="1"/>
          </p:cNvPicPr>
          <p:nvPr/>
        </p:nvPicPr>
        <p:blipFill>
          <a:blip r:embed="rId4">
            <a:extLst/>
          </a:blip>
          <a:stretch>
            <a:fillRect/>
          </a:stretch>
        </p:blipFill>
        <p:spPr>
          <a:xfrm>
            <a:off x="4862126" y="469900"/>
            <a:ext cx="3910127" cy="3660301"/>
          </a:xfrm>
          <a:prstGeom prst="rect">
            <a:avLst/>
          </a:prstGeom>
          <a:ln w="12700">
            <a:miter lim="400000"/>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32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EXPLAIN FEATURE</a:t>
            </a:r>
          </a:p>
        </p:txBody>
      </p:sp>
      <p:sp>
        <p:nvSpPr>
          <p:cNvPr id="32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Understand why your</a:t>
            </a:r>
          </a:p>
          <a:p>
            <a:pPr>
              <a:lnSpc>
                <a:spcPct val="115000"/>
              </a:lnSpc>
              <a:defRPr b="1" sz="2000">
                <a:solidFill>
                  <a:srgbClr val="1A2332"/>
                </a:solidFill>
                <a:latin typeface="Georgia"/>
                <a:ea typeface="Georgia"/>
                <a:cs typeface="Georgia"/>
                <a:sym typeface="Georgia"/>
              </a:defRPr>
            </a:pPr>
            <a:r>
              <a:t>metrics changed.</a:t>
            </a:r>
          </a:p>
        </p:txBody>
      </p:sp>
      <p:sp>
        <p:nvSpPr>
          <p:cNvPr id="322" name="Text 2"/>
          <p:cNvSpPr txBox="1"/>
          <p:nvPr/>
        </p:nvSpPr>
        <p:spPr>
          <a:xfrm>
            <a:off x="731518" y="1733354"/>
            <a:ext cx="3657603" cy="8309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"why did spend change?" and get a driver breakdown by channel. Evidence-scored analysis shows exactly which channels drove the shift, with magnitude and direction. Suggested next steps let you investigate further or take action immediately.</a:t>
            </a:r>
          </a:p>
        </p:txBody>
      </p:sp>
      <p:pic>
        <p:nvPicPr>
          <p:cNvPr id="323" name="Image 0" descr="Image 0"/>
          <p:cNvPicPr>
            <a:picLocks noChangeAspect="1"/>
          </p:cNvPicPr>
          <p:nvPr/>
        </p:nvPicPr>
        <p:blipFill>
          <a:blip r:embed="rId2">
            <a:extLst/>
          </a:blip>
          <a:stretch>
            <a:fillRect/>
          </a:stretch>
        </p:blipFill>
        <p:spPr>
          <a:xfrm>
            <a:off x="731519" y="2880360"/>
            <a:ext cx="228602" cy="228602"/>
          </a:xfrm>
          <a:prstGeom prst="rect">
            <a:avLst/>
          </a:prstGeom>
          <a:ln w="12700">
            <a:miter lim="400000"/>
          </a:ln>
        </p:spPr>
      </p:pic>
      <p:sp>
        <p:nvSpPr>
          <p:cNvPr id="32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Driver analysis with evidence scoring</a:t>
            </a:r>
          </a:p>
        </p:txBody>
      </p:sp>
      <p:pic>
        <p:nvPicPr>
          <p:cNvPr id="325" name="Image 1" descr="Image 1"/>
          <p:cNvPicPr>
            <a:picLocks noChangeAspect="1"/>
          </p:cNvPicPr>
          <p:nvPr/>
        </p:nvPicPr>
        <p:blipFill>
          <a:blip r:embed="rId3">
            <a:extLst/>
          </a:blip>
          <a:stretch>
            <a:fillRect/>
          </a:stretch>
        </p:blipFill>
        <p:spPr>
          <a:xfrm>
            <a:off x="731519" y="3337559"/>
            <a:ext cx="228602" cy="228602"/>
          </a:xfrm>
          <a:prstGeom prst="rect">
            <a:avLst/>
          </a:prstGeom>
          <a:ln w="12700">
            <a:miter lim="400000"/>
          </a:ln>
        </p:spPr>
      </p:pic>
      <p:sp>
        <p:nvSpPr>
          <p:cNvPr id="32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327" name="Shape 5"/>
          <p:cNvSpPr/>
          <p:nvPr/>
        </p:nvSpPr>
        <p:spPr>
          <a:xfrm>
            <a:off x="4754879" y="645441"/>
            <a:ext cx="4114802" cy="3852618"/>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28" name="image-6-3.png" descr="image-6-3.png"/>
          <p:cNvPicPr>
            <a:picLocks noChangeAspect="1"/>
          </p:cNvPicPr>
          <p:nvPr/>
        </p:nvPicPr>
        <p:blipFill>
          <a:blip r:embed="rId4">
            <a:extLst/>
          </a:blip>
          <a:stretch>
            <a:fillRect/>
          </a:stretch>
        </p:blipFill>
        <p:spPr>
          <a:xfrm>
            <a:off x="4850784" y="755306"/>
            <a:ext cx="3922993" cy="3443458"/>
          </a:xfrm>
          <a:prstGeom prst="rect">
            <a:avLst/>
          </a:prstGeom>
          <a:ln w="12700">
            <a:miter lim="400000"/>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33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NATURAL LANGUAGE QUERYING</a:t>
            </a:r>
          </a:p>
        </p:txBody>
      </p:sp>
      <p:sp>
        <p:nvSpPr>
          <p:cNvPr id="33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From question to answer</a:t>
            </a:r>
          </a:p>
          <a:p>
            <a:pPr>
              <a:lnSpc>
                <a:spcPct val="115000"/>
              </a:lnSpc>
              <a:defRPr b="1" sz="2000">
                <a:solidFill>
                  <a:srgbClr val="1A2332"/>
                </a:solidFill>
                <a:latin typeface="Georgia"/>
                <a:ea typeface="Georgia"/>
                <a:cs typeface="Georgia"/>
                <a:sym typeface="Georgia"/>
              </a:defRPr>
            </a:pPr>
            <a:r>
              <a:t>in seconds, not days.</a:t>
            </a:r>
          </a:p>
        </p:txBody>
      </p:sp>
      <p:sp>
        <p:nvSpPr>
          <p:cNvPr id="332" name="Text 2"/>
          <p:cNvSpPr txBox="1"/>
          <p:nvPr/>
        </p:nvSpPr>
        <p:spPr>
          <a:xfrm>
            <a:off x="731518" y="1546841"/>
            <a:ext cx="3657603" cy="12954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questions in plain English. "Show me the top 5 campaigns by average D90 ROAS forecast, filtering only campaigns with more than $100 average daily spend for the month of January 2026" Lupe queries your unified data, builds the table, runs the analysis, and explains key observations. No SQL. No analyst bottleneck. Follow-up suggestions keep the conversation going.</a:t>
            </a:r>
          </a:p>
        </p:txBody>
      </p:sp>
      <p:pic>
        <p:nvPicPr>
          <p:cNvPr id="333" name="Image 0" descr="Image 0"/>
          <p:cNvPicPr>
            <a:picLocks noChangeAspect="1"/>
          </p:cNvPicPr>
          <p:nvPr/>
        </p:nvPicPr>
        <p:blipFill>
          <a:blip r:embed="rId2">
            <a:extLst/>
          </a:blip>
          <a:stretch>
            <a:fillRect/>
          </a:stretch>
        </p:blipFill>
        <p:spPr>
          <a:xfrm>
            <a:off x="731519" y="2971800"/>
            <a:ext cx="228602" cy="228600"/>
          </a:xfrm>
          <a:prstGeom prst="rect">
            <a:avLst/>
          </a:prstGeom>
          <a:ln w="12700">
            <a:miter lim="400000"/>
          </a:ln>
        </p:spPr>
      </p:pic>
      <p:sp>
        <p:nvSpPr>
          <p:cNvPr id="334" name="Text 3"/>
          <p:cNvSpPr txBox="1"/>
          <p:nvPr/>
        </p:nvSpPr>
        <p:spPr>
          <a:xfrm>
            <a:off x="1097280" y="301896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Chat interface with context-aware follow-ups</a:t>
            </a:r>
          </a:p>
        </p:txBody>
      </p:sp>
      <p:pic>
        <p:nvPicPr>
          <p:cNvPr id="335" name="Image 1" descr="Image 1"/>
          <p:cNvPicPr>
            <a:picLocks noChangeAspect="1"/>
          </p:cNvPicPr>
          <p:nvPr/>
        </p:nvPicPr>
        <p:blipFill>
          <a:blip r:embed="rId3">
            <a:extLst/>
          </a:blip>
          <a:stretch>
            <a:fillRect/>
          </a:stretch>
        </p:blipFill>
        <p:spPr>
          <a:xfrm>
            <a:off x="731519" y="3429000"/>
            <a:ext cx="228602" cy="228600"/>
          </a:xfrm>
          <a:prstGeom prst="rect">
            <a:avLst/>
          </a:prstGeom>
          <a:ln w="12700">
            <a:miter lim="400000"/>
          </a:ln>
        </p:spPr>
      </p:pic>
      <p:sp>
        <p:nvSpPr>
          <p:cNvPr id="336" name="Text 4"/>
          <p:cNvSpPr txBox="1"/>
          <p:nvPr/>
        </p:nvSpPr>
        <p:spPr>
          <a:xfrm>
            <a:off x="1097280" y="347616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337" name="Shape 5"/>
          <p:cNvSpPr/>
          <p:nvPr/>
        </p:nvSpPr>
        <p:spPr>
          <a:xfrm>
            <a:off x="4754879" y="637855"/>
            <a:ext cx="4114802" cy="386779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38" name="pasted-movie.png" descr="pasted-movie.png"/>
          <p:cNvPicPr>
            <a:picLocks noChangeAspect="1"/>
          </p:cNvPicPr>
          <p:nvPr/>
        </p:nvPicPr>
        <p:blipFill>
          <a:blip r:embed="rId4">
            <a:extLst/>
          </a:blip>
          <a:stretch>
            <a:fillRect/>
          </a:stretch>
        </p:blipFill>
        <p:spPr>
          <a:xfrm>
            <a:off x="4867593" y="816354"/>
            <a:ext cx="3889373" cy="3510792"/>
          </a:xfrm>
          <a:prstGeom prst="rect">
            <a:avLst/>
          </a:prstGeom>
          <a:ln w="12700">
            <a:miter lim="400000"/>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340" name="Text 0"/>
          <p:cNvSpPr txBox="1"/>
          <p:nvPr/>
        </p:nvSpPr>
        <p:spPr>
          <a:xfrm>
            <a:off x="731519" y="43438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JUSTPLAY ENGAGEMENT</a:t>
            </a:r>
          </a:p>
        </p:txBody>
      </p:sp>
      <p:sp>
        <p:nvSpPr>
          <p:cNvPr id="341" name="Text 1"/>
          <p:cNvSpPr txBox="1"/>
          <p:nvPr/>
        </p:nvSpPr>
        <p:spPr>
          <a:xfrm>
            <a:off x="731520" y="1582420"/>
            <a:ext cx="7680960"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600">
                <a:solidFill>
                  <a:srgbClr val="FFFFFF"/>
                </a:solidFill>
                <a:latin typeface="Georgia"/>
                <a:ea typeface="Georgia"/>
                <a:cs typeface="Georgia"/>
                <a:sym typeface="Georgia"/>
              </a:defRPr>
            </a:pPr>
            <a:r>
              <a:t>Your path to unified</a:t>
            </a:r>
          </a:p>
          <a:p>
            <a:pPr>
              <a:defRPr b="1" sz="3600">
                <a:solidFill>
                  <a:srgbClr val="FFFFFF"/>
                </a:solidFill>
                <a:latin typeface="Georgia"/>
                <a:ea typeface="Georgia"/>
                <a:cs typeface="Georgia"/>
                <a:sym typeface="Georgia"/>
              </a:defRPr>
            </a:pPr>
            <a:r>
              <a:t>marketing intelligence.</a:t>
            </a:r>
          </a:p>
        </p:txBody>
      </p:sp>
      <p:sp>
        <p:nvSpPr>
          <p:cNvPr id="342" name="Text 2"/>
          <p:cNvSpPr txBox="1"/>
          <p:nvPr/>
        </p:nvSpPr>
        <p:spPr>
          <a:xfrm>
            <a:off x="731520" y="2816388"/>
            <a:ext cx="7680960" cy="49370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8895A7"/>
                </a:solidFill>
              </a:defRPr>
            </a:pPr>
            <a:r>
              <a:t>A phased engagement built around JustPlay's</a:t>
            </a:r>
          </a:p>
          <a:p>
            <a:pPr>
              <a:lnSpc>
                <a:spcPct val="140000"/>
              </a:lnSpc>
              <a:defRPr sz="1400">
                <a:solidFill>
                  <a:srgbClr val="8895A7"/>
                </a:solidFill>
              </a:defRPr>
            </a:pPr>
            <a:r>
              <a:t>data landscape, team, and business goals.</a:t>
            </a:r>
          </a:p>
        </p:txBody>
      </p:sp>
      <p:sp>
        <p:nvSpPr>
          <p:cNvPr id="343" name="Shape 3"/>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345"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PHASE 1</a:t>
            </a:r>
          </a:p>
        </p:txBody>
      </p:sp>
      <p:sp>
        <p:nvSpPr>
          <p:cNvPr id="346" name="Text 1"/>
          <p:cNvSpPr txBox="1"/>
          <p:nvPr/>
        </p:nvSpPr>
        <p:spPr>
          <a:xfrm>
            <a:off x="731519" y="819784"/>
            <a:ext cx="41148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Data Audit &amp;</a:t>
            </a:r>
          </a:p>
          <a:p>
            <a:pPr>
              <a:lnSpc>
                <a:spcPct val="115000"/>
              </a:lnSpc>
              <a:defRPr b="1" sz="2000">
                <a:solidFill>
                  <a:srgbClr val="FFFFFF"/>
                </a:solidFill>
                <a:latin typeface="Georgia"/>
                <a:ea typeface="Georgia"/>
                <a:cs typeface="Georgia"/>
                <a:sym typeface="Georgia"/>
              </a:defRPr>
            </a:pPr>
            <a:r>
              <a:t>SSOT Planning</a:t>
            </a:r>
          </a:p>
        </p:txBody>
      </p:sp>
      <p:pic>
        <p:nvPicPr>
          <p:cNvPr id="347" name="Image 0" descr="Image 0"/>
          <p:cNvPicPr>
            <a:picLocks noChangeAspect="1"/>
          </p:cNvPicPr>
          <p:nvPr/>
        </p:nvPicPr>
        <p:blipFill>
          <a:blip r:embed="rId2">
            <a:extLst/>
          </a:blip>
          <a:stretch>
            <a:fillRect/>
          </a:stretch>
        </p:blipFill>
        <p:spPr>
          <a:xfrm>
            <a:off x="731519" y="1691639"/>
            <a:ext cx="164593" cy="164593"/>
          </a:xfrm>
          <a:prstGeom prst="rect">
            <a:avLst/>
          </a:prstGeom>
          <a:ln w="12700">
            <a:miter lim="400000"/>
          </a:ln>
        </p:spPr>
      </p:pic>
      <p:sp>
        <p:nvSpPr>
          <p:cNvPr id="348" name="Text 2"/>
          <p:cNvSpPr txBox="1"/>
          <p:nvPr/>
        </p:nvSpPr>
        <p:spPr>
          <a:xfrm>
            <a:off x="1005839" y="1673351"/>
            <a:ext cx="374904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Automated data audit: gaps, discrepancies, duplications across all granularities</a:t>
            </a:r>
          </a:p>
        </p:txBody>
      </p:sp>
      <p:pic>
        <p:nvPicPr>
          <p:cNvPr id="349" name="Image 1" descr="Image 1"/>
          <p:cNvPicPr>
            <a:picLocks noChangeAspect="1"/>
          </p:cNvPicPr>
          <p:nvPr/>
        </p:nvPicPr>
        <p:blipFill>
          <a:blip r:embed="rId2">
            <a:extLst/>
          </a:blip>
          <a:stretch>
            <a:fillRect/>
          </a:stretch>
        </p:blipFill>
        <p:spPr>
          <a:xfrm>
            <a:off x="731519" y="2039111"/>
            <a:ext cx="164593" cy="164593"/>
          </a:xfrm>
          <a:prstGeom prst="rect">
            <a:avLst/>
          </a:prstGeom>
          <a:ln w="12700">
            <a:miter lim="400000"/>
          </a:ln>
        </p:spPr>
      </p:pic>
      <p:sp>
        <p:nvSpPr>
          <p:cNvPr id="350" name="Text 3"/>
          <p:cNvSpPr txBox="1"/>
          <p:nvPr/>
        </p:nvSpPr>
        <p:spPr>
          <a:xfrm>
            <a:off x="1005839" y="2020823"/>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App initialisation audit: ID consistency across all data sources</a:t>
            </a:r>
          </a:p>
        </p:txBody>
      </p:sp>
      <p:pic>
        <p:nvPicPr>
          <p:cNvPr id="351" name="Image 2" descr="Image 2"/>
          <p:cNvPicPr>
            <a:picLocks noChangeAspect="1"/>
          </p:cNvPicPr>
          <p:nvPr/>
        </p:nvPicPr>
        <p:blipFill>
          <a:blip r:embed="rId2">
            <a:extLst/>
          </a:blip>
          <a:stretch>
            <a:fillRect/>
          </a:stretch>
        </p:blipFill>
        <p:spPr>
          <a:xfrm>
            <a:off x="731519" y="2386583"/>
            <a:ext cx="164593" cy="164593"/>
          </a:xfrm>
          <a:prstGeom prst="rect">
            <a:avLst/>
          </a:prstGeom>
          <a:ln w="12700">
            <a:miter lim="400000"/>
          </a:ln>
        </p:spPr>
      </p:pic>
      <p:sp>
        <p:nvSpPr>
          <p:cNvPr id="352" name="Text 4"/>
          <p:cNvSpPr txBox="1"/>
          <p:nvPr/>
        </p:nvSpPr>
        <p:spPr>
          <a:xfrm>
            <a:off x="1005839" y="2368295"/>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Assessment of data quality, event taxonomy, and tracking consistency</a:t>
            </a:r>
          </a:p>
        </p:txBody>
      </p:sp>
      <p:pic>
        <p:nvPicPr>
          <p:cNvPr id="353" name="Image 3" descr="Image 3"/>
          <p:cNvPicPr>
            <a:picLocks noChangeAspect="1"/>
          </p:cNvPicPr>
          <p:nvPr/>
        </p:nvPicPr>
        <p:blipFill>
          <a:blip r:embed="rId2">
            <a:extLst/>
          </a:blip>
          <a:stretch>
            <a:fillRect/>
          </a:stretch>
        </p:blipFill>
        <p:spPr>
          <a:xfrm>
            <a:off x="731519" y="2734055"/>
            <a:ext cx="164593" cy="164593"/>
          </a:xfrm>
          <a:prstGeom prst="rect">
            <a:avLst/>
          </a:prstGeom>
          <a:ln w="12700">
            <a:miter lim="400000"/>
          </a:ln>
        </p:spPr>
      </p:pic>
      <p:sp>
        <p:nvSpPr>
          <p:cNvPr id="354" name="Text 5"/>
          <p:cNvSpPr txBox="1"/>
          <p:nvPr/>
        </p:nvSpPr>
        <p:spPr>
          <a:xfrm>
            <a:off x="1005839" y="2715767"/>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Mapping of existing attribution setup and gap identification</a:t>
            </a:r>
          </a:p>
        </p:txBody>
      </p:sp>
      <p:pic>
        <p:nvPicPr>
          <p:cNvPr id="355" name="Image 4" descr="Image 4"/>
          <p:cNvPicPr>
            <a:picLocks noChangeAspect="1"/>
          </p:cNvPicPr>
          <p:nvPr/>
        </p:nvPicPr>
        <p:blipFill>
          <a:blip r:embed="rId2">
            <a:extLst/>
          </a:blip>
          <a:stretch>
            <a:fillRect/>
          </a:stretch>
        </p:blipFill>
        <p:spPr>
          <a:xfrm>
            <a:off x="731519" y="3081527"/>
            <a:ext cx="164593" cy="164593"/>
          </a:xfrm>
          <a:prstGeom prst="rect">
            <a:avLst/>
          </a:prstGeom>
          <a:ln w="12700">
            <a:miter lim="400000"/>
          </a:ln>
        </p:spPr>
      </p:pic>
      <p:sp>
        <p:nvSpPr>
          <p:cNvPr id="356" name="Text 6"/>
          <p:cNvSpPr txBox="1"/>
          <p:nvPr/>
        </p:nvSpPr>
        <p:spPr>
          <a:xfrm>
            <a:off x="1005839" y="3063239"/>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SSOT architecture design: data model, table structure, refresh cadence</a:t>
            </a:r>
          </a:p>
        </p:txBody>
      </p:sp>
      <p:pic>
        <p:nvPicPr>
          <p:cNvPr id="357" name="Image 5" descr="Image 5"/>
          <p:cNvPicPr>
            <a:picLocks noChangeAspect="1"/>
          </p:cNvPicPr>
          <p:nvPr/>
        </p:nvPicPr>
        <p:blipFill>
          <a:blip r:embed="rId2">
            <a:extLst/>
          </a:blip>
          <a:stretch>
            <a:fillRect/>
          </a:stretch>
        </p:blipFill>
        <p:spPr>
          <a:xfrm>
            <a:off x="731519" y="3429000"/>
            <a:ext cx="164593" cy="164593"/>
          </a:xfrm>
          <a:prstGeom prst="rect">
            <a:avLst/>
          </a:prstGeom>
          <a:ln w="12700">
            <a:miter lim="400000"/>
          </a:ln>
        </p:spPr>
      </p:pic>
      <p:sp>
        <p:nvSpPr>
          <p:cNvPr id="358" name="Text 7"/>
          <p:cNvSpPr txBox="1"/>
          <p:nvPr/>
        </p:nvSpPr>
        <p:spPr>
          <a:xfrm>
            <a:off x="1005839" y="3410711"/>
            <a:ext cx="374904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Joint review and sign-off session with technical and marketing stakeholders</a:t>
            </a:r>
          </a:p>
        </p:txBody>
      </p:sp>
      <p:sp>
        <p:nvSpPr>
          <p:cNvPr id="359" name="Shape 8"/>
          <p:cNvSpPr/>
          <p:nvPr/>
        </p:nvSpPr>
        <p:spPr>
          <a:xfrm>
            <a:off x="5029200" y="1691639"/>
            <a:ext cx="3657600" cy="2651761"/>
          </a:xfrm>
          <a:prstGeom prst="rect">
            <a:avLst/>
          </a:prstGeom>
          <a:solidFill>
            <a:srgbClr val="1F2D40"/>
          </a:solidFill>
          <a:ln w="12700">
            <a:miter lim="400000"/>
          </a:ln>
        </p:spPr>
        <p:txBody>
          <a:bodyPr lIns="45718" tIns="45718" rIns="45718" bIns="45718"/>
          <a:lstStyle/>
          <a:p>
            <a:pPr/>
          </a:p>
        </p:txBody>
      </p:sp>
      <p:sp>
        <p:nvSpPr>
          <p:cNvPr id="360" name="Text 9"/>
          <p:cNvSpPr txBox="1"/>
          <p:nvPr/>
        </p:nvSpPr>
        <p:spPr>
          <a:xfrm>
            <a:off x="5212079" y="1882579"/>
            <a:ext cx="32918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3AADAD"/>
                </a:solidFill>
              </a:defRPr>
            </a:lvl1pPr>
          </a:lstStyle>
          <a:p>
            <a:pPr/>
            <a:r>
              <a:t>Deliverables</a:t>
            </a:r>
          </a:p>
        </p:txBody>
      </p:sp>
      <p:pic>
        <p:nvPicPr>
          <p:cNvPr id="361" name="Image 6" descr="Image 6"/>
          <p:cNvPicPr>
            <a:picLocks noChangeAspect="1"/>
          </p:cNvPicPr>
          <p:nvPr/>
        </p:nvPicPr>
        <p:blipFill>
          <a:blip r:embed="rId3">
            <a:extLst/>
          </a:blip>
          <a:stretch>
            <a:fillRect/>
          </a:stretch>
        </p:blipFill>
        <p:spPr>
          <a:xfrm>
            <a:off x="5212079" y="2286000"/>
            <a:ext cx="164593" cy="164593"/>
          </a:xfrm>
          <a:prstGeom prst="rect">
            <a:avLst/>
          </a:prstGeom>
          <a:ln w="12700">
            <a:miter lim="400000"/>
          </a:ln>
        </p:spPr>
      </p:pic>
      <p:sp>
        <p:nvSpPr>
          <p:cNvPr id="362" name="Text 10"/>
          <p:cNvSpPr txBox="1"/>
          <p:nvPr/>
        </p:nvSpPr>
        <p:spPr>
          <a:xfrm>
            <a:off x="5486400" y="2297233"/>
            <a:ext cx="3017521"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Instructions for your data engineers to fix missing or incomplete data streams</a:t>
            </a:r>
          </a:p>
        </p:txBody>
      </p:sp>
      <p:pic>
        <p:nvPicPr>
          <p:cNvPr id="363" name="Image 7" descr="Image 7"/>
          <p:cNvPicPr>
            <a:picLocks noChangeAspect="1"/>
          </p:cNvPicPr>
          <p:nvPr/>
        </p:nvPicPr>
        <p:blipFill>
          <a:blip r:embed="rId3">
            <a:extLst/>
          </a:blip>
          <a:stretch>
            <a:fillRect/>
          </a:stretch>
        </p:blipFill>
        <p:spPr>
          <a:xfrm>
            <a:off x="5212079" y="2788920"/>
            <a:ext cx="164593" cy="164593"/>
          </a:xfrm>
          <a:prstGeom prst="rect">
            <a:avLst/>
          </a:prstGeom>
          <a:ln w="12700">
            <a:miter lim="400000"/>
          </a:ln>
        </p:spPr>
      </p:pic>
      <p:sp>
        <p:nvSpPr>
          <p:cNvPr id="364" name="Text 11"/>
          <p:cNvSpPr txBox="1"/>
          <p:nvPr/>
        </p:nvSpPr>
        <p:spPr>
          <a:xfrm>
            <a:off x="5486400" y="290326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Project definition and timeline for Phase 2</a:t>
            </a:r>
          </a:p>
        </p:txBody>
      </p:sp>
      <p:pic>
        <p:nvPicPr>
          <p:cNvPr id="365" name="Image 8" descr="Image 8"/>
          <p:cNvPicPr>
            <a:picLocks noChangeAspect="1"/>
          </p:cNvPicPr>
          <p:nvPr/>
        </p:nvPicPr>
        <p:blipFill>
          <a:blip r:embed="rId3">
            <a:extLst/>
          </a:blip>
          <a:stretch>
            <a:fillRect/>
          </a:stretch>
        </p:blipFill>
        <p:spPr>
          <a:xfrm>
            <a:off x="5212079" y="3291840"/>
            <a:ext cx="164593" cy="164593"/>
          </a:xfrm>
          <a:prstGeom prst="rect">
            <a:avLst/>
          </a:prstGeom>
          <a:ln w="12700">
            <a:miter lim="400000"/>
          </a:ln>
        </p:spPr>
      </p:pic>
      <p:sp>
        <p:nvSpPr>
          <p:cNvPr id="366" name="Text 12"/>
          <p:cNvSpPr txBox="1"/>
          <p:nvPr/>
        </p:nvSpPr>
        <p:spPr>
          <a:xfrm>
            <a:off x="5486400" y="3303074"/>
            <a:ext cx="3017521"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Canonical user catalog schema to be implemented in Phase 2</a:t>
            </a:r>
          </a:p>
        </p:txBody>
      </p:sp>
      <p:sp>
        <p:nvSpPr>
          <p:cNvPr id="367" name="Text 13"/>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Phase 2 does not start until deliverables are reviewed and signed 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369"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PHASE 2</a:t>
            </a:r>
          </a:p>
        </p:txBody>
      </p:sp>
      <p:sp>
        <p:nvSpPr>
          <p:cNvPr id="370"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Data Foundation: Marketing,</a:t>
            </a:r>
          </a:p>
          <a:p>
            <a:pPr>
              <a:lnSpc>
                <a:spcPct val="115000"/>
              </a:lnSpc>
              <a:defRPr b="1" sz="2000">
                <a:solidFill>
                  <a:srgbClr val="1A2332"/>
                </a:solidFill>
                <a:latin typeface="Georgia"/>
                <a:ea typeface="Georgia"/>
                <a:cs typeface="Georgia"/>
                <a:sym typeface="Georgia"/>
              </a:defRPr>
            </a:pPr>
            <a:r>
              <a:t>Product Data &amp; User Catalog</a:t>
            </a:r>
          </a:p>
        </p:txBody>
      </p:sp>
      <p:sp>
        <p:nvSpPr>
          <p:cNvPr id="371" name="Shape 2"/>
          <p:cNvSpPr/>
          <p:nvPr/>
        </p:nvSpPr>
        <p:spPr>
          <a:xfrm>
            <a:off x="365759" y="1691639"/>
            <a:ext cx="2651762" cy="274320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372" name="Text 3"/>
          <p:cNvSpPr txBox="1"/>
          <p:nvPr/>
        </p:nvSpPr>
        <p:spPr>
          <a:xfrm>
            <a:off x="502919" y="1864667"/>
            <a:ext cx="2377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User-Level Attribution</a:t>
            </a:r>
          </a:p>
        </p:txBody>
      </p:sp>
      <p:pic>
        <p:nvPicPr>
          <p:cNvPr id="373" name="Image 0" descr="Image 0"/>
          <p:cNvPicPr>
            <a:picLocks noChangeAspect="1"/>
          </p:cNvPicPr>
          <p:nvPr/>
        </p:nvPicPr>
        <p:blipFill>
          <a:blip r:embed="rId2">
            <a:extLst/>
          </a:blip>
          <a:stretch>
            <a:fillRect/>
          </a:stretch>
        </p:blipFill>
        <p:spPr>
          <a:xfrm>
            <a:off x="502919" y="2240279"/>
            <a:ext cx="164593" cy="164593"/>
          </a:xfrm>
          <a:prstGeom prst="rect">
            <a:avLst/>
          </a:prstGeom>
          <a:ln w="12700">
            <a:miter lim="400000"/>
          </a:ln>
        </p:spPr>
      </p:pic>
      <p:sp>
        <p:nvSpPr>
          <p:cNvPr id="374" name="Text 4"/>
          <p:cNvSpPr txBox="1"/>
          <p:nvPr/>
        </p:nvSpPr>
        <p:spPr>
          <a:xfrm>
            <a:off x="749807" y="2212848"/>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SAN networks: full iOS visibility</a:t>
            </a:r>
          </a:p>
        </p:txBody>
      </p:sp>
      <p:pic>
        <p:nvPicPr>
          <p:cNvPr id="375" name="Image 1" descr="Image 1"/>
          <p:cNvPicPr>
            <a:picLocks noChangeAspect="1"/>
          </p:cNvPicPr>
          <p:nvPr/>
        </p:nvPicPr>
        <p:blipFill>
          <a:blip r:embed="rId2">
            <a:extLst/>
          </a:blip>
          <a:stretch>
            <a:fillRect/>
          </a:stretch>
        </p:blipFill>
        <p:spPr>
          <a:xfrm>
            <a:off x="502919" y="2624327"/>
            <a:ext cx="164593" cy="164593"/>
          </a:xfrm>
          <a:prstGeom prst="rect">
            <a:avLst/>
          </a:prstGeom>
          <a:ln w="12700">
            <a:miter lim="400000"/>
          </a:ln>
        </p:spPr>
      </p:pic>
      <p:sp>
        <p:nvSpPr>
          <p:cNvPr id="376" name="Text 5"/>
          <p:cNvSpPr txBox="1"/>
          <p:nvPr/>
        </p:nvSpPr>
        <p:spPr>
          <a:xfrm>
            <a:off x="749807" y="2596895"/>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Google: iOS attribution</a:t>
            </a:r>
          </a:p>
        </p:txBody>
      </p:sp>
      <p:pic>
        <p:nvPicPr>
          <p:cNvPr id="377" name="Image 2" descr="Image 2"/>
          <p:cNvPicPr>
            <a:picLocks noChangeAspect="1"/>
          </p:cNvPicPr>
          <p:nvPr/>
        </p:nvPicPr>
        <p:blipFill>
          <a:blip r:embed="rId2">
            <a:extLst/>
          </a:blip>
          <a:stretch>
            <a:fillRect/>
          </a:stretch>
        </p:blipFill>
        <p:spPr>
          <a:xfrm>
            <a:off x="502919" y="3008376"/>
            <a:ext cx="164593" cy="164593"/>
          </a:xfrm>
          <a:prstGeom prst="rect">
            <a:avLst/>
          </a:prstGeom>
          <a:ln w="12700">
            <a:miter lim="400000"/>
          </a:ln>
        </p:spPr>
      </p:pic>
      <p:sp>
        <p:nvSpPr>
          <p:cNvPr id="378" name="Text 6"/>
          <p:cNvSpPr txBox="1"/>
          <p:nvPr/>
        </p:nvSpPr>
        <p:spPr>
          <a:xfrm>
            <a:off x="749807" y="2980944"/>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Meta iOS: AEM-based attribution</a:t>
            </a:r>
          </a:p>
        </p:txBody>
      </p:sp>
      <p:pic>
        <p:nvPicPr>
          <p:cNvPr id="379" name="Image 3" descr="Image 3"/>
          <p:cNvPicPr>
            <a:picLocks noChangeAspect="1"/>
          </p:cNvPicPr>
          <p:nvPr/>
        </p:nvPicPr>
        <p:blipFill>
          <a:blip r:embed="rId2">
            <a:extLst/>
          </a:blip>
          <a:stretch>
            <a:fillRect/>
          </a:stretch>
        </p:blipFill>
        <p:spPr>
          <a:xfrm>
            <a:off x="502919" y="3392423"/>
            <a:ext cx="164593" cy="164593"/>
          </a:xfrm>
          <a:prstGeom prst="rect">
            <a:avLst/>
          </a:prstGeom>
          <a:ln w="12700">
            <a:miter lim="400000"/>
          </a:ln>
        </p:spPr>
      </p:pic>
      <p:sp>
        <p:nvSpPr>
          <p:cNvPr id="380" name="Text 7"/>
          <p:cNvSpPr txBox="1"/>
          <p:nvPr/>
        </p:nvSpPr>
        <p:spPr>
          <a:xfrm>
            <a:off x="749807" y="3364991"/>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Meta: Android full visibility</a:t>
            </a:r>
          </a:p>
        </p:txBody>
      </p:sp>
      <p:pic>
        <p:nvPicPr>
          <p:cNvPr id="381" name="Image 4" descr="Image 4"/>
          <p:cNvPicPr>
            <a:picLocks noChangeAspect="1"/>
          </p:cNvPicPr>
          <p:nvPr/>
        </p:nvPicPr>
        <p:blipFill>
          <a:blip r:embed="rId2">
            <a:extLst/>
          </a:blip>
          <a:stretch>
            <a:fillRect/>
          </a:stretch>
        </p:blipFill>
        <p:spPr>
          <a:xfrm>
            <a:off x="502919" y="3776471"/>
            <a:ext cx="164593" cy="164593"/>
          </a:xfrm>
          <a:prstGeom prst="rect">
            <a:avLst/>
          </a:prstGeom>
          <a:ln w="12700">
            <a:miter lim="400000"/>
          </a:ln>
        </p:spPr>
      </p:pic>
      <p:sp>
        <p:nvSpPr>
          <p:cNvPr id="382" name="Text 8"/>
          <p:cNvSpPr txBox="1"/>
          <p:nvPr/>
        </p:nvSpPr>
        <p:spPr>
          <a:xfrm>
            <a:off x="749807" y="3749040"/>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Revenue + spend at user level</a:t>
            </a:r>
          </a:p>
        </p:txBody>
      </p:sp>
      <p:sp>
        <p:nvSpPr>
          <p:cNvPr id="383" name="Shape 9"/>
          <p:cNvSpPr/>
          <p:nvPr/>
        </p:nvSpPr>
        <p:spPr>
          <a:xfrm>
            <a:off x="3291840" y="1691639"/>
            <a:ext cx="2651761" cy="274320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384" name="Text 10"/>
          <p:cNvSpPr txBox="1"/>
          <p:nvPr/>
        </p:nvSpPr>
        <p:spPr>
          <a:xfrm>
            <a:off x="3429000" y="1864667"/>
            <a:ext cx="237744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Product Data</a:t>
            </a:r>
          </a:p>
        </p:txBody>
      </p:sp>
      <p:pic>
        <p:nvPicPr>
          <p:cNvPr id="385" name="Image 5" descr="Image 5"/>
          <p:cNvPicPr>
            <a:picLocks noChangeAspect="1"/>
          </p:cNvPicPr>
          <p:nvPr/>
        </p:nvPicPr>
        <p:blipFill>
          <a:blip r:embed="rId2">
            <a:extLst/>
          </a:blip>
          <a:stretch>
            <a:fillRect/>
          </a:stretch>
        </p:blipFill>
        <p:spPr>
          <a:xfrm>
            <a:off x="3429000" y="2240279"/>
            <a:ext cx="164593" cy="164593"/>
          </a:xfrm>
          <a:prstGeom prst="rect">
            <a:avLst/>
          </a:prstGeom>
          <a:ln w="12700">
            <a:miter lim="400000"/>
          </a:ln>
        </p:spPr>
      </p:pic>
      <p:sp>
        <p:nvSpPr>
          <p:cNvPr id="386" name="Text 11"/>
          <p:cNvSpPr txBox="1"/>
          <p:nvPr/>
        </p:nvSpPr>
        <p:spPr>
          <a:xfrm>
            <a:off x="3675888" y="2212848"/>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Normalisation at user level</a:t>
            </a:r>
          </a:p>
        </p:txBody>
      </p:sp>
      <p:pic>
        <p:nvPicPr>
          <p:cNvPr id="387" name="Image 6" descr="Image 6"/>
          <p:cNvPicPr>
            <a:picLocks noChangeAspect="1"/>
          </p:cNvPicPr>
          <p:nvPr/>
        </p:nvPicPr>
        <p:blipFill>
          <a:blip r:embed="rId2">
            <a:extLst/>
          </a:blip>
          <a:stretch>
            <a:fillRect/>
          </a:stretch>
        </p:blipFill>
        <p:spPr>
          <a:xfrm>
            <a:off x="3429000" y="2624327"/>
            <a:ext cx="164593" cy="164593"/>
          </a:xfrm>
          <a:prstGeom prst="rect">
            <a:avLst/>
          </a:prstGeom>
          <a:ln w="12700">
            <a:miter lim="400000"/>
          </a:ln>
        </p:spPr>
      </p:pic>
      <p:sp>
        <p:nvSpPr>
          <p:cNvPr id="388" name="Text 12"/>
          <p:cNvSpPr txBox="1"/>
          <p:nvPr/>
        </p:nvSpPr>
        <p:spPr>
          <a:xfrm>
            <a:off x="3675888" y="2596895"/>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Agreed event taxonomy from Phase 1</a:t>
            </a:r>
          </a:p>
        </p:txBody>
      </p:sp>
      <p:pic>
        <p:nvPicPr>
          <p:cNvPr id="389" name="Image 7" descr="Image 7"/>
          <p:cNvPicPr>
            <a:picLocks noChangeAspect="1"/>
          </p:cNvPicPr>
          <p:nvPr/>
        </p:nvPicPr>
        <p:blipFill>
          <a:blip r:embed="rId2">
            <a:extLst/>
          </a:blip>
          <a:stretch>
            <a:fillRect/>
          </a:stretch>
        </p:blipFill>
        <p:spPr>
          <a:xfrm>
            <a:off x="3429000" y="3008376"/>
            <a:ext cx="164593" cy="164593"/>
          </a:xfrm>
          <a:prstGeom prst="rect">
            <a:avLst/>
          </a:prstGeom>
          <a:ln w="12700">
            <a:miter lim="400000"/>
          </a:ln>
        </p:spPr>
      </p:pic>
      <p:sp>
        <p:nvSpPr>
          <p:cNvPr id="390" name="Text 13"/>
          <p:cNvSpPr txBox="1"/>
          <p:nvPr/>
        </p:nvSpPr>
        <p:spPr>
          <a:xfrm>
            <a:off x="3675888" y="2980944"/>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Transformation logic documented</a:t>
            </a:r>
          </a:p>
        </p:txBody>
      </p:sp>
      <p:sp>
        <p:nvSpPr>
          <p:cNvPr id="391" name="Shape 14"/>
          <p:cNvSpPr/>
          <p:nvPr/>
        </p:nvSpPr>
        <p:spPr>
          <a:xfrm>
            <a:off x="6217920" y="1691639"/>
            <a:ext cx="2651761" cy="274320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392" name="Text 15"/>
          <p:cNvSpPr txBox="1"/>
          <p:nvPr/>
        </p:nvSpPr>
        <p:spPr>
          <a:xfrm>
            <a:off x="6355079" y="1864667"/>
            <a:ext cx="2377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User Catalog &amp; QA</a:t>
            </a:r>
          </a:p>
        </p:txBody>
      </p:sp>
      <p:pic>
        <p:nvPicPr>
          <p:cNvPr id="393" name="Image 8" descr="Image 8"/>
          <p:cNvPicPr>
            <a:picLocks noChangeAspect="1"/>
          </p:cNvPicPr>
          <p:nvPr/>
        </p:nvPicPr>
        <p:blipFill>
          <a:blip r:embed="rId2">
            <a:extLst/>
          </a:blip>
          <a:stretch>
            <a:fillRect/>
          </a:stretch>
        </p:blipFill>
        <p:spPr>
          <a:xfrm>
            <a:off x="6355079" y="2240279"/>
            <a:ext cx="164593" cy="164593"/>
          </a:xfrm>
          <a:prstGeom prst="rect">
            <a:avLst/>
          </a:prstGeom>
          <a:ln w="12700">
            <a:miter lim="400000"/>
          </a:ln>
        </p:spPr>
      </p:pic>
      <p:sp>
        <p:nvSpPr>
          <p:cNvPr id="394" name="Text 16"/>
          <p:cNvSpPr txBox="1"/>
          <p:nvPr/>
        </p:nvSpPr>
        <p:spPr>
          <a:xfrm>
            <a:off x="6601968" y="2212848"/>
            <a:ext cx="2103121"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Identity resolution: device, user, MMP IDs unified</a:t>
            </a:r>
          </a:p>
        </p:txBody>
      </p:sp>
      <p:pic>
        <p:nvPicPr>
          <p:cNvPr id="395" name="Image 9" descr="Image 9"/>
          <p:cNvPicPr>
            <a:picLocks noChangeAspect="1"/>
          </p:cNvPicPr>
          <p:nvPr/>
        </p:nvPicPr>
        <p:blipFill>
          <a:blip r:embed="rId2">
            <a:extLst/>
          </a:blip>
          <a:stretch>
            <a:fillRect/>
          </a:stretch>
        </p:blipFill>
        <p:spPr>
          <a:xfrm>
            <a:off x="6355079" y="2624327"/>
            <a:ext cx="164593" cy="164593"/>
          </a:xfrm>
          <a:prstGeom prst="rect">
            <a:avLst/>
          </a:prstGeom>
          <a:ln w="12700">
            <a:miter lim="400000"/>
          </a:ln>
        </p:spPr>
      </p:pic>
      <p:sp>
        <p:nvSpPr>
          <p:cNvPr id="396" name="Text 17"/>
          <p:cNvSpPr txBox="1"/>
          <p:nvPr/>
        </p:nvSpPr>
        <p:spPr>
          <a:xfrm>
            <a:off x="6601968" y="2596895"/>
            <a:ext cx="2103121" cy="2541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Automated validation: completeness, freshness, join integrity</a:t>
            </a:r>
          </a:p>
        </p:txBody>
      </p:sp>
      <p:pic>
        <p:nvPicPr>
          <p:cNvPr id="397" name="Image 10" descr="Image 10"/>
          <p:cNvPicPr>
            <a:picLocks noChangeAspect="1"/>
          </p:cNvPicPr>
          <p:nvPr/>
        </p:nvPicPr>
        <p:blipFill>
          <a:blip r:embed="rId2">
            <a:extLst/>
          </a:blip>
          <a:stretch>
            <a:fillRect/>
          </a:stretch>
        </p:blipFill>
        <p:spPr>
          <a:xfrm>
            <a:off x="6355079" y="3008376"/>
            <a:ext cx="164593" cy="164593"/>
          </a:xfrm>
          <a:prstGeom prst="rect">
            <a:avLst/>
          </a:prstGeom>
          <a:ln w="12700">
            <a:miter lim="400000"/>
          </a:ln>
        </p:spPr>
      </p:pic>
      <p:sp>
        <p:nvSpPr>
          <p:cNvPr id="398" name="Text 18"/>
          <p:cNvSpPr txBox="1"/>
          <p:nvPr/>
        </p:nvSpPr>
        <p:spPr>
          <a:xfrm>
            <a:off x="6601968" y="2980944"/>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Full documentation of all tables and fields</a:t>
            </a:r>
          </a:p>
        </p:txBody>
      </p:sp>
      <p:sp>
        <p:nvSpPr>
          <p:cNvPr id="399" name="Text 19"/>
          <p:cNvSpPr txBox="1"/>
          <p:nvPr/>
        </p:nvSpPr>
        <p:spPr>
          <a:xfrm>
            <a:off x="731520" y="468634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000">
                <a:solidFill>
                  <a:srgbClr val="2A8A8A"/>
                </a:solidFill>
              </a:defRPr>
            </a:lvl1pPr>
          </a:lstStyle>
          <a:p>
            <a:pPr/>
            <a:r>
              <a:t>Dependency: JustPlay's data team delivers ingestion pipelines for all agreed sources before Phase 2 starts.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401"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PHASE 3</a:t>
            </a:r>
          </a:p>
        </p:txBody>
      </p:sp>
      <p:sp>
        <p:nvSpPr>
          <p:cNvPr id="402"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Activation: Production,</a:t>
            </a:r>
          </a:p>
          <a:p>
            <a:pPr>
              <a:lnSpc>
                <a:spcPct val="115000"/>
              </a:lnSpc>
              <a:defRPr b="1" sz="2000">
                <a:solidFill>
                  <a:srgbClr val="FFFFFF"/>
                </a:solidFill>
                <a:latin typeface="Georgia"/>
                <a:ea typeface="Georgia"/>
                <a:cs typeface="Georgia"/>
                <a:sym typeface="Georgia"/>
              </a:defRPr>
            </a:pPr>
            <a:r>
              <a:t>Backfill &amp; Migration Support</a:t>
            </a:r>
          </a:p>
        </p:txBody>
      </p:sp>
      <p:sp>
        <p:nvSpPr>
          <p:cNvPr id="403" name="Text 2"/>
          <p:cNvSpPr txBox="1"/>
          <p:nvPr/>
        </p:nvSpPr>
        <p:spPr>
          <a:xfrm>
            <a:off x="731520" y="1738806"/>
            <a:ext cx="768096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8895A7"/>
                </a:solidFill>
              </a:defRPr>
            </a:lvl1pPr>
          </a:lstStyle>
          <a:p>
            <a:pPr/>
            <a:r>
              <a:t>Move the SSOT from build to production. Your team migrates existing dashboards and reports. We support the transition.</a:t>
            </a:r>
          </a:p>
        </p:txBody>
      </p:sp>
      <p:pic>
        <p:nvPicPr>
          <p:cNvPr id="404" name="Image 0" descr="Image 0"/>
          <p:cNvPicPr>
            <a:picLocks noChangeAspect="1"/>
          </p:cNvPicPr>
          <p:nvPr/>
        </p:nvPicPr>
        <p:blipFill>
          <a:blip r:embed="rId2">
            <a:extLst/>
          </a:blip>
          <a:stretch>
            <a:fillRect/>
          </a:stretch>
        </p:blipFill>
        <p:spPr>
          <a:xfrm>
            <a:off x="457200" y="2331720"/>
            <a:ext cx="256032" cy="256033"/>
          </a:xfrm>
          <a:prstGeom prst="rect">
            <a:avLst/>
          </a:prstGeom>
          <a:ln w="12700">
            <a:miter lim="400000"/>
          </a:ln>
        </p:spPr>
      </p:pic>
      <p:sp>
        <p:nvSpPr>
          <p:cNvPr id="405" name="Text 3"/>
          <p:cNvSpPr txBox="1"/>
          <p:nvPr/>
        </p:nvSpPr>
        <p:spPr>
          <a:xfrm>
            <a:off x="822960" y="235602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Incremental refresh</a:t>
            </a:r>
          </a:p>
        </p:txBody>
      </p:sp>
      <p:sp>
        <p:nvSpPr>
          <p:cNvPr id="406" name="Text 4"/>
          <p:cNvSpPr txBox="1"/>
          <p:nvPr/>
        </p:nvSpPr>
        <p:spPr>
          <a:xfrm>
            <a:off x="822960" y="262894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All master tables running on production cadence</a:t>
            </a:r>
          </a:p>
        </p:txBody>
      </p:sp>
      <p:pic>
        <p:nvPicPr>
          <p:cNvPr id="407" name="Image 1" descr="Image 1"/>
          <p:cNvPicPr>
            <a:picLocks noChangeAspect="1"/>
          </p:cNvPicPr>
          <p:nvPr/>
        </p:nvPicPr>
        <p:blipFill>
          <a:blip r:embed="rId3">
            <a:extLst/>
          </a:blip>
          <a:stretch>
            <a:fillRect/>
          </a:stretch>
        </p:blipFill>
        <p:spPr>
          <a:xfrm>
            <a:off x="4800600" y="2331720"/>
            <a:ext cx="256032" cy="256033"/>
          </a:xfrm>
          <a:prstGeom prst="rect">
            <a:avLst/>
          </a:prstGeom>
          <a:ln w="12700">
            <a:miter lim="400000"/>
          </a:ln>
        </p:spPr>
      </p:pic>
      <p:sp>
        <p:nvSpPr>
          <p:cNvPr id="408" name="Text 5"/>
          <p:cNvSpPr txBox="1"/>
          <p:nvPr/>
        </p:nvSpPr>
        <p:spPr>
          <a:xfrm>
            <a:off x="5166359" y="235602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Historical backfill</a:t>
            </a:r>
          </a:p>
        </p:txBody>
      </p:sp>
      <p:sp>
        <p:nvSpPr>
          <p:cNvPr id="409" name="Text 6"/>
          <p:cNvSpPr txBox="1"/>
          <p:nvPr/>
        </p:nvSpPr>
        <p:spPr>
          <a:xfrm>
            <a:off x="5166359" y="262894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Full backfill for the agreed lookback period</a:t>
            </a:r>
          </a:p>
        </p:txBody>
      </p:sp>
      <p:pic>
        <p:nvPicPr>
          <p:cNvPr id="410" name="Image 2" descr="Image 2"/>
          <p:cNvPicPr>
            <a:picLocks noChangeAspect="1"/>
          </p:cNvPicPr>
          <p:nvPr/>
        </p:nvPicPr>
        <p:blipFill>
          <a:blip r:embed="rId4">
            <a:extLst/>
          </a:blip>
          <a:stretch>
            <a:fillRect/>
          </a:stretch>
        </p:blipFill>
        <p:spPr>
          <a:xfrm>
            <a:off x="457200" y="3108960"/>
            <a:ext cx="256032" cy="256033"/>
          </a:xfrm>
          <a:prstGeom prst="rect">
            <a:avLst/>
          </a:prstGeom>
          <a:ln w="12700">
            <a:miter lim="400000"/>
          </a:ln>
        </p:spPr>
      </p:pic>
      <p:sp>
        <p:nvSpPr>
          <p:cNvPr id="411" name="Text 7"/>
          <p:cNvSpPr txBox="1"/>
          <p:nvPr/>
        </p:nvSpPr>
        <p:spPr>
          <a:xfrm>
            <a:off x="822960" y="313326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Data quality monitoring</a:t>
            </a:r>
          </a:p>
        </p:txBody>
      </p:sp>
      <p:sp>
        <p:nvSpPr>
          <p:cNvPr id="412" name="Text 8"/>
          <p:cNvSpPr txBox="1"/>
          <p:nvPr/>
        </p:nvSpPr>
        <p:spPr>
          <a:xfrm>
            <a:off x="822960" y="340618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Alerting on pipeline failures, gaps, and anomalies</a:t>
            </a:r>
          </a:p>
        </p:txBody>
      </p:sp>
      <p:pic>
        <p:nvPicPr>
          <p:cNvPr id="413" name="Image 3" descr="Image 3"/>
          <p:cNvPicPr>
            <a:picLocks noChangeAspect="1"/>
          </p:cNvPicPr>
          <p:nvPr/>
        </p:nvPicPr>
        <p:blipFill>
          <a:blip r:embed="rId5">
            <a:extLst/>
          </a:blip>
          <a:stretch>
            <a:fillRect/>
          </a:stretch>
        </p:blipFill>
        <p:spPr>
          <a:xfrm>
            <a:off x="4800600" y="3108960"/>
            <a:ext cx="256032" cy="256033"/>
          </a:xfrm>
          <a:prstGeom prst="rect">
            <a:avLst/>
          </a:prstGeom>
          <a:ln w="12700">
            <a:miter lim="400000"/>
          </a:ln>
        </p:spPr>
      </p:pic>
      <p:sp>
        <p:nvSpPr>
          <p:cNvPr id="414" name="Text 9"/>
          <p:cNvSpPr txBox="1"/>
          <p:nvPr/>
        </p:nvSpPr>
        <p:spPr>
          <a:xfrm>
            <a:off x="5166359" y="313326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Migration support</a:t>
            </a:r>
          </a:p>
        </p:txBody>
      </p:sp>
      <p:sp>
        <p:nvSpPr>
          <p:cNvPr id="415" name="Text 10"/>
          <p:cNvSpPr txBox="1"/>
          <p:nvPr/>
        </p:nvSpPr>
        <p:spPr>
          <a:xfrm>
            <a:off x="5166359" y="340618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Technical support while your team migrates dashboards</a:t>
            </a:r>
          </a:p>
        </p:txBody>
      </p:sp>
      <p:pic>
        <p:nvPicPr>
          <p:cNvPr id="416" name="Image 4" descr="Image 4"/>
          <p:cNvPicPr>
            <a:picLocks noChangeAspect="1"/>
          </p:cNvPicPr>
          <p:nvPr/>
        </p:nvPicPr>
        <p:blipFill>
          <a:blip r:embed="rId6">
            <a:extLst/>
          </a:blip>
          <a:stretch>
            <a:fillRect/>
          </a:stretch>
        </p:blipFill>
        <p:spPr>
          <a:xfrm>
            <a:off x="457200" y="3886200"/>
            <a:ext cx="256032" cy="256032"/>
          </a:xfrm>
          <a:prstGeom prst="rect">
            <a:avLst/>
          </a:prstGeom>
          <a:ln w="12700">
            <a:miter lim="400000"/>
          </a:ln>
        </p:spPr>
      </p:pic>
      <p:sp>
        <p:nvSpPr>
          <p:cNvPr id="417" name="Text 11"/>
          <p:cNvSpPr txBox="1"/>
          <p:nvPr/>
        </p:nvSpPr>
        <p:spPr>
          <a:xfrm>
            <a:off x="822960" y="3910505"/>
            <a:ext cx="14630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Handover + runbook</a:t>
            </a:r>
          </a:p>
        </p:txBody>
      </p:sp>
      <p:sp>
        <p:nvSpPr>
          <p:cNvPr id="418" name="Text 12"/>
          <p:cNvSpPr txBox="1"/>
          <p:nvPr/>
        </p:nvSpPr>
        <p:spPr>
          <a:xfrm>
            <a:off x="822960" y="418342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Documentation for ongoing operations</a:t>
            </a:r>
          </a:p>
        </p:txBody>
      </p:sp>
      <p:pic>
        <p:nvPicPr>
          <p:cNvPr id="419" name="Image 5" descr="Image 5"/>
          <p:cNvPicPr>
            <a:picLocks noChangeAspect="1"/>
          </p:cNvPicPr>
          <p:nvPr/>
        </p:nvPicPr>
        <p:blipFill>
          <a:blip r:embed="rId7">
            <a:extLst/>
          </a:blip>
          <a:stretch>
            <a:fillRect/>
          </a:stretch>
        </p:blipFill>
        <p:spPr>
          <a:xfrm>
            <a:off x="4800600" y="3886200"/>
            <a:ext cx="256032" cy="256032"/>
          </a:xfrm>
          <a:prstGeom prst="rect">
            <a:avLst/>
          </a:prstGeom>
          <a:ln w="12700">
            <a:miter lim="400000"/>
          </a:ln>
        </p:spPr>
      </p:pic>
      <p:sp>
        <p:nvSpPr>
          <p:cNvPr id="420" name="Text 13"/>
          <p:cNvSpPr txBox="1"/>
          <p:nvPr/>
        </p:nvSpPr>
        <p:spPr>
          <a:xfrm>
            <a:off x="5166359" y="3910505"/>
            <a:ext cx="14630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Two-week hypercare</a:t>
            </a:r>
          </a:p>
        </p:txBody>
      </p:sp>
      <p:sp>
        <p:nvSpPr>
          <p:cNvPr id="421" name="Text 14"/>
          <p:cNvSpPr txBox="1"/>
          <p:nvPr/>
        </p:nvSpPr>
        <p:spPr>
          <a:xfrm>
            <a:off x="5166359" y="418342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Post-migration monitoring and issue resolution</a:t>
            </a:r>
          </a:p>
        </p:txBody>
      </p:sp>
      <p:sp>
        <p:nvSpPr>
          <p:cNvPr id="422" name="Text 15"/>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JustPlay's team must have capacity allocated for dashboard migration in parallel.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424"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PHASE 4</a:t>
            </a:r>
          </a:p>
        </p:txBody>
      </p:sp>
      <p:sp>
        <p:nvSpPr>
          <p:cNvPr id="425"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AI-Ready Data: Semantic</a:t>
            </a:r>
          </a:p>
          <a:p>
            <a:pPr>
              <a:lnSpc>
                <a:spcPct val="115000"/>
              </a:lnSpc>
              <a:defRPr b="1" sz="2000">
                <a:solidFill>
                  <a:srgbClr val="1A2332"/>
                </a:solidFill>
                <a:latin typeface="Georgia"/>
                <a:ea typeface="Georgia"/>
                <a:cs typeface="Georgia"/>
                <a:sym typeface="Georgia"/>
              </a:defRPr>
            </a:pPr>
            <a:r>
              <a:t>Layer &amp; Base pLTV</a:t>
            </a:r>
          </a:p>
        </p:txBody>
      </p:sp>
      <p:sp>
        <p:nvSpPr>
          <p:cNvPr id="426" name="Shape 2"/>
          <p:cNvSpPr/>
          <p:nvPr/>
        </p:nvSpPr>
        <p:spPr>
          <a:xfrm>
            <a:off x="457199" y="1691639"/>
            <a:ext cx="3931922" cy="292608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27" name="Text 3"/>
          <p:cNvSpPr txBox="1"/>
          <p:nvPr/>
        </p:nvSpPr>
        <p:spPr>
          <a:xfrm>
            <a:off x="640079" y="1882579"/>
            <a:ext cx="356616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2332"/>
                </a:solidFill>
              </a:defRPr>
            </a:lvl1pPr>
          </a:lstStyle>
          <a:p>
            <a:pPr/>
            <a:r>
              <a:t>Semantic Layer</a:t>
            </a:r>
          </a:p>
        </p:txBody>
      </p:sp>
      <p:pic>
        <p:nvPicPr>
          <p:cNvPr id="428" name="Image 0" descr="Image 0"/>
          <p:cNvPicPr>
            <a:picLocks noChangeAspect="1"/>
          </p:cNvPicPr>
          <p:nvPr/>
        </p:nvPicPr>
        <p:blipFill>
          <a:blip r:embed="rId2">
            <a:extLst/>
          </a:blip>
          <a:stretch>
            <a:fillRect/>
          </a:stretch>
        </p:blipFill>
        <p:spPr>
          <a:xfrm>
            <a:off x="640080" y="2286000"/>
            <a:ext cx="182881" cy="182880"/>
          </a:xfrm>
          <a:prstGeom prst="rect">
            <a:avLst/>
          </a:prstGeom>
          <a:ln w="12700">
            <a:miter lim="400000"/>
          </a:ln>
        </p:spPr>
      </p:pic>
      <p:sp>
        <p:nvSpPr>
          <p:cNvPr id="429" name="Text 4"/>
          <p:cNvSpPr txBox="1"/>
          <p:nvPr/>
        </p:nvSpPr>
        <p:spPr>
          <a:xfrm>
            <a:off x="914399" y="2315522"/>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Encode JustPlay's business logic and metric definitions into a governed layer</a:t>
            </a:r>
          </a:p>
        </p:txBody>
      </p:sp>
      <p:pic>
        <p:nvPicPr>
          <p:cNvPr id="430" name="Image 1" descr="Image 1"/>
          <p:cNvPicPr>
            <a:picLocks noChangeAspect="1"/>
          </p:cNvPicPr>
          <p:nvPr/>
        </p:nvPicPr>
        <p:blipFill>
          <a:blip r:embed="rId2">
            <a:extLst/>
          </a:blip>
          <a:stretch>
            <a:fillRect/>
          </a:stretch>
        </p:blipFill>
        <p:spPr>
          <a:xfrm>
            <a:off x="640080" y="2788920"/>
            <a:ext cx="182881" cy="182881"/>
          </a:xfrm>
          <a:prstGeom prst="rect">
            <a:avLst/>
          </a:prstGeom>
          <a:ln w="12700">
            <a:miter lim="400000"/>
          </a:ln>
        </p:spPr>
      </p:pic>
      <p:sp>
        <p:nvSpPr>
          <p:cNvPr id="431" name="Text 5"/>
          <p:cNvSpPr txBox="1"/>
          <p:nvPr/>
        </p:nvSpPr>
        <p:spPr>
          <a:xfrm>
            <a:off x="914399" y="2818442"/>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Canonical definitions: ROAS, LTV, retention, installs aligned across all consumers</a:t>
            </a:r>
          </a:p>
        </p:txBody>
      </p:sp>
      <p:pic>
        <p:nvPicPr>
          <p:cNvPr id="432" name="Image 2" descr="Image 2"/>
          <p:cNvPicPr>
            <a:picLocks noChangeAspect="1"/>
          </p:cNvPicPr>
          <p:nvPr/>
        </p:nvPicPr>
        <p:blipFill>
          <a:blip r:embed="rId2">
            <a:extLst/>
          </a:blip>
          <a:stretch>
            <a:fillRect/>
          </a:stretch>
        </p:blipFill>
        <p:spPr>
          <a:xfrm>
            <a:off x="640080" y="3291840"/>
            <a:ext cx="182881" cy="182881"/>
          </a:xfrm>
          <a:prstGeom prst="rect">
            <a:avLst/>
          </a:prstGeom>
          <a:ln w="12700">
            <a:miter lim="400000"/>
          </a:ln>
        </p:spPr>
      </p:pic>
      <p:sp>
        <p:nvSpPr>
          <p:cNvPr id="433" name="Text 6"/>
          <p:cNvSpPr txBox="1"/>
          <p:nvPr/>
        </p:nvSpPr>
        <p:spPr>
          <a:xfrm>
            <a:off x="914399" y="3321362"/>
            <a:ext cx="3291842"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Structured workshop to capture and sign off all metric definitions</a:t>
            </a:r>
          </a:p>
        </p:txBody>
      </p:sp>
      <p:pic>
        <p:nvPicPr>
          <p:cNvPr id="434" name="Image 3" descr="Image 3"/>
          <p:cNvPicPr>
            <a:picLocks noChangeAspect="1"/>
          </p:cNvPicPr>
          <p:nvPr/>
        </p:nvPicPr>
        <p:blipFill>
          <a:blip r:embed="rId2">
            <a:extLst/>
          </a:blip>
          <a:stretch>
            <a:fillRect/>
          </a:stretch>
        </p:blipFill>
        <p:spPr>
          <a:xfrm>
            <a:off x="640080" y="3794759"/>
            <a:ext cx="182881" cy="182881"/>
          </a:xfrm>
          <a:prstGeom prst="rect">
            <a:avLst/>
          </a:prstGeom>
          <a:ln w="12700">
            <a:miter lim="400000"/>
          </a:ln>
        </p:spPr>
      </p:pic>
      <p:sp>
        <p:nvSpPr>
          <p:cNvPr id="435" name="Text 7"/>
          <p:cNvSpPr txBox="1"/>
          <p:nvPr/>
        </p:nvSpPr>
        <p:spPr>
          <a:xfrm>
            <a:off x="914399" y="392739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Every downstream feature works from the same numbers</a:t>
            </a:r>
          </a:p>
        </p:txBody>
      </p:sp>
      <p:sp>
        <p:nvSpPr>
          <p:cNvPr id="436" name="Shape 8"/>
          <p:cNvSpPr/>
          <p:nvPr/>
        </p:nvSpPr>
        <p:spPr>
          <a:xfrm>
            <a:off x="4754879" y="1691639"/>
            <a:ext cx="3931921" cy="292608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37" name="Text 9"/>
          <p:cNvSpPr txBox="1"/>
          <p:nvPr/>
        </p:nvSpPr>
        <p:spPr>
          <a:xfrm>
            <a:off x="4937759" y="1882579"/>
            <a:ext cx="356616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2A8A8A"/>
                </a:solidFill>
              </a:defRPr>
            </a:lvl1pPr>
          </a:lstStyle>
          <a:p>
            <a:pPr/>
            <a:r>
              <a:t>Base pLTV Prediction</a:t>
            </a:r>
          </a:p>
        </p:txBody>
      </p:sp>
      <p:pic>
        <p:nvPicPr>
          <p:cNvPr id="438" name="Image 4" descr="Image 4"/>
          <p:cNvPicPr>
            <a:picLocks noChangeAspect="1"/>
          </p:cNvPicPr>
          <p:nvPr/>
        </p:nvPicPr>
        <p:blipFill>
          <a:blip r:embed="rId2">
            <a:extLst/>
          </a:blip>
          <a:stretch>
            <a:fillRect/>
          </a:stretch>
        </p:blipFill>
        <p:spPr>
          <a:xfrm>
            <a:off x="4937759" y="2286000"/>
            <a:ext cx="182881" cy="182880"/>
          </a:xfrm>
          <a:prstGeom prst="rect">
            <a:avLst/>
          </a:prstGeom>
          <a:ln w="12700">
            <a:miter lim="400000"/>
          </a:ln>
        </p:spPr>
      </p:pic>
      <p:sp>
        <p:nvSpPr>
          <p:cNvPr id="439" name="Text 10"/>
          <p:cNvSpPr txBox="1"/>
          <p:nvPr/>
        </p:nvSpPr>
        <p:spPr>
          <a:xfrm>
            <a:off x="5212079" y="241863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Combined growth and log model approach</a:t>
            </a:r>
          </a:p>
        </p:txBody>
      </p:sp>
      <p:pic>
        <p:nvPicPr>
          <p:cNvPr id="440" name="Image 5" descr="Image 5"/>
          <p:cNvPicPr>
            <a:picLocks noChangeAspect="1"/>
          </p:cNvPicPr>
          <p:nvPr/>
        </p:nvPicPr>
        <p:blipFill>
          <a:blip r:embed="rId2">
            <a:extLst/>
          </a:blip>
          <a:stretch>
            <a:fillRect/>
          </a:stretch>
        </p:blipFill>
        <p:spPr>
          <a:xfrm>
            <a:off x="4937759" y="2788920"/>
            <a:ext cx="182881" cy="182881"/>
          </a:xfrm>
          <a:prstGeom prst="rect">
            <a:avLst/>
          </a:prstGeom>
          <a:ln w="12700">
            <a:miter lim="400000"/>
          </a:ln>
        </p:spPr>
      </p:pic>
      <p:sp>
        <p:nvSpPr>
          <p:cNvPr id="441" name="Text 11"/>
          <p:cNvSpPr txBox="1"/>
          <p:nvPr/>
        </p:nvSpPr>
        <p:spPr>
          <a:xfrm>
            <a:off x="5212079" y="292155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Available at user level on agreed refresh cadence</a:t>
            </a:r>
          </a:p>
        </p:txBody>
      </p:sp>
      <p:pic>
        <p:nvPicPr>
          <p:cNvPr id="442" name="Image 6" descr="Image 6"/>
          <p:cNvPicPr>
            <a:picLocks noChangeAspect="1"/>
          </p:cNvPicPr>
          <p:nvPr/>
        </p:nvPicPr>
        <p:blipFill>
          <a:blip r:embed="rId2">
            <a:extLst/>
          </a:blip>
          <a:stretch>
            <a:fillRect/>
          </a:stretch>
        </p:blipFill>
        <p:spPr>
          <a:xfrm>
            <a:off x="4937759" y="3291840"/>
            <a:ext cx="182881" cy="182881"/>
          </a:xfrm>
          <a:prstGeom prst="rect">
            <a:avLst/>
          </a:prstGeom>
          <a:ln w="12700">
            <a:miter lim="400000"/>
          </a:ln>
        </p:spPr>
      </p:pic>
      <p:sp>
        <p:nvSpPr>
          <p:cNvPr id="443" name="Text 12"/>
          <p:cNvSpPr txBox="1"/>
          <p:nvPr/>
        </p:nvSpPr>
        <p:spPr>
          <a:xfrm>
            <a:off x="5212079" y="342447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Use for benchmarking against any in-house models</a:t>
            </a:r>
          </a:p>
        </p:txBody>
      </p:sp>
      <p:pic>
        <p:nvPicPr>
          <p:cNvPr id="444" name="Image 7" descr="Image 7"/>
          <p:cNvPicPr>
            <a:picLocks noChangeAspect="1"/>
          </p:cNvPicPr>
          <p:nvPr/>
        </p:nvPicPr>
        <p:blipFill>
          <a:blip r:embed="rId2">
            <a:extLst/>
          </a:blip>
          <a:stretch>
            <a:fillRect/>
          </a:stretch>
        </p:blipFill>
        <p:spPr>
          <a:xfrm>
            <a:off x="4937759" y="3794759"/>
            <a:ext cx="182881" cy="182881"/>
          </a:xfrm>
          <a:prstGeom prst="rect">
            <a:avLst/>
          </a:prstGeom>
          <a:ln w="12700">
            <a:miter lim="400000"/>
          </a:ln>
        </p:spPr>
      </p:pic>
      <p:sp>
        <p:nvSpPr>
          <p:cNvPr id="445" name="Text 13"/>
          <p:cNvSpPr txBox="1"/>
          <p:nvPr/>
        </p:nvSpPr>
        <p:spPr>
          <a:xfrm>
            <a:off x="5212079" y="392739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Foundation for custom pLTV in Phase 5</a:t>
            </a:r>
          </a:p>
        </p:txBody>
      </p:sp>
      <p:sp>
        <p:nvSpPr>
          <p:cNvPr id="446" name="Text 14"/>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000">
                <a:solidFill>
                  <a:srgbClr val="2A8A8A"/>
                </a:solidFill>
              </a:defRPr>
            </a:lvl1pPr>
          </a:lstStyle>
          <a:p>
            <a:pPr/>
            <a:r>
              <a:t>Metric definitions must be signed off before build begins. Changes after sign-off require a change order.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448"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PHASE 5</a:t>
            </a:r>
          </a:p>
        </p:txBody>
      </p:sp>
      <p:sp>
        <p:nvSpPr>
          <p:cNvPr id="449"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Custom pLTV &amp;</a:t>
            </a:r>
          </a:p>
          <a:p>
            <a:pPr>
              <a:lnSpc>
                <a:spcPct val="115000"/>
              </a:lnSpc>
              <a:defRPr b="1" sz="2000">
                <a:solidFill>
                  <a:srgbClr val="FFFFFF"/>
                </a:solidFill>
                <a:latin typeface="Georgia"/>
                <a:ea typeface="Georgia"/>
                <a:cs typeface="Georgia"/>
                <a:sym typeface="Georgia"/>
              </a:defRPr>
            </a:pPr>
            <a:r>
              <a:t>CTV Attribution Models</a:t>
            </a:r>
          </a:p>
        </p:txBody>
      </p:sp>
      <p:sp>
        <p:nvSpPr>
          <p:cNvPr id="450" name="Shape 2"/>
          <p:cNvSpPr/>
          <p:nvPr/>
        </p:nvSpPr>
        <p:spPr>
          <a:xfrm>
            <a:off x="457199" y="1691639"/>
            <a:ext cx="3931922" cy="2560322"/>
          </a:xfrm>
          <a:prstGeom prst="rect">
            <a:avLst/>
          </a:prstGeom>
          <a:solidFill>
            <a:srgbClr val="1F2D40"/>
          </a:solidFill>
          <a:ln w="12700">
            <a:miter lim="400000"/>
          </a:ln>
        </p:spPr>
        <p:txBody>
          <a:bodyPr lIns="45718" tIns="45718" rIns="45718" bIns="45718"/>
          <a:lstStyle/>
          <a:p>
            <a:pPr/>
          </a:p>
        </p:txBody>
      </p:sp>
      <p:sp>
        <p:nvSpPr>
          <p:cNvPr id="451" name="Text 3"/>
          <p:cNvSpPr txBox="1"/>
          <p:nvPr/>
        </p:nvSpPr>
        <p:spPr>
          <a:xfrm>
            <a:off x="640079" y="1887527"/>
            <a:ext cx="35661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defRPr>
            </a:lvl1pPr>
          </a:lstStyle>
          <a:p>
            <a:pPr/>
            <a:r>
              <a:t>Custom pLTV + Payout Prediction</a:t>
            </a:r>
          </a:p>
        </p:txBody>
      </p:sp>
      <p:pic>
        <p:nvPicPr>
          <p:cNvPr id="452" name="Image 0" descr="Image 0"/>
          <p:cNvPicPr>
            <a:picLocks noChangeAspect="1"/>
          </p:cNvPicPr>
          <p:nvPr/>
        </p:nvPicPr>
        <p:blipFill>
          <a:blip r:embed="rId2">
            <a:extLst/>
          </a:blip>
          <a:stretch>
            <a:fillRect/>
          </a:stretch>
        </p:blipFill>
        <p:spPr>
          <a:xfrm>
            <a:off x="640080" y="2331720"/>
            <a:ext cx="164593" cy="164593"/>
          </a:xfrm>
          <a:prstGeom prst="rect">
            <a:avLst/>
          </a:prstGeom>
          <a:ln w="12700">
            <a:miter lim="400000"/>
          </a:ln>
        </p:spPr>
      </p:pic>
      <p:sp>
        <p:nvSpPr>
          <p:cNvPr id="453" name="Text 4"/>
          <p:cNvSpPr txBox="1"/>
          <p:nvPr/>
        </p:nvSpPr>
        <p:spPr>
          <a:xfrm>
            <a:off x="914399" y="2342954"/>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Benchmark multiple model approaches against base pLTV from Phase 4</a:t>
            </a:r>
          </a:p>
        </p:txBody>
      </p:sp>
      <p:pic>
        <p:nvPicPr>
          <p:cNvPr id="454" name="Image 1" descr="Image 1"/>
          <p:cNvPicPr>
            <a:picLocks noChangeAspect="1"/>
          </p:cNvPicPr>
          <p:nvPr/>
        </p:nvPicPr>
        <p:blipFill>
          <a:blip r:embed="rId2">
            <a:extLst/>
          </a:blip>
          <a:stretch>
            <a:fillRect/>
          </a:stretch>
        </p:blipFill>
        <p:spPr>
          <a:xfrm>
            <a:off x="640080" y="2834639"/>
            <a:ext cx="164593" cy="164593"/>
          </a:xfrm>
          <a:prstGeom prst="rect">
            <a:avLst/>
          </a:prstGeom>
          <a:ln w="12700">
            <a:miter lim="400000"/>
          </a:ln>
        </p:spPr>
      </p:pic>
      <p:sp>
        <p:nvSpPr>
          <p:cNvPr id="455" name="Text 5"/>
          <p:cNvSpPr txBox="1"/>
          <p:nvPr/>
        </p:nvSpPr>
        <p:spPr>
          <a:xfrm>
            <a:off x="914399" y="2845874"/>
            <a:ext cx="3291842"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Payout prediction: translate LTV signals into spend and bid guidance</a:t>
            </a:r>
          </a:p>
        </p:txBody>
      </p:sp>
      <p:pic>
        <p:nvPicPr>
          <p:cNvPr id="456" name="Image 2" descr="Image 2"/>
          <p:cNvPicPr>
            <a:picLocks noChangeAspect="1"/>
          </p:cNvPicPr>
          <p:nvPr/>
        </p:nvPicPr>
        <p:blipFill>
          <a:blip r:embed="rId2">
            <a:extLst/>
          </a:blip>
          <a:stretch>
            <a:fillRect/>
          </a:stretch>
        </p:blipFill>
        <p:spPr>
          <a:xfrm>
            <a:off x="640080" y="3337559"/>
            <a:ext cx="164593" cy="164593"/>
          </a:xfrm>
          <a:prstGeom prst="rect">
            <a:avLst/>
          </a:prstGeom>
          <a:ln w="12700">
            <a:miter lim="400000"/>
          </a:ln>
        </p:spPr>
      </p:pic>
      <p:sp>
        <p:nvSpPr>
          <p:cNvPr id="457" name="Text 6"/>
          <p:cNvSpPr txBox="1"/>
          <p:nvPr/>
        </p:nvSpPr>
        <p:spPr>
          <a:xfrm>
            <a:off x="914399" y="345190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Prediction horizon and target metric signed off before build</a:t>
            </a:r>
          </a:p>
        </p:txBody>
      </p:sp>
      <p:sp>
        <p:nvSpPr>
          <p:cNvPr id="458" name="Shape 7"/>
          <p:cNvSpPr/>
          <p:nvPr/>
        </p:nvSpPr>
        <p:spPr>
          <a:xfrm>
            <a:off x="4754879" y="1691639"/>
            <a:ext cx="3931921" cy="2560322"/>
          </a:xfrm>
          <a:prstGeom prst="rect">
            <a:avLst/>
          </a:prstGeom>
          <a:solidFill>
            <a:srgbClr val="1F2D40"/>
          </a:solidFill>
          <a:ln w="12700">
            <a:miter lim="400000"/>
          </a:ln>
        </p:spPr>
        <p:txBody>
          <a:bodyPr lIns="45718" tIns="45718" rIns="45718" bIns="45718"/>
          <a:lstStyle/>
          <a:p>
            <a:pPr/>
          </a:p>
        </p:txBody>
      </p:sp>
      <p:sp>
        <p:nvSpPr>
          <p:cNvPr id="459" name="Text 8"/>
          <p:cNvSpPr txBox="1"/>
          <p:nvPr/>
        </p:nvSpPr>
        <p:spPr>
          <a:xfrm>
            <a:off x="4937759" y="1887527"/>
            <a:ext cx="35661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3AADAD"/>
                </a:solidFill>
              </a:defRPr>
            </a:lvl1pPr>
          </a:lstStyle>
          <a:p>
            <a:pPr/>
            <a:r>
              <a:t>CTV Attribution Model</a:t>
            </a:r>
          </a:p>
        </p:txBody>
      </p:sp>
      <p:pic>
        <p:nvPicPr>
          <p:cNvPr id="460" name="Image 3" descr="Image 3"/>
          <p:cNvPicPr>
            <a:picLocks noChangeAspect="1"/>
          </p:cNvPicPr>
          <p:nvPr/>
        </p:nvPicPr>
        <p:blipFill>
          <a:blip r:embed="rId2">
            <a:extLst/>
          </a:blip>
          <a:stretch>
            <a:fillRect/>
          </a:stretch>
        </p:blipFill>
        <p:spPr>
          <a:xfrm>
            <a:off x="4937759" y="2331720"/>
            <a:ext cx="164593" cy="164593"/>
          </a:xfrm>
          <a:prstGeom prst="rect">
            <a:avLst/>
          </a:prstGeom>
          <a:ln w="12700">
            <a:miter lim="400000"/>
          </a:ln>
        </p:spPr>
      </p:pic>
      <p:sp>
        <p:nvSpPr>
          <p:cNvPr id="461" name="Text 9"/>
          <p:cNvSpPr txBox="1"/>
          <p:nvPr/>
        </p:nvSpPr>
        <p:spPr>
          <a:xfrm>
            <a:off x="5212079" y="2342954"/>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Probabilistic attribution using impression data and organic baseline</a:t>
            </a:r>
          </a:p>
        </p:txBody>
      </p:sp>
      <p:pic>
        <p:nvPicPr>
          <p:cNvPr id="462" name="Image 4" descr="Image 4"/>
          <p:cNvPicPr>
            <a:picLocks noChangeAspect="1"/>
          </p:cNvPicPr>
          <p:nvPr/>
        </p:nvPicPr>
        <p:blipFill>
          <a:blip r:embed="rId2">
            <a:extLst/>
          </a:blip>
          <a:stretch>
            <a:fillRect/>
          </a:stretch>
        </p:blipFill>
        <p:spPr>
          <a:xfrm>
            <a:off x="4937759" y="2834639"/>
            <a:ext cx="164593" cy="164593"/>
          </a:xfrm>
          <a:prstGeom prst="rect">
            <a:avLst/>
          </a:prstGeom>
          <a:ln w="12700">
            <a:miter lim="400000"/>
          </a:ln>
        </p:spPr>
      </p:pic>
      <p:sp>
        <p:nvSpPr>
          <p:cNvPr id="463" name="Text 10"/>
          <p:cNvSpPr txBox="1"/>
          <p:nvPr/>
        </p:nvSpPr>
        <p:spPr>
          <a:xfrm>
            <a:off x="5212079" y="294898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CTV contribution metrics integrated into campaign reporting</a:t>
            </a:r>
          </a:p>
        </p:txBody>
      </p:sp>
      <p:pic>
        <p:nvPicPr>
          <p:cNvPr id="464" name="Image 5" descr="Image 5"/>
          <p:cNvPicPr>
            <a:picLocks noChangeAspect="1"/>
          </p:cNvPicPr>
          <p:nvPr/>
        </p:nvPicPr>
        <p:blipFill>
          <a:blip r:embed="rId2">
            <a:extLst/>
          </a:blip>
          <a:stretch>
            <a:fillRect/>
          </a:stretch>
        </p:blipFill>
        <p:spPr>
          <a:xfrm>
            <a:off x="4937759" y="3337559"/>
            <a:ext cx="164593" cy="164593"/>
          </a:xfrm>
          <a:prstGeom prst="rect">
            <a:avLst/>
          </a:prstGeom>
          <a:ln w="12700">
            <a:miter lim="400000"/>
          </a:ln>
        </p:spPr>
      </p:pic>
      <p:sp>
        <p:nvSpPr>
          <p:cNvPr id="465" name="Text 11"/>
          <p:cNvSpPr txBox="1"/>
          <p:nvPr/>
        </p:nvSpPr>
        <p:spPr>
          <a:xfrm>
            <a:off x="5212079" y="345190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Documented methodology, assumptions, and known limitations</a:t>
            </a:r>
          </a:p>
        </p:txBody>
      </p:sp>
      <p:sp>
        <p:nvSpPr>
          <p:cNvPr id="466" name="Text 12"/>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CTV is not a priority today. This phase is available when the time is right.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468"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ONGOING</a:t>
            </a:r>
          </a:p>
        </p:txBody>
      </p:sp>
      <p:sp>
        <p:nvSpPr>
          <p:cNvPr id="469"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Continuous support.</a:t>
            </a:r>
          </a:p>
          <a:p>
            <a:pPr>
              <a:lnSpc>
                <a:spcPct val="115000"/>
              </a:lnSpc>
              <a:defRPr b="1" sz="2000">
                <a:solidFill>
                  <a:srgbClr val="1A2332"/>
                </a:solidFill>
                <a:latin typeface="Georgia"/>
                <a:ea typeface="Georgia"/>
                <a:cs typeface="Georgia"/>
                <a:sym typeface="Georgia"/>
              </a:defRPr>
            </a:pPr>
            <a:r>
              <a:t>Not a handoff.</a:t>
            </a:r>
          </a:p>
        </p:txBody>
      </p:sp>
      <p:sp>
        <p:nvSpPr>
          <p:cNvPr id="470" name="Shape 2"/>
          <p:cNvSpPr/>
          <p:nvPr/>
        </p:nvSpPr>
        <p:spPr>
          <a:xfrm>
            <a:off x="457199" y="1691639"/>
            <a:ext cx="3931922" cy="301752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71" name="Shape 3"/>
          <p:cNvSpPr/>
          <p:nvPr/>
        </p:nvSpPr>
        <p:spPr>
          <a:xfrm>
            <a:off x="457199" y="1691639"/>
            <a:ext cx="3931922" cy="45721"/>
          </a:xfrm>
          <a:prstGeom prst="rect">
            <a:avLst/>
          </a:prstGeom>
          <a:solidFill>
            <a:srgbClr val="2A8A8A"/>
          </a:solidFill>
          <a:ln w="12700">
            <a:miter lim="400000"/>
          </a:ln>
        </p:spPr>
        <p:txBody>
          <a:bodyPr lIns="45718" tIns="45718" rIns="45718" bIns="45718"/>
          <a:lstStyle/>
          <a:p>
            <a:pPr/>
          </a:p>
        </p:txBody>
      </p:sp>
      <p:sp>
        <p:nvSpPr>
          <p:cNvPr id="472" name="Text 4"/>
          <p:cNvSpPr txBox="1"/>
          <p:nvPr/>
        </p:nvSpPr>
        <p:spPr>
          <a:xfrm>
            <a:off x="640079" y="1924322"/>
            <a:ext cx="3566161" cy="4033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20000"/>
              </a:lnSpc>
              <a:defRPr b="1" sz="1300">
                <a:solidFill>
                  <a:srgbClr val="1A2332"/>
                </a:solidFill>
              </a:defRPr>
            </a:pPr>
            <a:r>
              <a:t>12-Month Platform Access</a:t>
            </a:r>
          </a:p>
          <a:p>
            <a:pPr>
              <a:lnSpc>
                <a:spcPct val="120000"/>
              </a:lnSpc>
              <a:defRPr b="1" sz="1300">
                <a:solidFill>
                  <a:srgbClr val="1A2332"/>
                </a:solidFill>
              </a:defRPr>
            </a:pPr>
            <a:r>
              <a:t>&amp; SSOT Support</a:t>
            </a:r>
          </a:p>
        </p:txBody>
      </p:sp>
      <p:pic>
        <p:nvPicPr>
          <p:cNvPr id="473" name="Image 0" descr="Image 0"/>
          <p:cNvPicPr>
            <a:picLocks noChangeAspect="1"/>
          </p:cNvPicPr>
          <p:nvPr/>
        </p:nvPicPr>
        <p:blipFill>
          <a:blip r:embed="rId2">
            <a:extLst/>
          </a:blip>
          <a:stretch>
            <a:fillRect/>
          </a:stretch>
        </p:blipFill>
        <p:spPr>
          <a:xfrm>
            <a:off x="640080" y="2514600"/>
            <a:ext cx="164593" cy="164593"/>
          </a:xfrm>
          <a:prstGeom prst="rect">
            <a:avLst/>
          </a:prstGeom>
          <a:ln w="12700">
            <a:miter lim="400000"/>
          </a:ln>
        </p:spPr>
      </p:pic>
      <p:sp>
        <p:nvSpPr>
          <p:cNvPr id="474" name="Text 5"/>
          <p:cNvSpPr txBox="1"/>
          <p:nvPr/>
        </p:nvSpPr>
        <p:spPr>
          <a:xfrm>
            <a:off x="914399" y="255579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Lupe console access</a:t>
            </a:r>
          </a:p>
        </p:txBody>
      </p:sp>
      <p:pic>
        <p:nvPicPr>
          <p:cNvPr id="475" name="Image 1" descr="Image 1"/>
          <p:cNvPicPr>
            <a:picLocks noChangeAspect="1"/>
          </p:cNvPicPr>
          <p:nvPr/>
        </p:nvPicPr>
        <p:blipFill>
          <a:blip r:embed="rId2">
            <a:extLst/>
          </a:blip>
          <a:stretch>
            <a:fillRect/>
          </a:stretch>
        </p:blipFill>
        <p:spPr>
          <a:xfrm>
            <a:off x="640080" y="2807207"/>
            <a:ext cx="164593" cy="164593"/>
          </a:xfrm>
          <a:prstGeom prst="rect">
            <a:avLst/>
          </a:prstGeom>
          <a:ln w="12700">
            <a:miter lim="400000"/>
          </a:ln>
        </p:spPr>
      </p:pic>
      <p:sp>
        <p:nvSpPr>
          <p:cNvPr id="476" name="Text 6"/>
          <p:cNvSpPr txBox="1"/>
          <p:nvPr/>
        </p:nvSpPr>
        <p:spPr>
          <a:xfrm>
            <a:off x="914399" y="2848400"/>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AI assistant</a:t>
            </a:r>
          </a:p>
        </p:txBody>
      </p:sp>
      <p:pic>
        <p:nvPicPr>
          <p:cNvPr id="477" name="Image 2" descr="Image 2"/>
          <p:cNvPicPr>
            <a:picLocks noChangeAspect="1"/>
          </p:cNvPicPr>
          <p:nvPr/>
        </p:nvPicPr>
        <p:blipFill>
          <a:blip r:embed="rId2">
            <a:extLst/>
          </a:blip>
          <a:stretch>
            <a:fillRect/>
          </a:stretch>
        </p:blipFill>
        <p:spPr>
          <a:xfrm>
            <a:off x="640080" y="3099816"/>
            <a:ext cx="164593" cy="164593"/>
          </a:xfrm>
          <a:prstGeom prst="rect">
            <a:avLst/>
          </a:prstGeom>
          <a:ln w="12700">
            <a:miter lim="400000"/>
          </a:ln>
        </p:spPr>
      </p:pic>
      <p:sp>
        <p:nvSpPr>
          <p:cNvPr id="478" name="Text 7"/>
          <p:cNvSpPr txBox="1"/>
          <p:nvPr/>
        </p:nvSpPr>
        <p:spPr>
          <a:xfrm>
            <a:off x="914399" y="3141008"/>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Automated reporting</a:t>
            </a:r>
          </a:p>
        </p:txBody>
      </p:sp>
      <p:pic>
        <p:nvPicPr>
          <p:cNvPr id="479" name="Image 3" descr="Image 3"/>
          <p:cNvPicPr>
            <a:picLocks noChangeAspect="1"/>
          </p:cNvPicPr>
          <p:nvPr/>
        </p:nvPicPr>
        <p:blipFill>
          <a:blip r:embed="rId2">
            <a:extLst/>
          </a:blip>
          <a:stretch>
            <a:fillRect/>
          </a:stretch>
        </p:blipFill>
        <p:spPr>
          <a:xfrm>
            <a:off x="640080" y="3392423"/>
            <a:ext cx="164593" cy="164593"/>
          </a:xfrm>
          <a:prstGeom prst="rect">
            <a:avLst/>
          </a:prstGeom>
          <a:ln w="12700">
            <a:miter lim="400000"/>
          </a:ln>
        </p:spPr>
      </p:pic>
      <p:sp>
        <p:nvSpPr>
          <p:cNvPr id="480" name="Text 8"/>
          <p:cNvSpPr txBox="1"/>
          <p:nvPr/>
        </p:nvSpPr>
        <p:spPr>
          <a:xfrm>
            <a:off x="914399" y="3433616"/>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Alerting</a:t>
            </a:r>
          </a:p>
        </p:txBody>
      </p:sp>
      <p:pic>
        <p:nvPicPr>
          <p:cNvPr id="481" name="Image 4" descr="Image 4"/>
          <p:cNvPicPr>
            <a:picLocks noChangeAspect="1"/>
          </p:cNvPicPr>
          <p:nvPr/>
        </p:nvPicPr>
        <p:blipFill>
          <a:blip r:embed="rId2">
            <a:extLst/>
          </a:blip>
          <a:stretch>
            <a:fillRect/>
          </a:stretch>
        </p:blipFill>
        <p:spPr>
          <a:xfrm>
            <a:off x="640080" y="3685032"/>
            <a:ext cx="164593" cy="164593"/>
          </a:xfrm>
          <a:prstGeom prst="rect">
            <a:avLst/>
          </a:prstGeom>
          <a:ln w="12700">
            <a:miter lim="400000"/>
          </a:ln>
        </p:spPr>
      </p:pic>
      <p:sp>
        <p:nvSpPr>
          <p:cNvPr id="482" name="Text 9"/>
          <p:cNvSpPr txBox="1"/>
          <p:nvPr/>
        </p:nvSpPr>
        <p:spPr>
          <a:xfrm>
            <a:off x="914399" y="372622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Ads Co-Pilot</a:t>
            </a:r>
          </a:p>
        </p:txBody>
      </p:sp>
      <p:pic>
        <p:nvPicPr>
          <p:cNvPr id="483" name="Image 5" descr="Image 5"/>
          <p:cNvPicPr>
            <a:picLocks noChangeAspect="1"/>
          </p:cNvPicPr>
          <p:nvPr/>
        </p:nvPicPr>
        <p:blipFill>
          <a:blip r:embed="rId2">
            <a:extLst/>
          </a:blip>
          <a:stretch>
            <a:fillRect/>
          </a:stretch>
        </p:blipFill>
        <p:spPr>
          <a:xfrm>
            <a:off x="640080" y="3977640"/>
            <a:ext cx="164593" cy="164593"/>
          </a:xfrm>
          <a:prstGeom prst="rect">
            <a:avLst/>
          </a:prstGeom>
          <a:ln w="12700">
            <a:miter lim="400000"/>
          </a:ln>
        </p:spPr>
      </p:pic>
      <p:sp>
        <p:nvSpPr>
          <p:cNvPr id="484" name="Text 10"/>
          <p:cNvSpPr txBox="1"/>
          <p:nvPr/>
        </p:nvSpPr>
        <p:spPr>
          <a:xfrm>
            <a:off x="914399" y="401883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Semantic layer maintenance</a:t>
            </a:r>
          </a:p>
        </p:txBody>
      </p:sp>
      <p:pic>
        <p:nvPicPr>
          <p:cNvPr id="485" name="Image 6" descr="Image 6"/>
          <p:cNvPicPr>
            <a:picLocks noChangeAspect="1"/>
          </p:cNvPicPr>
          <p:nvPr/>
        </p:nvPicPr>
        <p:blipFill>
          <a:blip r:embed="rId2">
            <a:extLst/>
          </a:blip>
          <a:stretch>
            <a:fillRect/>
          </a:stretch>
        </p:blipFill>
        <p:spPr>
          <a:xfrm>
            <a:off x="640080" y="4270247"/>
            <a:ext cx="164593" cy="164593"/>
          </a:xfrm>
          <a:prstGeom prst="rect">
            <a:avLst/>
          </a:prstGeom>
          <a:ln w="12700">
            <a:miter lim="400000"/>
          </a:ln>
        </p:spPr>
      </p:pic>
      <p:sp>
        <p:nvSpPr>
          <p:cNvPr id="486" name="Text 11"/>
          <p:cNvSpPr txBox="1"/>
          <p:nvPr/>
        </p:nvSpPr>
        <p:spPr>
          <a:xfrm>
            <a:off x="914399" y="4311440"/>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Quarterly business reviews</a:t>
            </a:r>
          </a:p>
        </p:txBody>
      </p:sp>
      <p:sp>
        <p:nvSpPr>
          <p:cNvPr id="487" name="Shape 12"/>
          <p:cNvSpPr/>
          <p:nvPr/>
        </p:nvSpPr>
        <p:spPr>
          <a:xfrm>
            <a:off x="4754879" y="1691639"/>
            <a:ext cx="3931921" cy="301752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88" name="Shape 13"/>
          <p:cNvSpPr/>
          <p:nvPr/>
        </p:nvSpPr>
        <p:spPr>
          <a:xfrm>
            <a:off x="4754879" y="1691639"/>
            <a:ext cx="3931921" cy="45721"/>
          </a:xfrm>
          <a:prstGeom prst="rect">
            <a:avLst/>
          </a:prstGeom>
          <a:solidFill>
            <a:srgbClr val="2A8A8A"/>
          </a:solidFill>
          <a:ln w="12700">
            <a:miter lim="400000"/>
          </a:ln>
        </p:spPr>
        <p:txBody>
          <a:bodyPr lIns="45718" tIns="45718" rIns="45718" bIns="45718"/>
          <a:lstStyle/>
          <a:p>
            <a:pPr/>
          </a:p>
        </p:txBody>
      </p:sp>
      <p:sp>
        <p:nvSpPr>
          <p:cNvPr id="489" name="Text 14"/>
          <p:cNvSpPr txBox="1"/>
          <p:nvPr/>
        </p:nvSpPr>
        <p:spPr>
          <a:xfrm>
            <a:off x="4937759" y="1924322"/>
            <a:ext cx="3566160" cy="4033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20000"/>
              </a:lnSpc>
              <a:defRPr b="1" sz="1300">
                <a:solidFill>
                  <a:srgbClr val="2A8A8A"/>
                </a:solidFill>
              </a:defRPr>
            </a:pPr>
            <a:r>
              <a:t>Model Maintenance</a:t>
            </a:r>
          </a:p>
          <a:p>
            <a:pPr>
              <a:lnSpc>
                <a:spcPct val="120000"/>
              </a:lnSpc>
              <a:defRPr b="1" sz="1300">
                <a:solidFill>
                  <a:srgbClr val="2A8A8A"/>
                </a:solidFill>
              </a:defRPr>
            </a:pPr>
            <a:r>
              <a:t>Retainer</a:t>
            </a:r>
          </a:p>
        </p:txBody>
      </p:sp>
      <p:pic>
        <p:nvPicPr>
          <p:cNvPr id="490" name="Image 7" descr="Image 7"/>
          <p:cNvPicPr>
            <a:picLocks noChangeAspect="1"/>
          </p:cNvPicPr>
          <p:nvPr/>
        </p:nvPicPr>
        <p:blipFill>
          <a:blip r:embed="rId3">
            <a:extLst/>
          </a:blip>
          <a:stretch>
            <a:fillRect/>
          </a:stretch>
        </p:blipFill>
        <p:spPr>
          <a:xfrm>
            <a:off x="4937759" y="2514600"/>
            <a:ext cx="164593" cy="164593"/>
          </a:xfrm>
          <a:prstGeom prst="rect">
            <a:avLst/>
          </a:prstGeom>
          <a:ln w="12700">
            <a:miter lim="400000"/>
          </a:ln>
        </p:spPr>
      </p:pic>
      <p:sp>
        <p:nvSpPr>
          <p:cNvPr id="491" name="Text 15"/>
          <p:cNvSpPr txBox="1"/>
          <p:nvPr/>
        </p:nvSpPr>
        <p:spPr>
          <a:xfrm>
            <a:off x="5212079" y="2574080"/>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Monthly pLTV performance monitoring</a:t>
            </a:r>
          </a:p>
        </p:txBody>
      </p:sp>
      <p:pic>
        <p:nvPicPr>
          <p:cNvPr id="492" name="Image 8" descr="Image 8"/>
          <p:cNvPicPr>
            <a:picLocks noChangeAspect="1"/>
          </p:cNvPicPr>
          <p:nvPr/>
        </p:nvPicPr>
        <p:blipFill>
          <a:blip r:embed="rId3">
            <a:extLst/>
          </a:blip>
          <a:stretch>
            <a:fillRect/>
          </a:stretch>
        </p:blipFill>
        <p:spPr>
          <a:xfrm>
            <a:off x="4937759" y="2862072"/>
            <a:ext cx="164593" cy="164593"/>
          </a:xfrm>
          <a:prstGeom prst="rect">
            <a:avLst/>
          </a:prstGeom>
          <a:ln w="12700">
            <a:miter lim="400000"/>
          </a:ln>
        </p:spPr>
      </p:pic>
      <p:sp>
        <p:nvSpPr>
          <p:cNvPr id="493" name="Text 16"/>
          <p:cNvSpPr txBox="1"/>
          <p:nvPr/>
        </p:nvSpPr>
        <p:spPr>
          <a:xfrm>
            <a:off x="5212079" y="292155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Quarterly model retraining</a:t>
            </a:r>
          </a:p>
        </p:txBody>
      </p:sp>
      <p:pic>
        <p:nvPicPr>
          <p:cNvPr id="494" name="Image 9" descr="Image 9"/>
          <p:cNvPicPr>
            <a:picLocks noChangeAspect="1"/>
          </p:cNvPicPr>
          <p:nvPr/>
        </p:nvPicPr>
        <p:blipFill>
          <a:blip r:embed="rId3">
            <a:extLst/>
          </a:blip>
          <a:stretch>
            <a:fillRect/>
          </a:stretch>
        </p:blipFill>
        <p:spPr>
          <a:xfrm>
            <a:off x="4937759" y="3209544"/>
            <a:ext cx="164593" cy="164593"/>
          </a:xfrm>
          <a:prstGeom prst="rect">
            <a:avLst/>
          </a:prstGeom>
          <a:ln w="12700">
            <a:miter lim="400000"/>
          </a:ln>
        </p:spPr>
      </p:pic>
      <p:sp>
        <p:nvSpPr>
          <p:cNvPr id="495" name="Text 17"/>
          <p:cNvSpPr txBox="1"/>
          <p:nvPr/>
        </p:nvSpPr>
        <p:spPr>
          <a:xfrm>
            <a:off x="5212079" y="326902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CTV recalibration</a:t>
            </a:r>
          </a:p>
        </p:txBody>
      </p:sp>
      <p:pic>
        <p:nvPicPr>
          <p:cNvPr id="496" name="Image 10" descr="Image 10"/>
          <p:cNvPicPr>
            <a:picLocks noChangeAspect="1"/>
          </p:cNvPicPr>
          <p:nvPr/>
        </p:nvPicPr>
        <p:blipFill>
          <a:blip r:embed="rId3">
            <a:extLst/>
          </a:blip>
          <a:stretch>
            <a:fillRect/>
          </a:stretch>
        </p:blipFill>
        <p:spPr>
          <a:xfrm>
            <a:off x="4937759" y="3557015"/>
            <a:ext cx="164593" cy="164593"/>
          </a:xfrm>
          <a:prstGeom prst="rect">
            <a:avLst/>
          </a:prstGeom>
          <a:ln w="12700">
            <a:miter lim="400000"/>
          </a:ln>
        </p:spPr>
      </p:pic>
      <p:sp>
        <p:nvSpPr>
          <p:cNvPr id="497" name="Text 18"/>
          <p:cNvSpPr txBox="1"/>
          <p:nvPr/>
        </p:nvSpPr>
        <p:spPr>
          <a:xfrm>
            <a:off x="5212079" y="3616496"/>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Written monthly performance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