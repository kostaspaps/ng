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72"/>
  </p:normalViewPr>
  <p:slideViewPr>
    <p:cSldViewPr snapToGrid="0" snapToObjects="1">
      <p:cViewPr varScale="1">
        <p:scale>
          <a:sx n="138" d="100"/>
          <a:sy n="138" d="100"/>
        </p:scale>
        <p:origin x="184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LUPE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0000"/>
            <a:ext cx="8229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JP Data Audit</a:t>
            </a:r>
            <a:br/>
            <a:r>
              <a:t>Findings &amp;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00000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Calibri"/>
              </a:defRPr>
            </a:pPr>
            <a:r>
              <a:t>We ran an automated audit on the data JP shared with us.</a:t>
            </a:r>
            <a:br/>
            <a:r>
              <a:t>Here's what we found — and where we think the next level of value sits.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00000"/>
            <a:ext cx="8229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7B"/>
                </a:solidFill>
                <a:latin typeface="Calibri"/>
              </a:defRPr>
            </a:pPr>
            <a:r>
              <a:t>What this deck covers: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00000"/>
            <a:ext cx="8229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B0"/>
                </a:solidFill>
                <a:latin typeface="Calibri"/>
              </a:defRPr>
            </a:pPr>
            <a:r>
              <a:t>  -&gt;  Audit results: campaign attribution, cohorts, payments, opt-in rates</a:t>
            </a:r>
          </a:p>
          <a:p>
            <a:pPr>
              <a:spcAft>
                <a:spcPts val="400"/>
              </a:spcAft>
              <a:defRPr sz="1200">
                <a:solidFill>
                  <a:srgbClr val="B0B0B0"/>
                </a:solidFill>
                <a:latin typeface="Calibri"/>
              </a:defRPr>
            </a:pPr>
            <a:r>
              <a:t>  -&gt;  One area worth looking at: creative-level matching</a:t>
            </a:r>
          </a:p>
          <a:p>
            <a:pPr>
              <a:spcAft>
                <a:spcPts val="400"/>
              </a:spcAft>
              <a:defRPr sz="1200">
                <a:solidFill>
                  <a:srgbClr val="B0B0B0"/>
                </a:solidFill>
                <a:latin typeface="Calibri"/>
              </a:defRPr>
            </a:pPr>
            <a:r>
              <a:t>  -&gt;  Opportunities beyond the audit: pLTV, forecasting, AI agents</a:t>
            </a:r>
          </a:p>
          <a:p>
            <a:pPr>
              <a:spcAft>
                <a:spcPts val="400"/>
              </a:spcAft>
              <a:defRPr sz="1200">
                <a:solidFill>
                  <a:srgbClr val="B0B0B0"/>
                </a:solidFill>
                <a:latin typeface="Calibri"/>
              </a:defRPr>
            </a:pPr>
            <a:r>
              <a:t>  -&gt;  How we'd work together if there's a fit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AUDIT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0000"/>
            <a:ext cx="8229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Your team has built</a:t>
            </a:r>
            <a:br/>
            <a:r>
              <a:t>something exceptional.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1900000" cy="13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200" y="1680000"/>
            <a:ext cx="1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B"/>
                </a:solidFill>
                <a:latin typeface="Calibri"/>
              </a:defRPr>
            </a:pPr>
            <a:r>
              <a:t>Campaign Attribution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200" y="1930000"/>
            <a:ext cx="1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99.5%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200" y="2300000"/>
            <a:ext cx="1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0B0"/>
                </a:solidFill>
                <a:latin typeface="Calibri"/>
              </a:defRPr>
            </a:pPr>
            <a:r>
              <a:t>match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200" y="2500000"/>
            <a:ext cx="1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08080"/>
                </a:solidFill>
                <a:latin typeface="Calibri"/>
              </a:defRPr>
            </a:pPr>
            <a:r>
              <a:t>Avg unmatched: 0.45%</a:t>
            </a:r>
            <a:br/>
            <a:r>
              <a:t>$280K-$340K daily spend</a:t>
            </a:r>
            <a:br/>
            <a:r>
              <a:t>Near-zero loss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57200" y="1600000"/>
            <a:ext cx="1900000" cy="13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7200" y="1680000"/>
            <a:ext cx="1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B"/>
                </a:solidFill>
                <a:latin typeface="Calibri"/>
              </a:defRPr>
            </a:pPr>
            <a:r>
              <a:t>Cohort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7200" y="1930000"/>
            <a:ext cx="1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99.5%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7200" y="2300000"/>
            <a:ext cx="1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0B0"/>
                </a:solidFill>
                <a:latin typeface="Calibri"/>
              </a:defRPr>
            </a:pPr>
            <a:r>
              <a:t>revenue matched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7200" y="2500000"/>
            <a:ext cx="1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08080"/>
                </a:solidFill>
                <a:latin typeface="Calibri"/>
              </a:defRPr>
            </a:pPr>
            <a:r>
              <a:t>~700K users/day tracked</a:t>
            </a:r>
            <a:br/>
            <a:r>
              <a:t>$1.3M+ daily revenue</a:t>
            </a:r>
            <a:br/>
            <a:r>
              <a:t>Minimal revenue loss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57200" y="1600000"/>
            <a:ext cx="1900000" cy="13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7200" y="1680000"/>
            <a:ext cx="1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B"/>
                </a:solidFill>
                <a:latin typeface="Calibri"/>
              </a:defRPr>
            </a:pPr>
            <a:r>
              <a:t>Payment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7200" y="1930000"/>
            <a:ext cx="1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99.5%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7200" y="2300000"/>
            <a:ext cx="1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0B0"/>
                </a:solidFill>
                <a:latin typeface="Calibri"/>
              </a:defRPr>
            </a:pPr>
            <a:r>
              <a:t>cashout matched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7200" y="2500000"/>
            <a:ext cx="1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08080"/>
                </a:solidFill>
                <a:latin typeface="Calibri"/>
              </a:defRPr>
            </a:pPr>
            <a:r>
              <a:t>~215K daily users</a:t>
            </a:r>
            <a:br/>
            <a:r>
              <a:t>$570K daily payouts</a:t>
            </a:r>
            <a:br/>
            <a:r>
              <a:t>Clean join integrity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57200" y="1600000"/>
            <a:ext cx="1900000" cy="13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7200" y="1680000"/>
            <a:ext cx="1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B"/>
                </a:solidFill>
                <a:latin typeface="Calibri"/>
              </a:defRPr>
            </a:pPr>
            <a:r>
              <a:t>Opt-In Rates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7200" y="1930000"/>
            <a:ext cx="1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86%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7200" y="2300000"/>
            <a:ext cx="1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0B0"/>
                </a:solidFill>
                <a:latin typeface="Calibri"/>
              </a:defRPr>
            </a:pPr>
            <a:r>
              <a:t>tracking enabled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7200" y="2500000"/>
            <a:ext cx="1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08080"/>
                </a:solidFill>
                <a:latin typeface="Calibri"/>
              </a:defRPr>
            </a:pPr>
            <a:r>
              <a:t>Well above industry avg</a:t>
            </a:r>
            <a:br/>
            <a:r>
              <a:t>Minimal tracking-limited</a:t>
            </a:r>
            <a:br/>
            <a:r>
              <a:t>Strong iOS foundation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200000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alibri"/>
              </a:defRPr>
            </a:pPr>
            <a:r>
              <a:t>These numbers are rare at this scale. Your data engineering investment shows.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AUDIT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0000"/>
            <a:ext cx="8229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One area worth looking at.</a:t>
            </a:r>
            <a:br/>
            <a:r>
              <a:t>It may not be a priority.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0000"/>
            <a:ext cx="3800000" cy="20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7200" y="1600000"/>
            <a:ext cx="3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Campaign-Level Attribution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7200" y="1900000"/>
            <a:ext cx="3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&lt; 1% unmatched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7200" y="2300000"/>
            <a:ext cx="3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0B0B0"/>
                </a:solidFill>
                <a:latin typeface="Calibri"/>
              </a:defRPr>
            </a:pPr>
            <a:r>
              <a:t>  -&gt;  510-550 matched campaigns/day</a:t>
            </a:r>
          </a:p>
          <a:p>
            <a:pPr>
              <a:spcAft>
                <a:spcPts val="400"/>
              </a:spcAft>
              <a:defRPr sz="1000">
                <a:solidFill>
                  <a:srgbClr val="B0B0B0"/>
                </a:solidFill>
                <a:latin typeface="Calibri"/>
              </a:defRPr>
            </a:pPr>
            <a:r>
              <a:t>  -&gt;  ~1,900-2,100 unmatched rows</a:t>
            </a:r>
          </a:p>
          <a:p>
            <a:pPr>
              <a:spcAft>
                <a:spcPts val="400"/>
              </a:spcAft>
              <a:defRPr sz="1000">
                <a:solidFill>
                  <a:srgbClr val="B0B0B0"/>
                </a:solidFill>
                <a:latin typeface="Calibri"/>
              </a:defRPr>
            </a:pPr>
            <a:r>
              <a:t>  -&gt;  But &lt; 1% of total spend affected</a:t>
            </a:r>
          </a:p>
          <a:p>
            <a:pPr>
              <a:spcAft>
                <a:spcPts val="400"/>
              </a:spcAft>
              <a:defRPr sz="1000">
                <a:solidFill>
                  <a:srgbClr val="B0B0B0"/>
                </a:solidFill>
                <a:latin typeface="Calibri"/>
              </a:defRPr>
            </a:pPr>
            <a:r>
              <a:t>  -&gt;  Production-grade quality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7200" y="1500000"/>
            <a:ext cx="3800000" cy="20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07200" y="1600000"/>
            <a:ext cx="3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700"/>
                </a:solidFill>
                <a:latin typeface="Calibri"/>
              </a:defRPr>
            </a:pPr>
            <a:r>
              <a:t>Creative-Level Attribution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7200" y="1900000"/>
            <a:ext cx="3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27-41% unmatched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7200" y="2300000"/>
            <a:ext cx="3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0B0B0"/>
                </a:solidFill>
                <a:latin typeface="Calibri"/>
              </a:defRPr>
            </a:pPr>
            <a:r>
              <a:t>  -&gt;  Complex creative naming conventions</a:t>
            </a:r>
          </a:p>
          <a:p>
            <a:pPr>
              <a:spcAft>
                <a:spcPts val="400"/>
              </a:spcAft>
              <a:defRPr sz="1000">
                <a:solidFill>
                  <a:srgbClr val="B0B0B0"/>
                </a:solidFill>
                <a:latin typeface="Calibri"/>
              </a:defRPr>
            </a:pPr>
            <a:r>
              <a:t>  -&gt;  Join logic breaks on naming patterns</a:t>
            </a:r>
          </a:p>
          <a:p>
            <a:pPr>
              <a:spcAft>
                <a:spcPts val="400"/>
              </a:spcAft>
              <a:defRPr sz="1000">
                <a:solidFill>
                  <a:srgbClr val="B0B0B0"/>
                </a:solidFill>
                <a:latin typeface="Calibri"/>
              </a:defRPr>
            </a:pPr>
            <a:r>
              <a:t>  -&gt;  ~$85K-$125K daily spend unattributed</a:t>
            </a:r>
          </a:p>
          <a:p>
            <a:pPr>
              <a:spcAft>
                <a:spcPts val="400"/>
              </a:spcAft>
              <a:defRPr sz="1000">
                <a:solidFill>
                  <a:srgbClr val="B0B0B0"/>
                </a:solidFill>
                <a:latin typeface="Calibri"/>
              </a:defRPr>
            </a:pPr>
            <a:r>
              <a:t>  -&gt;  A naming convention issue, not data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00000"/>
            <a:ext cx="8229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alibri"/>
              </a:defRPr>
            </a:pPr>
            <a:r>
              <a:t>Creative-level granularity may not be a priority for JP right now.</a:t>
            </a:r>
            <a:br/>
            <a:r>
              <a:t>If it becomes one, it's a naming convention fix — not a rebuild.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BEYOND THE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0000"/>
            <a:ext cx="8229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Where the next level</a:t>
            </a:r>
            <a:br/>
            <a:r>
              <a:t>of value sits.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0000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alibri"/>
              </a:defRPr>
            </a:pPr>
            <a:r>
              <a:t>The audit covered attribution, cohorts, and payments. There's a natural next area</a:t>
            </a:r>
            <a:br/>
            <a:r>
              <a:t>that tends to unlock the most impact for publishers at this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00000"/>
            <a:ext cx="2600000" cy="17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7200" y="2000000"/>
            <a:ext cx="234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Predicted Lifetime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7200" y="225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  <a:latin typeface="Calibri"/>
              </a:defRPr>
            </a:pPr>
            <a:r>
              <a:t>pLTV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200" y="2480000"/>
            <a:ext cx="234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Forecasting user-level revenue</a:t>
            </a:r>
            <a:br/>
            <a:r>
              <a:t>beyond D7 changes how budgets</a:t>
            </a:r>
            <a:br/>
            <a:r>
              <a:t>are allocated.</a:t>
            </a:r>
            <a:br/>
            <a:br/>
            <a:r>
              <a:t>Most publishers at scale invest</a:t>
            </a:r>
            <a:br/>
            <a:r>
              <a:t>here to protect ROAS at D90+.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57200" y="1900000"/>
            <a:ext cx="2600000" cy="17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7200" y="2000000"/>
            <a:ext cx="234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Revenue Forecasting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7200" y="225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  <a:latin typeface="Calibri"/>
              </a:defRPr>
            </a:pPr>
            <a:r>
              <a:t>D7 - D365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7200" y="2480000"/>
            <a:ext cx="234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Knowing what a cohort will be</a:t>
            </a:r>
            <a:br/>
            <a:r>
              <a:t>worth at D90 on Day 1 means</a:t>
            </a:r>
            <a:br/>
            <a:r>
              <a:t>faster, safer budget decisions.</a:t>
            </a:r>
            <a:br/>
            <a:br/>
            <a:r>
              <a:t>This is where data becomes</a:t>
            </a:r>
            <a:br/>
            <a:r>
              <a:t>a competitive advantage.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7200" y="1900000"/>
            <a:ext cx="2600000" cy="17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87200" y="2000000"/>
            <a:ext cx="234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AI-Ready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00" y="225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  <a:latin typeface="Calibri"/>
              </a:defRPr>
            </a:pPr>
            <a:r>
              <a:t>Self-Serve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00" y="2480000"/>
            <a:ext cx="234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When the data foundation is</a:t>
            </a:r>
            <a:br/>
            <a:r>
              <a:t>strong, AI agents can surface</a:t>
            </a:r>
            <a:br/>
            <a:r>
              <a:t>insights automatically.</a:t>
            </a:r>
            <a:br/>
            <a:br/>
            <a:r>
              <a:t>Your team asks questions</a:t>
            </a:r>
            <a:br/>
            <a:r>
              <a:t>naturally. Gets answers in seconds.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50000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alibri"/>
              </a:defRPr>
            </a:pPr>
            <a:r>
              <a:t>These are opportunities we've seen unlock growth for publishers with a similar data maturity.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WHAT PLTV UNLOCKS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0000"/>
            <a:ext cx="8229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it looks like when</a:t>
            </a:r>
            <a:br/>
            <a:r>
              <a:t>you can forecast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15000"/>
            <a:ext cx="822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alibri"/>
              </a:defRPr>
            </a:pPr>
            <a:r>
              <a:rPr dirty="0"/>
              <a:t>Built for a publisher at similar scale. Running on live data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00000"/>
            <a:ext cx="2500000" cy="9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7200" y="1780000"/>
            <a:ext cx="22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Revenue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7200" y="2000000"/>
            <a:ext cx="22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B"/>
                </a:solidFill>
                <a:latin typeface="Calibri"/>
              </a:defRPr>
            </a:pPr>
            <a:r>
              <a:t>D7 to D365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7200" y="2200000"/>
            <a:ext cx="226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Predict user-level revenue</a:t>
            </a:r>
            <a:br/>
            <a:r>
              <a:t>at every horizon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7200" y="1700000"/>
            <a:ext cx="2500000" cy="9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77200" y="1780000"/>
            <a:ext cx="22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ROAS Forecasting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7200" y="2000000"/>
            <a:ext cx="22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B"/>
                </a:solidFill>
                <a:latin typeface="Calibri"/>
              </a:defRPr>
            </a:pPr>
            <a:r>
              <a:t>D7 to D365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7200" y="2200000"/>
            <a:ext cx="226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Know D90 ROAS on Day 1</a:t>
            </a:r>
            <a:br/>
            <a:r>
              <a:t>of a campaign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7200" y="1700000"/>
            <a:ext cx="2500000" cy="9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77200" y="1780000"/>
            <a:ext cx="22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Retention Curves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7200" y="2000000"/>
            <a:ext cx="22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B"/>
                </a:solidFill>
                <a:latin typeface="Calibri"/>
              </a:defRPr>
            </a:pPr>
            <a:r>
              <a:t>D1 to D60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7200" y="2200000"/>
            <a:ext cx="226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Model retention by cohort,</a:t>
            </a:r>
            <a:br/>
            <a:r>
              <a:t>channel, and country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00000"/>
            <a:ext cx="2500000" cy="9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7200" y="2880000"/>
            <a:ext cx="22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Budget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200" y="3100000"/>
            <a:ext cx="22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B"/>
                </a:solidFill>
                <a:latin typeface="Calibri"/>
              </a:defRPr>
            </a:pPr>
            <a:r>
              <a:t>Daily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7200" y="3300000"/>
            <a:ext cx="226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Automated flags: scale,</a:t>
            </a:r>
            <a:br/>
            <a:r>
              <a:t>cap, or kill decisions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57200" y="2800000"/>
            <a:ext cx="2500000" cy="9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77200" y="2880000"/>
            <a:ext cx="22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Trend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7200" y="3100000"/>
            <a:ext cx="22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B"/>
                </a:solidFill>
                <a:latin typeface="Calibri"/>
              </a:defRPr>
            </a:pPr>
            <a:r>
              <a:t>WoW / MoM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7200" y="3300000"/>
            <a:ext cx="226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Catch deterioration before</a:t>
            </a:r>
            <a:br/>
            <a:r>
              <a:t>it becomes a loss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7200" y="2800000"/>
            <a:ext cx="2500000" cy="9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77200" y="2880000"/>
            <a:ext cx="226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Maturity-Aware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77200" y="3100000"/>
            <a:ext cx="22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B"/>
                </a:solidFill>
                <a:latin typeface="Calibri"/>
              </a:defRPr>
            </a:pPr>
            <a:r>
              <a:t>By cohort 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77200" y="3300000"/>
            <a:ext cx="226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New vs mature campaigns</a:t>
            </a:r>
            <a:br/>
            <a:r>
              <a:t>treated differently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900000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97B"/>
                </a:solidFill>
                <a:latin typeface="Calibri"/>
              </a:defRPr>
            </a:pPr>
            <a:r>
              <a:t>This isn't a roadmap. It's live. Built on the same data quality level JP already has.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INTELLIGENCE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0000"/>
            <a:ext cx="8229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 agents that work like</a:t>
            </a:r>
            <a:br/>
            <a:r>
              <a:t>an extension of your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40000"/>
            <a:ext cx="822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Calibri"/>
              </a:defRPr>
            </a:pPr>
            <a:r>
              <a:rPr dirty="0"/>
              <a:t>Once the data foundation is right, everything else becomes possible.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000"/>
            <a:ext cx="3900000" cy="12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7200" y="1680000"/>
            <a:ext cx="3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Daily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7200" y="1920000"/>
            <a:ext cx="3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Start every morning with clarity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7200" y="2200000"/>
            <a:ext cx="3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AI analyses campaigns across every channel.</a:t>
            </a:r>
            <a:br/>
            <a:r>
              <a:t>Flags where budget is wasted or where to scale.</a:t>
            </a:r>
            <a:br/>
            <a:r>
              <a:t>Delivered to Slack every morning.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57200" y="1600000"/>
            <a:ext cx="3900000" cy="12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7200" y="1680000"/>
            <a:ext cx="3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Natural Language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7200" y="1920000"/>
            <a:ext cx="3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From question to answer in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7200" y="2200000"/>
            <a:ext cx="3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"Show me top 5 campaigns by D90 ROAS</a:t>
            </a:r>
            <a:br/>
            <a:r>
              <a:t>for iOS last week" — typed in Slack,</a:t>
            </a:r>
            <a:br/>
            <a:r>
              <a:t>answered in seconds with charts and tables.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00000"/>
            <a:ext cx="3900000" cy="12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7200" y="3180000"/>
            <a:ext cx="3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Explain Feature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200" y="3420000"/>
            <a:ext cx="3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Understand why metrics changed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200" y="3700000"/>
            <a:ext cx="3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"Why did ROAS drop?" — driver breakdown</a:t>
            </a:r>
            <a:br/>
            <a:r>
              <a:t>by channel, campaign, country.</a:t>
            </a:r>
            <a:br/>
            <a:r>
              <a:t>Evidence-scored root cause analysis.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57200" y="3100000"/>
            <a:ext cx="3900000" cy="12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7200" y="3180000"/>
            <a:ext cx="3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Alerts &amp; Anomalies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7200" y="3420000"/>
            <a:ext cx="3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Catch problems before they cost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7200" y="3700000"/>
            <a:ext cx="3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Automated detection of spend anomalies,</a:t>
            </a:r>
            <a:br/>
            <a:r>
              <a:t>performance degradation, data quality issues.</a:t>
            </a:r>
            <a:br/>
            <a:r>
              <a:t>No human monitoring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3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WHY A VERTICAL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0000"/>
            <a:ext cx="8229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General-purpose AI vs</a:t>
            </a:r>
            <a:br/>
            <a:r>
              <a:t>marketing-native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56500"/>
            <a:ext cx="822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Calibri"/>
              </a:defRPr>
            </a:pPr>
            <a:r>
              <a:rPr dirty="0"/>
              <a:t>Text-to-SQL tools write queries. Marketing agents understand your business.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50000"/>
            <a:ext cx="3900000" cy="27000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7200" y="1750000"/>
            <a:ext cx="3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80"/>
                </a:solidFill>
                <a:latin typeface="Calibri"/>
              </a:defRPr>
            </a:pPr>
            <a:r>
              <a:t>Generic Text-to-SQL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7200" y="2050000"/>
            <a:ext cx="36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  x  Translates English to SQL. That's it.</a:t>
            </a:r>
          </a:p>
          <a:p>
            <a:pPr>
              <a:spcAft>
                <a:spcPts val="4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  x  No concept of ROAS, LTV, cohort maturity</a:t>
            </a:r>
          </a:p>
          <a:p>
            <a:pPr>
              <a:spcAft>
                <a:spcPts val="4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  x  Doesn't know D7 ROAS != D90 ROAS</a:t>
            </a:r>
          </a:p>
          <a:p>
            <a:pPr>
              <a:spcAft>
                <a:spcPts val="4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  x  Can't detect spend anomalies or trends</a:t>
            </a:r>
          </a:p>
          <a:p>
            <a:pPr>
              <a:spcAft>
                <a:spcPts val="4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  x  No forecasting — only queries what exists</a:t>
            </a:r>
          </a:p>
          <a:p>
            <a:pPr>
              <a:spcAft>
                <a:spcPts val="4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  x  Every user writes a different query for</a:t>
            </a:r>
            <a:br/>
            <a:r>
              <a:t>     the same question. No consistency.</a:t>
            </a:r>
          </a:p>
          <a:p>
            <a:pPr>
              <a:spcAft>
                <a:spcPts val="4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  x  No proactive reporting or alerts</a:t>
            </a:r>
          </a:p>
          <a:p>
            <a:pPr>
              <a:spcAft>
                <a:spcPts val="4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  x  Raw table output. No business interpretation.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7200" y="1650000"/>
            <a:ext cx="3900000" cy="27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07200" y="1750000"/>
            <a:ext cx="3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Marketing-Native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7200" y="2050000"/>
            <a:ext cx="36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0B0B0"/>
                </a:solidFill>
                <a:latin typeface="Calibri"/>
              </a:defRPr>
            </a:pPr>
            <a:r>
              <a:t>  -&gt;  Semantic layer: one definition of every metric</a:t>
            </a:r>
          </a:p>
          <a:p>
            <a:pPr>
              <a:spcAft>
                <a:spcPts val="400"/>
              </a:spcAft>
              <a:defRPr sz="1000">
                <a:solidFill>
                  <a:srgbClr val="B0B0B0"/>
                </a:solidFill>
                <a:latin typeface="Calibri"/>
              </a:defRPr>
            </a:pPr>
            <a:r>
              <a:t>  -&gt;  Knows ROAS, LTV, CPI, retention by horizon</a:t>
            </a:r>
          </a:p>
          <a:p>
            <a:pPr>
              <a:spcAft>
                <a:spcPts val="400"/>
              </a:spcAft>
              <a:defRPr sz="1000">
                <a:solidFill>
                  <a:srgbClr val="B0B0B0"/>
                </a:solidFill>
                <a:latin typeface="Calibri"/>
              </a:defRPr>
            </a:pPr>
            <a:r>
              <a:t>  -&gt;  Maturity-aware: new vs mature campaigns</a:t>
            </a:r>
          </a:p>
          <a:p>
            <a:pPr>
              <a:spcAft>
                <a:spcPts val="400"/>
              </a:spcAft>
              <a:defRPr sz="1000">
                <a:solidFill>
                  <a:srgbClr val="B0B0B0"/>
                </a:solidFill>
                <a:latin typeface="Calibri"/>
              </a:defRPr>
            </a:pPr>
            <a:r>
              <a:t>  -&gt;  Signal flags: scale, cap, kill — automated</a:t>
            </a:r>
          </a:p>
          <a:p>
            <a:pPr>
              <a:spcAft>
                <a:spcPts val="400"/>
              </a:spcAft>
              <a:defRPr sz="1000">
                <a:solidFill>
                  <a:srgbClr val="B0B0B0"/>
                </a:solidFill>
                <a:latin typeface="Calibri"/>
              </a:defRPr>
            </a:pPr>
            <a:r>
              <a:t>  -&gt;  pLTV forecasting with ML models built in</a:t>
            </a:r>
          </a:p>
          <a:p>
            <a:pPr>
              <a:spcAft>
                <a:spcPts val="400"/>
              </a:spcAft>
              <a:defRPr sz="1000">
                <a:solidFill>
                  <a:srgbClr val="B0B0B0"/>
                </a:solidFill>
                <a:latin typeface="Calibri"/>
              </a:defRPr>
            </a:pPr>
            <a:r>
              <a:t>  -&gt;  Same question = same answer, every time.</a:t>
            </a:r>
            <a:br/>
            <a:r>
              <a:t>     Governed metric definitions.</a:t>
            </a:r>
          </a:p>
          <a:p>
            <a:pPr>
              <a:spcAft>
                <a:spcPts val="400"/>
              </a:spcAft>
              <a:defRPr sz="1000">
                <a:solidFill>
                  <a:srgbClr val="B0B0B0"/>
                </a:solidFill>
                <a:latin typeface="Calibri"/>
              </a:defRPr>
            </a:pPr>
            <a:r>
              <a:t>  -&gt;  Daily/weekly reports delivered automatically</a:t>
            </a:r>
          </a:p>
          <a:p>
            <a:pPr>
              <a:spcAft>
                <a:spcPts val="400"/>
              </a:spcAft>
              <a:defRPr sz="1000">
                <a:solidFill>
                  <a:srgbClr val="B0B0B0"/>
                </a:solidFill>
                <a:latin typeface="Calibri"/>
              </a:defRPr>
            </a:pPr>
            <a:r>
              <a:t>  -&gt;  Evidence-backed insights with root cause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00000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97B"/>
                </a:solidFill>
                <a:latin typeface="Calibri"/>
              </a:defRPr>
            </a:pPr>
            <a:r>
              <a:t>The LLM is 5% of the value. The other 95% is the semantic layer, the models, and the domain logic.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YOUR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0000"/>
            <a:ext cx="8229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We don't replace DataForm.</a:t>
            </a:r>
            <a:br/>
            <a:r>
              <a:t>We add intelligence on top.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0000"/>
            <a:ext cx="3800000" cy="22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7200" y="1600000"/>
            <a:ext cx="3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JP owns &amp; operates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7200" y="1900000"/>
            <a:ext cx="35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0B0"/>
                </a:solidFill>
                <a:latin typeface="Calibri"/>
              </a:defRPr>
            </a:pPr>
            <a:r>
              <a:t>  -&gt;  DataForm pipelines &amp; transformations</a:t>
            </a:r>
          </a:p>
          <a:p>
            <a:pPr>
              <a:spcAft>
                <a:spcPts val="400"/>
              </a:spcAft>
              <a:defRPr sz="1100">
                <a:solidFill>
                  <a:srgbClr val="B0B0B0"/>
                </a:solidFill>
                <a:latin typeface="Calibri"/>
              </a:defRPr>
            </a:pPr>
            <a:r>
              <a:t>  -&gt;  BigQuery warehouse</a:t>
            </a:r>
          </a:p>
          <a:p>
            <a:pPr>
              <a:spcAft>
                <a:spcPts val="400"/>
              </a:spcAft>
              <a:defRPr sz="1100">
                <a:solidFill>
                  <a:srgbClr val="B0B0B0"/>
                </a:solidFill>
                <a:latin typeface="Calibri"/>
              </a:defRPr>
            </a:pPr>
            <a:r>
              <a:t>  -&gt;  Existing dashboards &amp; reporting</a:t>
            </a:r>
          </a:p>
          <a:p>
            <a:pPr>
              <a:spcAft>
                <a:spcPts val="400"/>
              </a:spcAft>
              <a:defRPr sz="1100">
                <a:solidFill>
                  <a:srgbClr val="B0B0B0"/>
                </a:solidFill>
                <a:latin typeface="Calibri"/>
              </a:defRPr>
            </a:pPr>
            <a:r>
              <a:t>  -&gt;  Data team &amp; governance processes</a:t>
            </a:r>
          </a:p>
          <a:p>
            <a:pPr>
              <a:spcAft>
                <a:spcPts val="400"/>
              </a:spcAft>
              <a:defRPr sz="1100">
                <a:solidFill>
                  <a:srgbClr val="B0B0B0"/>
                </a:solidFill>
                <a:latin typeface="Calibri"/>
              </a:defRPr>
            </a:pPr>
            <a:r>
              <a:t>  -&gt;  MMP integration (Adjust)</a:t>
            </a:r>
          </a:p>
          <a:p>
            <a:pPr>
              <a:spcAft>
                <a:spcPts val="400"/>
              </a:spcAft>
              <a:defRPr sz="1100">
                <a:solidFill>
                  <a:srgbClr val="B0B0B0"/>
                </a:solidFill>
                <a:latin typeface="Calibri"/>
              </a:defRPr>
            </a:pPr>
            <a:r>
              <a:t>  -&gt;  Current attribution 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57200" y="1500000"/>
            <a:ext cx="4100000" cy="22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7200" y="1600000"/>
            <a:ext cx="3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Lupe adds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7200" y="1900000"/>
            <a:ext cx="38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0B0"/>
                </a:solidFill>
                <a:latin typeface="Calibri"/>
              </a:defRPr>
            </a:pPr>
            <a:r>
              <a:t>  -&gt;  Custom Semantic Layer (YAML-based, no dbt needed)</a:t>
            </a:r>
          </a:p>
          <a:p>
            <a:pPr>
              <a:spcAft>
                <a:spcPts val="400"/>
              </a:spcAft>
              <a:defRPr sz="1100">
                <a:solidFill>
                  <a:srgbClr val="B0B0B0"/>
                </a:solidFill>
                <a:latin typeface="Calibri"/>
              </a:defRPr>
            </a:pPr>
            <a:r>
              <a:t>  -&gt;  pLTV forecasting models</a:t>
            </a:r>
          </a:p>
          <a:p>
            <a:pPr>
              <a:spcAft>
                <a:spcPts val="400"/>
              </a:spcAft>
              <a:defRPr sz="1100">
                <a:solidFill>
                  <a:srgbClr val="B0B0B0"/>
                </a:solidFill>
                <a:latin typeface="Calibri"/>
              </a:defRPr>
            </a:pPr>
            <a:r>
              <a:t>  -&gt;  AI agents: reports, chat, explain, alerts</a:t>
            </a:r>
          </a:p>
          <a:p>
            <a:pPr>
              <a:spcAft>
                <a:spcPts val="400"/>
              </a:spcAft>
              <a:defRPr sz="1100">
                <a:solidFill>
                  <a:srgbClr val="B0B0B0"/>
                </a:solidFill>
                <a:latin typeface="Calibri"/>
              </a:defRPr>
            </a:pPr>
            <a:r>
              <a:t>  -&gt;  Slack integration for your team</a:t>
            </a:r>
          </a:p>
          <a:p>
            <a:pPr>
              <a:spcAft>
                <a:spcPts val="400"/>
              </a:spcAft>
              <a:defRPr sz="1100">
                <a:solidFill>
                  <a:srgbClr val="B0B0B0"/>
                </a:solidFill>
                <a:latin typeface="Calibri"/>
              </a:defRPr>
            </a:pPr>
            <a:r>
              <a:t>  -&gt;  Revenue forecasting at D7-D365</a:t>
            </a:r>
          </a:p>
          <a:p>
            <a:pPr>
              <a:spcAft>
                <a:spcPts val="400"/>
              </a:spcAft>
              <a:defRPr sz="1100">
                <a:solidFill>
                  <a:srgbClr val="B0B0B0"/>
                </a:solidFill>
                <a:latin typeface="Calibri"/>
              </a:defRPr>
            </a:pPr>
            <a:r>
              <a:t>  -&gt;  Deploys in days, not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00000"/>
            <a:ext cx="8229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7B"/>
                </a:solidFill>
                <a:latin typeface="Calibri"/>
              </a:defRPr>
            </a:pPr>
            <a:r>
              <a:t>Nothing gets replaced. Nothing gets disrupted.</a:t>
            </a:r>
            <a:br/>
            <a:r>
              <a:t>Your infrastructure stays exactly as it 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0000"/>
            <a:ext cx="8229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Built around sign-off gates.</a:t>
            </a:r>
            <a:br/>
            <a:r>
              <a:t>No surprises.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00000"/>
            <a:ext cx="1900000" cy="18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77200" y="1500000"/>
            <a:ext cx="900000" cy="28000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D0D0D"/>
                </a:solidFill>
              </a:defRPr>
            </a:pPr>
            <a:r>
              <a:t>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7200" y="1850000"/>
            <a:ext cx="16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7200" y="2300000"/>
            <a:ext cx="166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Completed. Results</a:t>
            </a:r>
            <a:br/>
            <a:r>
              <a:t>in this deck.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7200" y="1400000"/>
            <a:ext cx="1900000" cy="18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27200" y="1500000"/>
            <a:ext cx="900000" cy="280000"/>
          </a:xfrm>
          <a:prstGeom prst="roundRect">
            <a:avLst/>
          </a:prstGeom>
          <a:solidFill>
            <a:srgbClr val="4D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D0D0D"/>
                </a:solidFill>
              </a:defRPr>
            </a:pPr>
            <a: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7200" y="1850000"/>
            <a:ext cx="16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pLTV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7200" y="2300000"/>
            <a:ext cx="166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Fixed-scope engagement.</a:t>
            </a:r>
            <a:br/>
            <a:r>
              <a:t>We build forecast models.</a:t>
            </a:r>
            <a:br/>
            <a:r>
              <a:t>You validate against actuals.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7200" y="1400000"/>
            <a:ext cx="1900000" cy="18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677200" y="1500000"/>
            <a:ext cx="900000" cy="280000"/>
          </a:xfrm>
          <a:prstGeom prst="round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D0D0D"/>
                </a:solidFill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7200" y="1850000"/>
            <a:ext cx="16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Semantic Layer</a:t>
            </a:r>
            <a:br/>
            <a:r>
              <a:t>&amp;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7200" y="2300000"/>
            <a:ext cx="166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Custom semantic layer.</a:t>
            </a:r>
            <a:br/>
            <a:r>
              <a:t>AI agents deployed to Slack.</a:t>
            </a:r>
            <a:br/>
            <a:r>
              <a:t>Self-serve analytics.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07200" y="1400000"/>
            <a:ext cx="1900000" cy="18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27200" y="1500000"/>
            <a:ext cx="900000" cy="28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D0D0D"/>
                </a:solidFill>
              </a:defRPr>
            </a:pPr>
            <a: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7200" y="1850000"/>
            <a:ext cx="16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Custom Models</a:t>
            </a:r>
            <a:br/>
            <a:r>
              <a:t>&amp; Optimization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7200" y="2300000"/>
            <a:ext cx="166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Refined pLTV models.</a:t>
            </a:r>
            <a:br/>
            <a:r>
              <a:t>Budget optimization signals.</a:t>
            </a:r>
            <a:br/>
            <a:r>
              <a:t>Payout prediction.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00000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alibri"/>
              </a:defRPr>
            </a:pPr>
            <a:r>
              <a:t>Each phase has a sign-off gate. No commitment beyond the current phase.</a:t>
            </a:r>
            <a:br/>
            <a:r>
              <a:t>You decide if and when to move forward.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PLTV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0000"/>
            <a:ext cx="8229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Fixed scope. Clear deliverables.</a:t>
            </a:r>
            <a:br/>
            <a:r>
              <a:t>Measurable outcome.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00000"/>
            <a:ext cx="4800000" cy="26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7200" y="1500000"/>
            <a:ext cx="4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What the pilot delivers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00" y="1850000"/>
            <a:ext cx="44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0B0"/>
                </a:solidFill>
                <a:latin typeface="Calibri"/>
              </a:defRPr>
            </a:pPr>
            <a:r>
              <a:t>  -&gt;  pLTV models trained on JP's historical cohort + revenue data</a:t>
            </a:r>
          </a:p>
          <a:p>
            <a:pPr>
              <a:spcAft>
                <a:spcPts val="400"/>
              </a:spcAft>
              <a:defRPr sz="1100">
                <a:solidFill>
                  <a:srgbClr val="B0B0B0"/>
                </a:solidFill>
                <a:latin typeface="Calibri"/>
              </a:defRPr>
            </a:pPr>
            <a:r>
              <a:t>  -&gt;  Revenue forecasting at D7, D14, D30, D60, D90, D180, D365</a:t>
            </a:r>
          </a:p>
          <a:p>
            <a:pPr>
              <a:spcAft>
                <a:spcPts val="400"/>
              </a:spcAft>
              <a:defRPr sz="1100">
                <a:solidFill>
                  <a:srgbClr val="B0B0B0"/>
                </a:solidFill>
                <a:latin typeface="Calibri"/>
              </a:defRPr>
            </a:pPr>
            <a:r>
              <a:t>  -&gt;  ROAS forecast at all horizons — know D90 ROAS on Day 1</a:t>
            </a:r>
          </a:p>
          <a:p>
            <a:pPr>
              <a:spcAft>
                <a:spcPts val="400"/>
              </a:spcAft>
              <a:defRPr sz="1100">
                <a:solidFill>
                  <a:srgbClr val="B0B0B0"/>
                </a:solidFill>
                <a:latin typeface="Calibri"/>
              </a:defRPr>
            </a:pPr>
            <a:r>
              <a:t>  -&gt;  Accuracy report: our predictions vs your actuals</a:t>
            </a:r>
          </a:p>
          <a:p>
            <a:pPr>
              <a:spcAft>
                <a:spcPts val="400"/>
              </a:spcAft>
              <a:defRPr sz="1100">
                <a:solidFill>
                  <a:srgbClr val="B0B0B0"/>
                </a:solidFill>
                <a:latin typeface="Calibri"/>
              </a:defRPr>
            </a:pPr>
            <a:r>
              <a:t>  -&gt;  Cross-client model patterns applied to accelerate accuracy</a:t>
            </a:r>
          </a:p>
          <a:p>
            <a:pPr>
              <a:spcAft>
                <a:spcPts val="400"/>
              </a:spcAft>
              <a:defRPr sz="1100">
                <a:solidFill>
                  <a:srgbClr val="B0B0B0"/>
                </a:solidFill>
                <a:latin typeface="Calibri"/>
              </a:defRPr>
            </a:pPr>
            <a:r>
              <a:t>  -&gt;  Written methodology and model documentation</a:t>
            </a:r>
          </a:p>
          <a:p>
            <a:pPr>
              <a:spcAft>
                <a:spcPts val="400"/>
              </a:spcAft>
              <a:defRPr sz="1100">
                <a:solidFill>
                  <a:srgbClr val="B0B0B0"/>
                </a:solidFill>
                <a:latin typeface="Calibri"/>
              </a:defRPr>
            </a:pPr>
            <a:r>
              <a:t>  -&gt;  Recommendation report: where pLTV changes budget 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57200" y="1400000"/>
            <a:ext cx="3200000" cy="260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07200" y="1500000"/>
            <a:ext cx="2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Engagement terms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07200" y="185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08080"/>
                </a:solidFill>
                <a:latin typeface="Calibri"/>
              </a:defRPr>
            </a:pPr>
            <a:r>
              <a:t>Duration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7200" y="185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3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07200" y="222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08080"/>
                </a:solidFill>
                <a:latin typeface="Calibri"/>
              </a:defRPr>
            </a:pPr>
            <a:r>
              <a:t>Input from JP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7200" y="222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Product analytics data</a:t>
            </a:r>
            <a:br/>
            <a:r>
              <a:t>+ existing cohort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7200" y="259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08080"/>
                </a:solidFill>
                <a:latin typeface="Calibri"/>
              </a:defRPr>
            </a:pPr>
            <a: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7200" y="259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Working pLTV models</a:t>
            </a:r>
            <a:br/>
            <a:r>
              <a:t>+ accuracy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7200" y="296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08080"/>
                </a:solidFill>
                <a:latin typeface="Calibri"/>
              </a:defRPr>
            </a:pPr>
            <a:r>
              <a:t>Success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7200" y="296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Forecast accuracy vs</a:t>
            </a:r>
            <a:br/>
            <a:r>
              <a:t>JP's actual D90+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7200" y="333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08080"/>
                </a:solidFill>
                <a:latin typeface="Calibri"/>
              </a:defRPr>
            </a:pPr>
            <a:r>
              <a:t>Decision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200" y="333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Review results together.</a:t>
            </a:r>
            <a:br/>
            <a:r>
              <a:t>Proceed, adjust, or stop.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0000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alibri"/>
              </a:defRPr>
            </a:pPr>
            <a:r>
              <a:t>The pilot is a paid engagement with a clear deliverable.</a:t>
            </a:r>
            <a:br/>
            <a:r>
              <a:t>If the numbers don't speak for themselves, there's nothing further to discuss.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WHAT OTHERS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0000"/>
            <a:ext cx="8229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it looks like when the</a:t>
            </a:r>
            <a:br/>
            <a:r>
              <a:t>full stack comes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50000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alibri"/>
              </a:defRPr>
            </a:pPr>
            <a:r>
              <a:rPr dirty="0"/>
              <a:t>A publisher at similar scale to JP. Full Lupe deployment. Live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Revenue forecasting at 11 horizons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5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D7 through D365, maturity-adjusted, at campaign-channel-country grain.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7200" y="170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ROAS prediction from 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7200" y="195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Know if a campaign will hit D90 break-even before you've spent a week of budget.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0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Automated daily intelligence in Slack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Growth team starts every morning with AI-generated action items, not dashboards.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200" y="240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Self-serve analytics for the entire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200" y="265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Any team member asks questions in natural language. No SQL. No analyst dependency.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Root cause analysis on 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5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"Why did ROAS drop?" answered in seconds with driver breakdown and evidence scoring.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200" y="310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Cross-client model advantage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200" y="335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Calibri"/>
              </a:defRPr>
            </a:pPr>
            <a:r>
              <a:t>pLTV models trained across multiple publishers. JP benefits from patterns already learned.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00000"/>
            <a:ext cx="8229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would you want</a:t>
            </a:r>
            <a:br/>
            <a:r>
              <a:t>to move forward?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00000"/>
            <a:ext cx="8229600" cy="65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7200" y="1800000"/>
            <a:ext cx="7729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Option A: pLTV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7200" y="2050000"/>
            <a:ext cx="772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Calibri"/>
              </a:defRPr>
            </a:pPr>
            <a:r>
              <a:t>Share product analytics data. We build forecast models in 3 weeks.</a:t>
            </a:r>
            <a:br/>
            <a:r>
              <a:t>You compare against your actuals and decide if there's value.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80000"/>
            <a:ext cx="8229600" cy="65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7200" y="2580000"/>
            <a:ext cx="7729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Option B: Technical Deep-Dive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200" y="2830000"/>
            <a:ext cx="772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Calibri"/>
              </a:defRPr>
            </a:pPr>
            <a:r>
              <a:t>We walk your data team through the methodology, the models,</a:t>
            </a:r>
            <a:br/>
            <a:r>
              <a:t>and the semantic layer architecture. No commitment, just clarity.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60000"/>
            <a:ext cx="8229600" cy="650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7200" y="3360000"/>
            <a:ext cx="7729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Option C: Take the Audit, Revisit Later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200" y="3610000"/>
            <a:ext cx="772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Calibri"/>
              </a:defRPr>
            </a:pPr>
            <a:r>
              <a:t>The audit results are yours. If pLTV or AI-ready analytics becomes a priority,</a:t>
            </a:r>
            <a:br/>
            <a:r>
              <a:t>we're here whenever the timing is right.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00000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Calibri"/>
              </a:defRPr>
            </a:pPr>
            <a:r>
              <a:t>Your call. We're happy with any of these.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00000"/>
            <a:ext cx="8229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Protect your return</a:t>
            </a:r>
            <a:br/>
            <a:r>
              <a:t>on ad spend.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00000"/>
            <a:ext cx="82296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B0"/>
                </a:solidFill>
                <a:latin typeface="Calibri"/>
              </a:defRPr>
            </a:pPr>
            <a:r>
              <a:t>Your team built a strong foundation.</a:t>
            </a:r>
            <a:br/>
            <a:r>
              <a:t>Let's see what intelligence looks like on top of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00000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97B"/>
                </a:solidFill>
                <a:latin typeface="Calibri"/>
              </a:defRPr>
            </a:pPr>
            <a:r>
              <a:t>LUPE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1651</Words>
  <Application>Microsoft Macintosh PowerPoint</Application>
  <PresentationFormat>On-screen Show (16:9)</PresentationFormat>
  <Paragraphs>195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Kostas Papanikolaou</cp:lastModifiedBy>
  <cp:revision>2</cp:revision>
  <dcterms:created xsi:type="dcterms:W3CDTF">2013-01-27T09:14:16Z</dcterms:created>
  <dcterms:modified xsi:type="dcterms:W3CDTF">2026-04-27T17:20:04Z</dcterms:modified>
  <cp:category/>
</cp:coreProperties>
</file>