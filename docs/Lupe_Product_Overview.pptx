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pic>
        <p:nvPicPr>
          <p:cNvPr id="2" name="Image 0" descr="/sessions/zen-pensive-lovelace/mnt/presentation/Lupe_analytics.png">    </p:cNvPr>
          <p:cNvPicPr>
            <a:picLocks noChangeAspect="1"/>
          </p:cNvPicPr>
          <p:nvPr/>
        </p:nvPicPr>
        <p:blipFill>
          <a:blip r:embed="rId1"/>
          <a:stretch>
            <a:fillRect/>
          </a:stretch>
        </p:blipFill>
        <p:spPr>
          <a:xfrm>
            <a:off x="731520" y="822960"/>
            <a:ext cx="1005840" cy="1005840"/>
          </a:xfrm>
          <a:prstGeom prst="rect">
            <a:avLst/>
          </a:prstGeom>
        </p:spPr>
      </p:pic>
      <p:sp>
        <p:nvSpPr>
          <p:cNvPr id="3" name="Text 0"/>
          <p:cNvSpPr/>
          <p:nvPr/>
        </p:nvSpPr>
        <p:spPr>
          <a:xfrm>
            <a:off x="731520" y="2011680"/>
            <a:ext cx="7315200" cy="146304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Georgia" pitchFamily="34" charset="0"/>
                <a:ea typeface="Georgia" pitchFamily="34" charset="-122"/>
                <a:cs typeface="Georgia" pitchFamily="34" charset="-120"/>
              </a:rPr>
              <a:t>Protect your return</a:t>
            </a:r>
            <a:endParaRPr lang="en-US" sz="4000" dirty="0"/>
          </a:p>
          <a:p>
            <a:pPr indent="0" marL="0">
              <a:lnSpc>
                <a:spcPct val="110000"/>
              </a:lnSpc>
              <a:buNone/>
            </a:pPr>
            <a:r>
              <a:rPr lang="en-US" sz="4000" b="1" dirty="0">
                <a:solidFill>
                  <a:srgbClr val="FFFFFF"/>
                </a:solidFill>
                <a:latin typeface="Georgia" pitchFamily="34" charset="0"/>
                <a:ea typeface="Georgia" pitchFamily="34" charset="-122"/>
                <a:cs typeface="Georgia" pitchFamily="34" charset="-120"/>
              </a:rPr>
              <a:t>on ad spend.</a:t>
            </a:r>
            <a:endParaRPr lang="en-US" sz="4000" dirty="0"/>
          </a:p>
        </p:txBody>
      </p:sp>
      <p:sp>
        <p:nvSpPr>
          <p:cNvPr id="4" name="Text 1"/>
          <p:cNvSpPr/>
          <p:nvPr/>
        </p:nvSpPr>
        <p:spPr>
          <a:xfrm>
            <a:off x="731520" y="3566160"/>
            <a:ext cx="6858000" cy="914400"/>
          </a:xfrm>
          <a:prstGeom prst="rect">
            <a:avLst/>
          </a:prstGeom>
          <a:noFill/>
          <a:ln/>
        </p:spPr>
        <p:txBody>
          <a:bodyPr wrap="square" lIns="0" tIns="0" rIns="0" bIns="0" rtlCol="0" anchor="ctr"/>
          <a:lstStyle/>
          <a:p>
            <a:pPr indent="0" marL="0">
              <a:lnSpc>
                <a:spcPct val="140000"/>
              </a:lnSpc>
              <a:buNone/>
            </a:pPr>
            <a:r>
              <a:rPr lang="en-US" sz="1400" dirty="0">
                <a:solidFill>
                  <a:srgbClr val="8895A7"/>
                </a:solidFill>
                <a:latin typeface="Calibri" pitchFamily="34" charset="0"/>
                <a:ea typeface="Calibri" pitchFamily="34" charset="-122"/>
                <a:cs typeface="Calibri" pitchFamily="34" charset="-120"/>
              </a:rPr>
              <a:t>A single view of all relevant data down to device level.</a:t>
            </a:r>
            <a:endParaRPr lang="en-US" sz="1400" dirty="0"/>
          </a:p>
          <a:p>
            <a:pPr indent="0" marL="0">
              <a:lnSpc>
                <a:spcPct val="140000"/>
              </a:lnSpc>
              <a:buNone/>
            </a:pPr>
            <a:r>
              <a:rPr lang="en-US" sz="1400" dirty="0">
                <a:solidFill>
                  <a:srgbClr val="8895A7"/>
                </a:solidFill>
                <a:latin typeface="Calibri" pitchFamily="34" charset="0"/>
                <a:ea typeface="Calibri" pitchFamily="34" charset="-122"/>
                <a:cs typeface="Calibri" pitchFamily="34" charset="-120"/>
              </a:rPr>
              <a:t>AI agents surface growth potential, where you're wasting budget,</a:t>
            </a:r>
            <a:endParaRPr lang="en-US" sz="1400" dirty="0"/>
          </a:p>
          <a:p>
            <a:pPr indent="0" marL="0">
              <a:lnSpc>
                <a:spcPct val="140000"/>
              </a:lnSpc>
              <a:buNone/>
            </a:pPr>
            <a:r>
              <a:rPr lang="en-US" sz="1400" dirty="0">
                <a:solidFill>
                  <a:srgbClr val="8895A7"/>
                </a:solidFill>
                <a:latin typeface="Calibri" pitchFamily="34" charset="0"/>
                <a:ea typeface="Calibri" pitchFamily="34" charset="-122"/>
                <a:cs typeface="Calibri" pitchFamily="34" charset="-120"/>
              </a:rPr>
              <a:t>and where to act.</a:t>
            </a:r>
            <a:endParaRPr lang="en-US" sz="1400" dirty="0"/>
          </a:p>
        </p:txBody>
      </p:sp>
      <p:sp>
        <p:nvSpPr>
          <p:cNvPr id="5" name="Shape 2"/>
          <p:cNvSpPr/>
          <p:nvPr/>
        </p:nvSpPr>
        <p:spPr>
          <a:xfrm>
            <a:off x="0" y="4892040"/>
            <a:ext cx="9144000" cy="251460"/>
          </a:xfrm>
          <a:prstGeom prst="rect">
            <a:avLst/>
          </a:prstGeom>
          <a:solidFill>
            <a:srgbClr val="2A8A8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731520" y="365760"/>
            <a:ext cx="4572000" cy="320040"/>
          </a:xfrm>
          <a:prstGeom prst="rect">
            <a:avLst/>
          </a:prstGeom>
          <a:noFill/>
          <a:ln/>
        </p:spPr>
        <p:txBody>
          <a:bodyPr wrap="square" lIns="0" tIns="0" rIns="0" bIns="0" rtlCol="0" anchor="ctr"/>
          <a:lstStyle/>
          <a:p>
            <a:pPr indent="0" marL="0">
              <a:buNone/>
            </a:pPr>
            <a:r>
              <a:rPr lang="en-US" sz="1100" b="1" spc="300" kern="0" dirty="0">
                <a:solidFill>
                  <a:srgbClr val="2A8A8A"/>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731520" y="777240"/>
            <a:ext cx="7680960" cy="914400"/>
          </a:xfrm>
          <a:prstGeom prst="rect">
            <a:avLst/>
          </a:prstGeom>
          <a:noFill/>
          <a:ln/>
        </p:spPr>
        <p:txBody>
          <a:bodyPr wrap="square" lIns="0" tIns="0" rIns="0" bIns="0" rtlCol="0" anchor="ctr"/>
          <a:lstStyle/>
          <a:p>
            <a:pPr indent="0" marL="0">
              <a:lnSpc>
                <a:spcPct val="115000"/>
              </a:lnSpc>
              <a:buNone/>
            </a:pPr>
            <a:r>
              <a:rPr lang="en-US" sz="2800" b="1" dirty="0">
                <a:solidFill>
                  <a:srgbClr val="1A2332"/>
                </a:solidFill>
                <a:latin typeface="Georgia" pitchFamily="34" charset="0"/>
                <a:ea typeface="Georgia" pitchFamily="34" charset="-122"/>
                <a:cs typeface="Georgia" pitchFamily="34" charset="-120"/>
              </a:rPr>
              <a:t>Every day you can't see where budget</a:t>
            </a:r>
            <a:endParaRPr lang="en-US" sz="2800" dirty="0"/>
          </a:p>
          <a:p>
            <a:pPr indent="0" marL="0">
              <a:lnSpc>
                <a:spcPct val="115000"/>
              </a:lnSpc>
              <a:buNone/>
            </a:pPr>
            <a:r>
              <a:rPr lang="en-US" sz="2800" b="1" dirty="0">
                <a:solidFill>
                  <a:srgbClr val="1A2332"/>
                </a:solidFill>
                <a:latin typeface="Georgia" pitchFamily="34" charset="0"/>
                <a:ea typeface="Georgia" pitchFamily="34" charset="-122"/>
                <a:cs typeface="Georgia" pitchFamily="34" charset="-120"/>
              </a:rPr>
              <a:t>is leaking, you're paying for it.</a:t>
            </a:r>
            <a:endParaRPr lang="en-US" sz="2800" dirty="0"/>
          </a:p>
        </p:txBody>
      </p:sp>
      <p:sp>
        <p:nvSpPr>
          <p:cNvPr id="4" name="Text 2"/>
          <p:cNvSpPr/>
          <p:nvPr/>
        </p:nvSpPr>
        <p:spPr>
          <a:xfrm>
            <a:off x="731520" y="1828800"/>
            <a:ext cx="7680960" cy="822960"/>
          </a:xfrm>
          <a:prstGeom prst="rect">
            <a:avLst/>
          </a:prstGeom>
          <a:noFill/>
          <a:ln/>
        </p:spPr>
        <p:txBody>
          <a:bodyPr wrap="square" lIns="0" tIns="0" rIns="0" bIns="0" rtlCol="0" anchor="ctr"/>
          <a:lstStyle/>
          <a:p>
            <a:pPr indent="0" marL="0">
              <a:lnSpc>
                <a:spcPct val="150000"/>
              </a:lnSpc>
              <a:buNone/>
            </a:pPr>
            <a:r>
              <a:rPr lang="en-US" sz="1300" dirty="0">
                <a:solidFill>
                  <a:srgbClr val="3D4F63"/>
                </a:solidFill>
                <a:latin typeface="Calibri" pitchFamily="34" charset="0"/>
                <a:ea typeface="Calibri" pitchFamily="34" charset="-122"/>
                <a:cs typeface="Calibri" pitchFamily="34" charset="-120"/>
              </a:rPr>
              <a:t>Mobile growth teams run campaigns across a dozen channels but rarely have a unified view of what's actually working at device level. Attribution data lives in one place, spend data in another, revenue in a third. By the time someone pulls it all together, the waste has already happened.</a:t>
            </a:r>
            <a:endParaRPr lang="en-US" sz="1300" dirty="0"/>
          </a:p>
        </p:txBody>
      </p:sp>
      <p:sp>
        <p:nvSpPr>
          <p:cNvPr id="5" name="Shape 3"/>
          <p:cNvSpPr/>
          <p:nvPr/>
        </p:nvSpPr>
        <p:spPr>
          <a:xfrm>
            <a:off x="731520" y="2926080"/>
            <a:ext cx="246888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Text 4"/>
          <p:cNvSpPr/>
          <p:nvPr/>
        </p:nvSpPr>
        <p:spPr>
          <a:xfrm>
            <a:off x="731520" y="3063240"/>
            <a:ext cx="2468880" cy="640080"/>
          </a:xfrm>
          <a:prstGeom prst="rect">
            <a:avLst/>
          </a:prstGeom>
          <a:noFill/>
          <a:ln/>
        </p:spPr>
        <p:txBody>
          <a:bodyPr wrap="square" lIns="0" tIns="0" rIns="0" bIns="0" rtlCol="0" anchor="ctr"/>
          <a:lstStyle/>
          <a:p>
            <a:pPr algn="ctr" indent="0" marL="0">
              <a:buNone/>
            </a:pPr>
            <a:r>
              <a:rPr lang="en-US" sz="3600" b="1" dirty="0">
                <a:solidFill>
                  <a:srgbClr val="2A8A8A"/>
                </a:solidFill>
                <a:latin typeface="Georgia" pitchFamily="34" charset="0"/>
                <a:ea typeface="Georgia" pitchFamily="34" charset="-122"/>
                <a:cs typeface="Georgia" pitchFamily="34" charset="-120"/>
              </a:rPr>
              <a:t>30%+</a:t>
            </a:r>
            <a:endParaRPr lang="en-US" sz="3600" dirty="0"/>
          </a:p>
        </p:txBody>
      </p:sp>
      <p:sp>
        <p:nvSpPr>
          <p:cNvPr id="7" name="Text 5"/>
          <p:cNvSpPr/>
          <p:nvPr/>
        </p:nvSpPr>
        <p:spPr>
          <a:xfrm>
            <a:off x="731520" y="3749040"/>
            <a:ext cx="2468880" cy="640080"/>
          </a:xfrm>
          <a:prstGeom prst="rect">
            <a:avLst/>
          </a:prstGeom>
          <a:noFill/>
          <a:ln/>
        </p:spPr>
        <p:txBody>
          <a:bodyPr wrap="square" lIns="0" tIns="0" rIns="0" bIns="0" rtlCol="0" anchor="ctr"/>
          <a:lstStyle/>
          <a:p>
            <a:pPr algn="ctr" indent="0" marL="0">
              <a:lnSpc>
                <a:spcPct val="140000"/>
              </a:lnSpc>
              <a:buNone/>
            </a:pPr>
            <a:r>
              <a:rPr lang="en-US" sz="1100" dirty="0">
                <a:solidFill>
                  <a:srgbClr val="3D4F63"/>
                </a:solidFill>
                <a:latin typeface="Calibri" pitchFamily="34" charset="0"/>
                <a:ea typeface="Calibri" pitchFamily="34" charset="-122"/>
                <a:cs typeface="Calibri" pitchFamily="34" charset="-120"/>
              </a:rPr>
              <a:t>of ad budgets spent</a:t>
            </a:r>
            <a:endParaRPr lang="en-US" sz="1100" dirty="0"/>
          </a:p>
          <a:p>
            <a:pPr algn="ctr" indent="0" marL="0">
              <a:lnSpc>
                <a:spcPct val="140000"/>
              </a:lnSpc>
              <a:buNone/>
            </a:pPr>
            <a:r>
              <a:rPr lang="en-US" sz="1100" dirty="0">
                <a:solidFill>
                  <a:srgbClr val="3D4F63"/>
                </a:solidFill>
                <a:latin typeface="Calibri" pitchFamily="34" charset="0"/>
                <a:ea typeface="Calibri" pitchFamily="34" charset="-122"/>
                <a:cs typeface="Calibri" pitchFamily="34" charset="-120"/>
              </a:rPr>
              <a:t>without clear attribution</a:t>
            </a:r>
            <a:endParaRPr lang="en-US" sz="1100" dirty="0"/>
          </a:p>
        </p:txBody>
      </p:sp>
      <p:sp>
        <p:nvSpPr>
          <p:cNvPr id="8" name="Shape 6"/>
          <p:cNvSpPr/>
          <p:nvPr/>
        </p:nvSpPr>
        <p:spPr>
          <a:xfrm>
            <a:off x="3474720" y="2926080"/>
            <a:ext cx="246888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Text 7"/>
          <p:cNvSpPr/>
          <p:nvPr/>
        </p:nvSpPr>
        <p:spPr>
          <a:xfrm>
            <a:off x="3474720" y="3063240"/>
            <a:ext cx="2468880" cy="640080"/>
          </a:xfrm>
          <a:prstGeom prst="rect">
            <a:avLst/>
          </a:prstGeom>
          <a:noFill/>
          <a:ln/>
        </p:spPr>
        <p:txBody>
          <a:bodyPr wrap="square" lIns="0" tIns="0" rIns="0" bIns="0" rtlCol="0" anchor="ctr"/>
          <a:lstStyle/>
          <a:p>
            <a:pPr algn="ctr" indent="0" marL="0">
              <a:buNone/>
            </a:pPr>
            <a:r>
              <a:rPr lang="en-US" sz="3600" b="1" dirty="0">
                <a:solidFill>
                  <a:srgbClr val="2A8A8A"/>
                </a:solidFill>
                <a:latin typeface="Georgia" pitchFamily="34" charset="0"/>
                <a:ea typeface="Georgia" pitchFamily="34" charset="-122"/>
                <a:cs typeface="Georgia" pitchFamily="34" charset="-120"/>
              </a:rPr>
              <a:t>6+</a:t>
            </a:r>
            <a:endParaRPr lang="en-US" sz="3600" dirty="0"/>
          </a:p>
        </p:txBody>
      </p:sp>
      <p:sp>
        <p:nvSpPr>
          <p:cNvPr id="10" name="Text 8"/>
          <p:cNvSpPr/>
          <p:nvPr/>
        </p:nvSpPr>
        <p:spPr>
          <a:xfrm>
            <a:off x="3474720" y="3749040"/>
            <a:ext cx="2468880" cy="640080"/>
          </a:xfrm>
          <a:prstGeom prst="rect">
            <a:avLst/>
          </a:prstGeom>
          <a:noFill/>
          <a:ln/>
        </p:spPr>
        <p:txBody>
          <a:bodyPr wrap="square" lIns="0" tIns="0" rIns="0" bIns="0" rtlCol="0" anchor="ctr"/>
          <a:lstStyle/>
          <a:p>
            <a:pPr algn="ctr" indent="0" marL="0">
              <a:lnSpc>
                <a:spcPct val="140000"/>
              </a:lnSpc>
              <a:buNone/>
            </a:pPr>
            <a:r>
              <a:rPr lang="en-US" sz="1100" dirty="0">
                <a:solidFill>
                  <a:srgbClr val="3D4F63"/>
                </a:solidFill>
                <a:latin typeface="Calibri" pitchFamily="34" charset="0"/>
                <a:ea typeface="Calibri" pitchFamily="34" charset="-122"/>
                <a:cs typeface="Calibri" pitchFamily="34" charset="-120"/>
              </a:rPr>
              <a:t>platforms with no unified</a:t>
            </a:r>
            <a:endParaRPr lang="en-US" sz="1100" dirty="0"/>
          </a:p>
          <a:p>
            <a:pPr algn="ctr" indent="0" marL="0">
              <a:lnSpc>
                <a:spcPct val="140000"/>
              </a:lnSpc>
              <a:buNone/>
            </a:pPr>
            <a:r>
              <a:rPr lang="en-US" sz="1100" dirty="0">
                <a:solidFill>
                  <a:srgbClr val="3D4F63"/>
                </a:solidFill>
                <a:latin typeface="Calibri" pitchFamily="34" charset="0"/>
                <a:ea typeface="Calibri" pitchFamily="34" charset="-122"/>
                <a:cs typeface="Calibri" pitchFamily="34" charset="-120"/>
              </a:rPr>
              <a:t>device-level view</a:t>
            </a:r>
            <a:endParaRPr lang="en-US" sz="1100" dirty="0"/>
          </a:p>
        </p:txBody>
      </p:sp>
      <p:sp>
        <p:nvSpPr>
          <p:cNvPr id="11" name="Shape 9"/>
          <p:cNvSpPr/>
          <p:nvPr/>
        </p:nvSpPr>
        <p:spPr>
          <a:xfrm>
            <a:off x="6217920" y="2926080"/>
            <a:ext cx="246888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Text 10"/>
          <p:cNvSpPr/>
          <p:nvPr/>
        </p:nvSpPr>
        <p:spPr>
          <a:xfrm>
            <a:off x="6217920" y="3063240"/>
            <a:ext cx="2468880" cy="640080"/>
          </a:xfrm>
          <a:prstGeom prst="rect">
            <a:avLst/>
          </a:prstGeom>
          <a:noFill/>
          <a:ln/>
        </p:spPr>
        <p:txBody>
          <a:bodyPr wrap="square" lIns="0" tIns="0" rIns="0" bIns="0" rtlCol="0" anchor="ctr"/>
          <a:lstStyle/>
          <a:p>
            <a:pPr algn="ctr" indent="0" marL="0">
              <a:buNone/>
            </a:pPr>
            <a:r>
              <a:rPr lang="en-US" sz="3600" b="1" dirty="0">
                <a:solidFill>
                  <a:srgbClr val="2A8A8A"/>
                </a:solidFill>
                <a:latin typeface="Georgia" pitchFamily="34" charset="0"/>
                <a:ea typeface="Georgia" pitchFamily="34" charset="-122"/>
                <a:cs typeface="Georgia" pitchFamily="34" charset="-120"/>
              </a:rPr>
              <a:t>48hrs</a:t>
            </a:r>
            <a:endParaRPr lang="en-US" sz="3600" dirty="0"/>
          </a:p>
        </p:txBody>
      </p:sp>
      <p:sp>
        <p:nvSpPr>
          <p:cNvPr id="13" name="Text 11"/>
          <p:cNvSpPr/>
          <p:nvPr/>
        </p:nvSpPr>
        <p:spPr>
          <a:xfrm>
            <a:off x="6217920" y="3749040"/>
            <a:ext cx="2468880" cy="640080"/>
          </a:xfrm>
          <a:prstGeom prst="rect">
            <a:avLst/>
          </a:prstGeom>
          <a:noFill/>
          <a:ln/>
        </p:spPr>
        <p:txBody>
          <a:bodyPr wrap="square" lIns="0" tIns="0" rIns="0" bIns="0" rtlCol="0" anchor="ctr"/>
          <a:lstStyle/>
          <a:p>
            <a:pPr algn="ctr" indent="0" marL="0">
              <a:lnSpc>
                <a:spcPct val="140000"/>
              </a:lnSpc>
              <a:buNone/>
            </a:pPr>
            <a:r>
              <a:rPr lang="en-US" sz="1100" dirty="0">
                <a:solidFill>
                  <a:srgbClr val="3D4F63"/>
                </a:solidFill>
                <a:latin typeface="Calibri" pitchFamily="34" charset="0"/>
                <a:ea typeface="Calibri" pitchFamily="34" charset="-122"/>
                <a:cs typeface="Calibri" pitchFamily="34" charset="-120"/>
              </a:rPr>
              <a:t>of budget burning before</a:t>
            </a:r>
            <a:endParaRPr lang="en-US" sz="1100" dirty="0"/>
          </a:p>
          <a:p>
            <a:pPr algn="ctr" indent="0" marL="0">
              <a:lnSpc>
                <a:spcPct val="140000"/>
              </a:lnSpc>
              <a:buNone/>
            </a:pPr>
            <a:r>
              <a:rPr lang="en-US" sz="1100" dirty="0">
                <a:solidFill>
                  <a:srgbClr val="3D4F63"/>
                </a:solidFill>
                <a:latin typeface="Calibri" pitchFamily="34" charset="0"/>
                <a:ea typeface="Calibri" pitchFamily="34" charset="-122"/>
                <a:cs typeface="Calibri" pitchFamily="34" charset="-120"/>
              </a:rPr>
              <a:t>anyone notices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731520" y="365760"/>
            <a:ext cx="4572000" cy="320040"/>
          </a:xfrm>
          <a:prstGeom prst="rect">
            <a:avLst/>
          </a:prstGeom>
          <a:noFill/>
          <a:ln/>
        </p:spPr>
        <p:txBody>
          <a:bodyPr wrap="square" lIns="0" tIns="0" rIns="0" bIns="0" rtlCol="0" anchor="ctr"/>
          <a:lstStyle/>
          <a:p>
            <a:pPr indent="0" marL="0">
              <a:buNone/>
            </a:pPr>
            <a:r>
              <a:rPr lang="en-US" sz="1100" b="1" spc="300" kern="0" dirty="0">
                <a:solidFill>
                  <a:srgbClr val="3AADAD"/>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731520" y="777240"/>
            <a:ext cx="7680960" cy="91440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Georgia" pitchFamily="34" charset="0"/>
                <a:ea typeface="Georgia" pitchFamily="34" charset="-122"/>
                <a:cs typeface="Georgia" pitchFamily="34" charset="-120"/>
              </a:rPr>
              <a:t>A context layer for</a:t>
            </a:r>
            <a:endParaRPr lang="en-US" sz="3000" dirty="0"/>
          </a:p>
          <a:p>
            <a:pPr indent="0" marL="0">
              <a:lnSpc>
                <a:spcPct val="115000"/>
              </a:lnSpc>
              <a:buNone/>
            </a:pPr>
            <a:r>
              <a:rPr lang="en-US" sz="3000" b="1" dirty="0">
                <a:solidFill>
                  <a:srgbClr val="FFFFFF"/>
                </a:solidFill>
                <a:latin typeface="Georgia" pitchFamily="34" charset="0"/>
                <a:ea typeface="Georgia" pitchFamily="34" charset="-122"/>
                <a:cs typeface="Georgia" pitchFamily="34" charset="-120"/>
              </a:rPr>
              <a:t>mobile marketing teams.</a:t>
            </a:r>
            <a:endParaRPr lang="en-US" sz="3000" dirty="0"/>
          </a:p>
        </p:txBody>
      </p:sp>
      <p:sp>
        <p:nvSpPr>
          <p:cNvPr id="4" name="Shape 2"/>
          <p:cNvSpPr/>
          <p:nvPr/>
        </p:nvSpPr>
        <p:spPr>
          <a:xfrm>
            <a:off x="457200" y="2011680"/>
            <a:ext cx="2377440" cy="2560320"/>
          </a:xfrm>
          <a:prstGeom prst="rect">
            <a:avLst/>
          </a:prstGeom>
          <a:solidFill>
            <a:srgbClr val="1F2D40"/>
          </a:solidFill>
          <a:ln/>
        </p:spPr>
      </p:sp>
      <p:sp>
        <p:nvSpPr>
          <p:cNvPr id="5" name="Text 3"/>
          <p:cNvSpPr/>
          <p:nvPr/>
        </p:nvSpPr>
        <p:spPr>
          <a:xfrm>
            <a:off x="457200" y="2103120"/>
            <a:ext cx="2377440" cy="320040"/>
          </a:xfrm>
          <a:prstGeom prst="rect">
            <a:avLst/>
          </a:prstGeom>
          <a:noFill/>
          <a:ln/>
        </p:spPr>
        <p:txBody>
          <a:bodyPr wrap="square" lIns="0" tIns="0" rIns="0" bIns="0" rtlCol="0" anchor="ctr"/>
          <a:lstStyle/>
          <a:p>
            <a:pPr algn="ctr" indent="0" marL="0">
              <a:buNone/>
            </a:pPr>
            <a:r>
              <a:rPr lang="en-US" sz="1000" b="1" spc="200" kern="0" dirty="0">
                <a:solidFill>
                  <a:srgbClr val="3AADAD"/>
                </a:solidFill>
                <a:latin typeface="Calibri" pitchFamily="34" charset="0"/>
                <a:ea typeface="Calibri" pitchFamily="34" charset="-122"/>
                <a:cs typeface="Calibri" pitchFamily="34" charset="-120"/>
              </a:rPr>
              <a:t>DATA SOURCES</a:t>
            </a:r>
            <a:endParaRPr lang="en-US" sz="1000" dirty="0"/>
          </a:p>
        </p:txBody>
      </p:sp>
      <p:sp>
        <p:nvSpPr>
          <p:cNvPr id="6" name="Shape 4"/>
          <p:cNvSpPr/>
          <p:nvPr/>
        </p:nvSpPr>
        <p:spPr>
          <a:xfrm>
            <a:off x="685800" y="2514600"/>
            <a:ext cx="1920240" cy="365760"/>
          </a:xfrm>
          <a:prstGeom prst="rect">
            <a:avLst/>
          </a:prstGeom>
          <a:solidFill>
            <a:srgbClr val="283A52"/>
          </a:solidFill>
          <a:ln/>
        </p:spPr>
      </p:sp>
      <p:sp>
        <p:nvSpPr>
          <p:cNvPr id="7" name="Text 5"/>
          <p:cNvSpPr/>
          <p:nvPr/>
        </p:nvSpPr>
        <p:spPr>
          <a:xfrm>
            <a:off x="685800" y="2514600"/>
            <a:ext cx="1920240" cy="365760"/>
          </a:xfrm>
          <a:prstGeom prst="rect">
            <a:avLst/>
          </a:prstGeom>
          <a:noFill/>
          <a:ln/>
        </p:spPr>
        <p:txBody>
          <a:bodyPr wrap="square" lIns="0" tIns="0" rIns="0" bIns="0" rtlCol="0" anchor="ctr"/>
          <a:lstStyle/>
          <a:p>
            <a:pPr algn="ctr" indent="0" marL="0">
              <a:buNone/>
            </a:pPr>
            <a:r>
              <a:rPr lang="en-US" sz="1100" dirty="0">
                <a:solidFill>
                  <a:srgbClr val="8895A7"/>
                </a:solidFill>
                <a:latin typeface="Calibri" pitchFamily="34" charset="0"/>
                <a:ea typeface="Calibri" pitchFamily="34" charset="-122"/>
                <a:cs typeface="Calibri" pitchFamily="34" charset="-120"/>
              </a:rPr>
              <a:t>Ad Networks</a:t>
            </a:r>
            <a:endParaRPr lang="en-US" sz="1100" dirty="0"/>
          </a:p>
        </p:txBody>
      </p:sp>
      <p:sp>
        <p:nvSpPr>
          <p:cNvPr id="8" name="Shape 6"/>
          <p:cNvSpPr/>
          <p:nvPr/>
        </p:nvSpPr>
        <p:spPr>
          <a:xfrm>
            <a:off x="685800" y="2990088"/>
            <a:ext cx="1920240" cy="365760"/>
          </a:xfrm>
          <a:prstGeom prst="rect">
            <a:avLst/>
          </a:prstGeom>
          <a:solidFill>
            <a:srgbClr val="283A52"/>
          </a:solidFill>
          <a:ln/>
        </p:spPr>
      </p:sp>
      <p:sp>
        <p:nvSpPr>
          <p:cNvPr id="9" name="Text 7"/>
          <p:cNvSpPr/>
          <p:nvPr/>
        </p:nvSpPr>
        <p:spPr>
          <a:xfrm>
            <a:off x="685800" y="2990088"/>
            <a:ext cx="1920240" cy="365760"/>
          </a:xfrm>
          <a:prstGeom prst="rect">
            <a:avLst/>
          </a:prstGeom>
          <a:noFill/>
          <a:ln/>
        </p:spPr>
        <p:txBody>
          <a:bodyPr wrap="square" lIns="0" tIns="0" rIns="0" bIns="0" rtlCol="0" anchor="ctr"/>
          <a:lstStyle/>
          <a:p>
            <a:pPr algn="ctr" indent="0" marL="0">
              <a:buNone/>
            </a:pPr>
            <a:r>
              <a:rPr lang="en-US" sz="1100" dirty="0">
                <a:solidFill>
                  <a:srgbClr val="8895A7"/>
                </a:solidFill>
                <a:latin typeface="Calibri" pitchFamily="34" charset="0"/>
                <a:ea typeface="Calibri" pitchFamily="34" charset="-122"/>
                <a:cs typeface="Calibri" pitchFamily="34" charset="-120"/>
              </a:rPr>
              <a:t>MMPs</a:t>
            </a:r>
            <a:endParaRPr lang="en-US" sz="1100" dirty="0"/>
          </a:p>
        </p:txBody>
      </p:sp>
      <p:sp>
        <p:nvSpPr>
          <p:cNvPr id="10" name="Shape 8"/>
          <p:cNvSpPr/>
          <p:nvPr/>
        </p:nvSpPr>
        <p:spPr>
          <a:xfrm>
            <a:off x="685800" y="3465576"/>
            <a:ext cx="1920240" cy="365760"/>
          </a:xfrm>
          <a:prstGeom prst="rect">
            <a:avLst/>
          </a:prstGeom>
          <a:solidFill>
            <a:srgbClr val="283A52"/>
          </a:solidFill>
          <a:ln/>
        </p:spPr>
      </p:sp>
      <p:sp>
        <p:nvSpPr>
          <p:cNvPr id="11" name="Text 9"/>
          <p:cNvSpPr/>
          <p:nvPr/>
        </p:nvSpPr>
        <p:spPr>
          <a:xfrm>
            <a:off x="685800" y="3465576"/>
            <a:ext cx="1920240" cy="365760"/>
          </a:xfrm>
          <a:prstGeom prst="rect">
            <a:avLst/>
          </a:prstGeom>
          <a:noFill/>
          <a:ln/>
        </p:spPr>
        <p:txBody>
          <a:bodyPr wrap="square" lIns="0" tIns="0" rIns="0" bIns="0" rtlCol="0" anchor="ctr"/>
          <a:lstStyle/>
          <a:p>
            <a:pPr algn="ctr" indent="0" marL="0">
              <a:buNone/>
            </a:pPr>
            <a:r>
              <a:rPr lang="en-US" sz="1100" dirty="0">
                <a:solidFill>
                  <a:srgbClr val="8895A7"/>
                </a:solidFill>
                <a:latin typeface="Calibri" pitchFamily="34" charset="0"/>
                <a:ea typeface="Calibri" pitchFamily="34" charset="-122"/>
                <a:cs typeface="Calibri" pitchFamily="34" charset="-120"/>
              </a:rPr>
              <a:t>Revenue Platforms</a:t>
            </a:r>
            <a:endParaRPr lang="en-US" sz="1100" dirty="0"/>
          </a:p>
        </p:txBody>
      </p:sp>
      <p:sp>
        <p:nvSpPr>
          <p:cNvPr id="12" name="Shape 10"/>
          <p:cNvSpPr/>
          <p:nvPr/>
        </p:nvSpPr>
        <p:spPr>
          <a:xfrm>
            <a:off x="685800" y="3941064"/>
            <a:ext cx="1920240" cy="365760"/>
          </a:xfrm>
          <a:prstGeom prst="rect">
            <a:avLst/>
          </a:prstGeom>
          <a:solidFill>
            <a:srgbClr val="283A52"/>
          </a:solidFill>
          <a:ln/>
        </p:spPr>
      </p:sp>
      <p:sp>
        <p:nvSpPr>
          <p:cNvPr id="13" name="Text 11"/>
          <p:cNvSpPr/>
          <p:nvPr/>
        </p:nvSpPr>
        <p:spPr>
          <a:xfrm>
            <a:off x="685800" y="3941064"/>
            <a:ext cx="1920240" cy="365760"/>
          </a:xfrm>
          <a:prstGeom prst="rect">
            <a:avLst/>
          </a:prstGeom>
          <a:noFill/>
          <a:ln/>
        </p:spPr>
        <p:txBody>
          <a:bodyPr wrap="square" lIns="0" tIns="0" rIns="0" bIns="0" rtlCol="0" anchor="ctr"/>
          <a:lstStyle/>
          <a:p>
            <a:pPr algn="ctr" indent="0" marL="0">
              <a:buNone/>
            </a:pPr>
            <a:r>
              <a:rPr lang="en-US" sz="1100" dirty="0">
                <a:solidFill>
                  <a:srgbClr val="8895A7"/>
                </a:solidFill>
                <a:latin typeface="Calibri" pitchFamily="34" charset="0"/>
                <a:ea typeface="Calibri" pitchFamily="34" charset="-122"/>
                <a:cs typeface="Calibri" pitchFamily="34" charset="-120"/>
              </a:rPr>
              <a:t>Analytics Tools</a:t>
            </a:r>
            <a:endParaRPr lang="en-US" sz="1100" dirty="0"/>
          </a:p>
        </p:txBody>
      </p:sp>
      <p:pic>
        <p:nvPicPr>
          <p:cNvPr id="14" name="Image 0" descr="preencoded.png">    </p:cNvPr>
          <p:cNvPicPr>
            <a:picLocks noChangeAspect="1"/>
          </p:cNvPicPr>
          <p:nvPr/>
        </p:nvPicPr>
        <p:blipFill>
          <a:blip r:embed="rId1"/>
          <a:stretch>
            <a:fillRect/>
          </a:stretch>
        </p:blipFill>
        <p:spPr>
          <a:xfrm>
            <a:off x="3017520" y="3017520"/>
            <a:ext cx="365760" cy="365760"/>
          </a:xfrm>
          <a:prstGeom prst="rect">
            <a:avLst/>
          </a:prstGeom>
        </p:spPr>
      </p:pic>
      <p:sp>
        <p:nvSpPr>
          <p:cNvPr id="15" name="Shape 12"/>
          <p:cNvSpPr/>
          <p:nvPr/>
        </p:nvSpPr>
        <p:spPr>
          <a:xfrm>
            <a:off x="3566160" y="2011680"/>
            <a:ext cx="2377440" cy="2560320"/>
          </a:xfrm>
          <a:prstGeom prst="rect">
            <a:avLst/>
          </a:prstGeom>
          <a:solidFill>
            <a:srgbClr val="2A8A8A"/>
          </a:solidFill>
          <a:ln/>
        </p:spPr>
      </p:sp>
      <p:sp>
        <p:nvSpPr>
          <p:cNvPr id="16" name="Text 13"/>
          <p:cNvSpPr/>
          <p:nvPr/>
        </p:nvSpPr>
        <p:spPr>
          <a:xfrm>
            <a:off x="3566160" y="2286000"/>
            <a:ext cx="23774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SSOT</a:t>
            </a:r>
            <a:endParaRPr lang="en-US" sz="2200" dirty="0"/>
          </a:p>
        </p:txBody>
      </p:sp>
      <p:sp>
        <p:nvSpPr>
          <p:cNvPr id="17" name="Text 14"/>
          <p:cNvSpPr/>
          <p:nvPr/>
        </p:nvSpPr>
        <p:spPr>
          <a:xfrm>
            <a:off x="3566160" y="2743200"/>
            <a:ext cx="23774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Single Source of Truth</a:t>
            </a:r>
            <a:endParaRPr lang="en-US" sz="1100" dirty="0"/>
          </a:p>
        </p:txBody>
      </p:sp>
      <p:sp>
        <p:nvSpPr>
          <p:cNvPr id="18" name="Shape 15"/>
          <p:cNvSpPr/>
          <p:nvPr/>
        </p:nvSpPr>
        <p:spPr>
          <a:xfrm>
            <a:off x="3794760" y="3200400"/>
            <a:ext cx="1920240" cy="457200"/>
          </a:xfrm>
          <a:prstGeom prst="rect">
            <a:avLst/>
          </a:prstGeom>
          <a:solidFill>
            <a:srgbClr val="238080"/>
          </a:solidFill>
          <a:ln/>
        </p:spPr>
      </p:sp>
      <p:sp>
        <p:nvSpPr>
          <p:cNvPr id="19" name="Text 16"/>
          <p:cNvSpPr/>
          <p:nvPr/>
        </p:nvSpPr>
        <p:spPr>
          <a:xfrm>
            <a:off x="3794760" y="3200400"/>
            <a:ext cx="19202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Context Agent</a:t>
            </a:r>
            <a:endParaRPr lang="en-US" sz="1200" dirty="0"/>
          </a:p>
        </p:txBody>
      </p:sp>
      <p:sp>
        <p:nvSpPr>
          <p:cNvPr id="20" name="Text 17"/>
          <p:cNvSpPr/>
          <p:nvPr/>
        </p:nvSpPr>
        <p:spPr>
          <a:xfrm>
            <a:off x="3566160" y="3749040"/>
            <a:ext cx="2377440" cy="548640"/>
          </a:xfrm>
          <a:prstGeom prst="rect">
            <a:avLst/>
          </a:prstGeom>
          <a:noFill/>
          <a:ln/>
        </p:spPr>
        <p:txBody>
          <a:bodyPr wrap="square" lIns="0" tIns="0" rIns="0" bIns="0" rtlCol="0" anchor="ctr"/>
          <a:lstStyle/>
          <a:p>
            <a:pPr algn="ctr" indent="0" marL="0">
              <a:lnSpc>
                <a:spcPct val="130000"/>
              </a:lnSpc>
              <a:buNone/>
            </a:pPr>
            <a:r>
              <a:rPr lang="en-US" sz="1000" dirty="0">
                <a:solidFill>
                  <a:srgbClr val="D0EFEF"/>
                </a:solidFill>
                <a:latin typeface="Calibri" pitchFamily="34" charset="0"/>
                <a:ea typeface="Calibri" pitchFamily="34" charset="-122"/>
                <a:cs typeface="Calibri" pitchFamily="34" charset="-120"/>
              </a:rPr>
              <a:t>Manages semantic layer,</a:t>
            </a:r>
            <a:endParaRPr lang="en-US" sz="1000" dirty="0"/>
          </a:p>
          <a:p>
            <a:pPr algn="ctr" indent="0" marL="0">
              <a:lnSpc>
                <a:spcPct val="130000"/>
              </a:lnSpc>
              <a:buNone/>
            </a:pPr>
            <a:r>
              <a:rPr lang="en-US" sz="1000" dirty="0">
                <a:solidFill>
                  <a:srgbClr val="D0EFEF"/>
                </a:solidFill>
                <a:latin typeface="Calibri" pitchFamily="34" charset="0"/>
                <a:ea typeface="Calibri" pitchFamily="34" charset="-122"/>
                <a:cs typeface="Calibri" pitchFamily="34" charset="-120"/>
              </a:rPr>
              <a:t>ensures data quality</a:t>
            </a:r>
            <a:endParaRPr lang="en-US" sz="1000" dirty="0"/>
          </a:p>
        </p:txBody>
      </p:sp>
      <p:pic>
        <p:nvPicPr>
          <p:cNvPr id="21" name="Image 1" descr="preencoded.png">    </p:cNvPr>
          <p:cNvPicPr>
            <a:picLocks noChangeAspect="1"/>
          </p:cNvPicPr>
          <p:nvPr/>
        </p:nvPicPr>
        <p:blipFill>
          <a:blip r:embed="rId2"/>
          <a:stretch>
            <a:fillRect/>
          </a:stretch>
        </p:blipFill>
        <p:spPr>
          <a:xfrm>
            <a:off x="6126480" y="3017520"/>
            <a:ext cx="365760" cy="365760"/>
          </a:xfrm>
          <a:prstGeom prst="rect">
            <a:avLst/>
          </a:prstGeom>
        </p:spPr>
      </p:pic>
      <p:sp>
        <p:nvSpPr>
          <p:cNvPr id="22" name="Shape 18"/>
          <p:cNvSpPr/>
          <p:nvPr/>
        </p:nvSpPr>
        <p:spPr>
          <a:xfrm>
            <a:off x="6675120" y="2011680"/>
            <a:ext cx="2194560" cy="2560320"/>
          </a:xfrm>
          <a:prstGeom prst="rect">
            <a:avLst/>
          </a:prstGeom>
          <a:solidFill>
            <a:srgbClr val="1F2D40"/>
          </a:solidFill>
          <a:ln/>
        </p:spPr>
      </p:sp>
      <p:sp>
        <p:nvSpPr>
          <p:cNvPr id="23" name="Text 19"/>
          <p:cNvSpPr/>
          <p:nvPr/>
        </p:nvSpPr>
        <p:spPr>
          <a:xfrm>
            <a:off x="6675120" y="2103120"/>
            <a:ext cx="2194560" cy="320040"/>
          </a:xfrm>
          <a:prstGeom prst="rect">
            <a:avLst/>
          </a:prstGeom>
          <a:noFill/>
          <a:ln/>
        </p:spPr>
        <p:txBody>
          <a:bodyPr wrap="square" lIns="0" tIns="0" rIns="0" bIns="0" rtlCol="0" anchor="ctr"/>
          <a:lstStyle/>
          <a:p>
            <a:pPr algn="ctr" indent="0" marL="0">
              <a:buNone/>
            </a:pPr>
            <a:r>
              <a:rPr lang="en-US" sz="1000" b="1" spc="200" kern="0" dirty="0">
                <a:solidFill>
                  <a:srgbClr val="3AADAD"/>
                </a:solidFill>
                <a:latin typeface="Calibri" pitchFamily="34" charset="0"/>
                <a:ea typeface="Calibri" pitchFamily="34" charset="-122"/>
                <a:cs typeface="Calibri" pitchFamily="34" charset="-120"/>
              </a:rPr>
              <a:t>FEATURES</a:t>
            </a:r>
            <a:endParaRPr lang="en-US" sz="1000" dirty="0"/>
          </a:p>
        </p:txBody>
      </p:sp>
      <p:sp>
        <p:nvSpPr>
          <p:cNvPr id="24" name="Shape 20"/>
          <p:cNvSpPr/>
          <p:nvPr/>
        </p:nvSpPr>
        <p:spPr>
          <a:xfrm>
            <a:off x="6858000" y="2514600"/>
            <a:ext cx="1828800" cy="365760"/>
          </a:xfrm>
          <a:prstGeom prst="rect">
            <a:avLst/>
          </a:prstGeom>
          <a:solidFill>
            <a:srgbClr val="283A52"/>
          </a:solidFill>
          <a:ln/>
        </p:spPr>
      </p:sp>
      <p:sp>
        <p:nvSpPr>
          <p:cNvPr id="25" name="Text 21"/>
          <p:cNvSpPr/>
          <p:nvPr/>
        </p:nvSpPr>
        <p:spPr>
          <a:xfrm>
            <a:off x="6858000" y="2514600"/>
            <a:ext cx="1828800" cy="365760"/>
          </a:xfrm>
          <a:prstGeom prst="rect">
            <a:avLst/>
          </a:prstGeom>
          <a:noFill/>
          <a:ln/>
        </p:spPr>
        <p:txBody>
          <a:bodyPr wrap="square" lIns="0" tIns="0" rIns="0" bIns="0" rtlCol="0" anchor="ctr"/>
          <a:lstStyle/>
          <a:p>
            <a:pPr algn="ctr" indent="0" marL="0">
              <a:buNone/>
            </a:pPr>
            <a:r>
              <a:rPr lang="en-US" sz="1100" dirty="0">
                <a:solidFill>
                  <a:srgbClr val="8895A7"/>
                </a:solidFill>
                <a:latin typeface="Calibri" pitchFamily="34" charset="0"/>
                <a:ea typeface="Calibri" pitchFamily="34" charset="-122"/>
                <a:cs typeface="Calibri" pitchFamily="34" charset="-120"/>
              </a:rPr>
              <a:t>Daily Report</a:t>
            </a:r>
            <a:endParaRPr lang="en-US" sz="1100" dirty="0"/>
          </a:p>
        </p:txBody>
      </p:sp>
      <p:sp>
        <p:nvSpPr>
          <p:cNvPr id="26" name="Shape 22"/>
          <p:cNvSpPr/>
          <p:nvPr/>
        </p:nvSpPr>
        <p:spPr>
          <a:xfrm>
            <a:off x="6858000" y="2990088"/>
            <a:ext cx="1828800" cy="365760"/>
          </a:xfrm>
          <a:prstGeom prst="rect">
            <a:avLst/>
          </a:prstGeom>
          <a:solidFill>
            <a:srgbClr val="283A52"/>
          </a:solidFill>
          <a:ln/>
        </p:spPr>
      </p:sp>
      <p:sp>
        <p:nvSpPr>
          <p:cNvPr id="27" name="Text 23"/>
          <p:cNvSpPr/>
          <p:nvPr/>
        </p:nvSpPr>
        <p:spPr>
          <a:xfrm>
            <a:off x="6858000" y="2990088"/>
            <a:ext cx="1828800" cy="365760"/>
          </a:xfrm>
          <a:prstGeom prst="rect">
            <a:avLst/>
          </a:prstGeom>
          <a:noFill/>
          <a:ln/>
        </p:spPr>
        <p:txBody>
          <a:bodyPr wrap="square" lIns="0" tIns="0" rIns="0" bIns="0" rtlCol="0" anchor="ctr"/>
          <a:lstStyle/>
          <a:p>
            <a:pPr algn="ctr" indent="0" marL="0">
              <a:buNone/>
            </a:pPr>
            <a:r>
              <a:rPr lang="en-US" sz="1100" dirty="0">
                <a:solidFill>
                  <a:srgbClr val="8895A7"/>
                </a:solidFill>
                <a:latin typeface="Calibri" pitchFamily="34" charset="0"/>
                <a:ea typeface="Calibri" pitchFamily="34" charset="-122"/>
                <a:cs typeface="Calibri" pitchFamily="34" charset="-120"/>
              </a:rPr>
              <a:t>Weekly Summary</a:t>
            </a:r>
            <a:endParaRPr lang="en-US" sz="1100" dirty="0"/>
          </a:p>
        </p:txBody>
      </p:sp>
      <p:sp>
        <p:nvSpPr>
          <p:cNvPr id="28" name="Shape 24"/>
          <p:cNvSpPr/>
          <p:nvPr/>
        </p:nvSpPr>
        <p:spPr>
          <a:xfrm>
            <a:off x="6858000" y="3465576"/>
            <a:ext cx="1828800" cy="365760"/>
          </a:xfrm>
          <a:prstGeom prst="rect">
            <a:avLst/>
          </a:prstGeom>
          <a:solidFill>
            <a:srgbClr val="283A52"/>
          </a:solidFill>
          <a:ln/>
        </p:spPr>
      </p:sp>
      <p:sp>
        <p:nvSpPr>
          <p:cNvPr id="29" name="Text 25"/>
          <p:cNvSpPr/>
          <p:nvPr/>
        </p:nvSpPr>
        <p:spPr>
          <a:xfrm>
            <a:off x="6858000" y="3465576"/>
            <a:ext cx="1828800" cy="365760"/>
          </a:xfrm>
          <a:prstGeom prst="rect">
            <a:avLst/>
          </a:prstGeom>
          <a:noFill/>
          <a:ln/>
        </p:spPr>
        <p:txBody>
          <a:bodyPr wrap="square" lIns="0" tIns="0" rIns="0" bIns="0" rtlCol="0" anchor="ctr"/>
          <a:lstStyle/>
          <a:p>
            <a:pPr algn="ctr" indent="0" marL="0">
              <a:buNone/>
            </a:pPr>
            <a:r>
              <a:rPr lang="en-US" sz="1100" dirty="0">
                <a:solidFill>
                  <a:srgbClr val="8895A7"/>
                </a:solidFill>
                <a:latin typeface="Calibri" pitchFamily="34" charset="0"/>
                <a:ea typeface="Calibri" pitchFamily="34" charset="-122"/>
                <a:cs typeface="Calibri" pitchFamily="34" charset="-120"/>
              </a:rPr>
              <a:t>Explain Feature</a:t>
            </a:r>
            <a:endParaRPr lang="en-US" sz="1100" dirty="0"/>
          </a:p>
        </p:txBody>
      </p:sp>
      <p:sp>
        <p:nvSpPr>
          <p:cNvPr id="30" name="Shape 26"/>
          <p:cNvSpPr/>
          <p:nvPr/>
        </p:nvSpPr>
        <p:spPr>
          <a:xfrm>
            <a:off x="6858000" y="3941064"/>
            <a:ext cx="1828800" cy="365760"/>
          </a:xfrm>
          <a:prstGeom prst="rect">
            <a:avLst/>
          </a:prstGeom>
          <a:solidFill>
            <a:srgbClr val="283A52"/>
          </a:solidFill>
          <a:ln/>
        </p:spPr>
      </p:sp>
      <p:sp>
        <p:nvSpPr>
          <p:cNvPr id="31" name="Text 27"/>
          <p:cNvSpPr/>
          <p:nvPr/>
        </p:nvSpPr>
        <p:spPr>
          <a:xfrm>
            <a:off x="6858000" y="3941064"/>
            <a:ext cx="1828800" cy="365760"/>
          </a:xfrm>
          <a:prstGeom prst="rect">
            <a:avLst/>
          </a:prstGeom>
          <a:noFill/>
          <a:ln/>
        </p:spPr>
        <p:txBody>
          <a:bodyPr wrap="square" lIns="0" tIns="0" rIns="0" bIns="0" rtlCol="0" anchor="ctr"/>
          <a:lstStyle/>
          <a:p>
            <a:pPr algn="ctr" indent="0" marL="0">
              <a:buNone/>
            </a:pPr>
            <a:r>
              <a:rPr lang="en-US" sz="1100" dirty="0">
                <a:solidFill>
                  <a:srgbClr val="8895A7"/>
                </a:solidFill>
                <a:latin typeface="Calibri" pitchFamily="34" charset="0"/>
                <a:ea typeface="Calibri" pitchFamily="34" charset="-122"/>
                <a:cs typeface="Calibri" pitchFamily="34" charset="-120"/>
              </a:rPr>
              <a:t>NL Querying</a:t>
            </a:r>
            <a:endParaRPr lang="en-US" sz="1100" dirty="0"/>
          </a:p>
        </p:txBody>
      </p:sp>
      <p:sp>
        <p:nvSpPr>
          <p:cNvPr id="32" name="Text 28"/>
          <p:cNvSpPr/>
          <p:nvPr/>
        </p:nvSpPr>
        <p:spPr>
          <a:xfrm>
            <a:off x="731520" y="4663440"/>
            <a:ext cx="7680960" cy="274320"/>
          </a:xfrm>
          <a:prstGeom prst="rect">
            <a:avLst/>
          </a:prstGeom>
          <a:noFill/>
          <a:ln/>
        </p:spPr>
        <p:txBody>
          <a:bodyPr wrap="square" lIns="0" tIns="0" rIns="0" bIns="0" rtlCol="0" anchor="ctr"/>
          <a:lstStyle/>
          <a:p>
            <a:pPr algn="ctr" indent="0" marL="0">
              <a:buNone/>
            </a:pPr>
            <a:r>
              <a:rPr lang="en-US" sz="1200" dirty="0">
                <a:solidFill>
                  <a:srgbClr val="8895A7"/>
                </a:solidFill>
                <a:latin typeface="Calibri" pitchFamily="34" charset="0"/>
                <a:ea typeface="Calibri" pitchFamily="34" charset="-122"/>
                <a:cs typeface="Calibri" pitchFamily="34" charset="-120"/>
              </a:rPr>
              <a:t>Accessible through Slack Bot &amp; Dashboard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731520" y="411480"/>
            <a:ext cx="3657600" cy="274320"/>
          </a:xfrm>
          <a:prstGeom prst="rect">
            <a:avLst/>
          </a:prstGeom>
          <a:noFill/>
          <a:ln/>
        </p:spPr>
        <p:txBody>
          <a:bodyPr wrap="square" lIns="0" tIns="0" rIns="0" bIns="0" rtlCol="0" anchor="ctr"/>
          <a:lstStyle/>
          <a:p>
            <a:pPr indent="0" marL="0">
              <a:buNone/>
            </a:pPr>
            <a:r>
              <a:rPr lang="en-US" sz="1000" b="1" spc="300" kern="0" dirty="0">
                <a:solidFill>
                  <a:srgbClr val="2A8A8A"/>
                </a:solidFill>
                <a:latin typeface="Calibri" pitchFamily="34" charset="0"/>
                <a:ea typeface="Calibri" pitchFamily="34" charset="-122"/>
                <a:cs typeface="Calibri" pitchFamily="34" charset="-120"/>
              </a:rPr>
              <a:t>DAILY MARKETING REPORT</a:t>
            </a:r>
            <a:endParaRPr lang="en-US" sz="1000" dirty="0"/>
          </a:p>
        </p:txBody>
      </p:sp>
      <p:sp>
        <p:nvSpPr>
          <p:cNvPr id="3" name="Text 1"/>
          <p:cNvSpPr/>
          <p:nvPr/>
        </p:nvSpPr>
        <p:spPr>
          <a:xfrm>
            <a:off x="731520" y="777240"/>
            <a:ext cx="3657600" cy="685800"/>
          </a:xfrm>
          <a:prstGeom prst="rect">
            <a:avLst/>
          </a:prstGeom>
          <a:noFill/>
          <a:ln/>
        </p:spPr>
        <p:txBody>
          <a:bodyPr wrap="square" lIns="0" tIns="0" rIns="0" bIns="0" rtlCol="0" anchor="ctr"/>
          <a:lstStyle/>
          <a:p>
            <a:pPr indent="0" marL="0">
              <a:lnSpc>
                <a:spcPct val="115000"/>
              </a:lnSpc>
              <a:buNone/>
            </a:pPr>
            <a:r>
              <a:rPr lang="en-US" sz="2000" b="1" dirty="0">
                <a:solidFill>
                  <a:srgbClr val="1A2332"/>
                </a:solidFill>
                <a:latin typeface="Georgia" pitchFamily="34" charset="0"/>
                <a:ea typeface="Georgia" pitchFamily="34" charset="-122"/>
                <a:cs typeface="Georgia" pitchFamily="34" charset="-120"/>
              </a:rPr>
              <a:t>Wake up knowing where</a:t>
            </a:r>
            <a:endParaRPr lang="en-US" sz="2000" dirty="0"/>
          </a:p>
          <a:p>
            <a:pPr indent="0" marL="0">
              <a:lnSpc>
                <a:spcPct val="115000"/>
              </a:lnSpc>
              <a:buNone/>
            </a:pPr>
            <a:r>
              <a:rPr lang="en-US" sz="2000" b="1" dirty="0">
                <a:solidFill>
                  <a:srgbClr val="1A2332"/>
                </a:solidFill>
                <a:latin typeface="Georgia" pitchFamily="34" charset="0"/>
                <a:ea typeface="Georgia" pitchFamily="34" charset="-122"/>
                <a:cs typeface="Georgia" pitchFamily="34" charset="-120"/>
              </a:rPr>
              <a:t>you're losing money.</a:t>
            </a:r>
            <a:endParaRPr lang="en-US" sz="2000" dirty="0"/>
          </a:p>
        </p:txBody>
      </p:sp>
      <p:sp>
        <p:nvSpPr>
          <p:cNvPr id="4" name="Text 2"/>
          <p:cNvSpPr/>
          <p:nvPr/>
        </p:nvSpPr>
        <p:spPr>
          <a:xfrm>
            <a:off x="731520" y="1600200"/>
            <a:ext cx="3657600" cy="1097280"/>
          </a:xfrm>
          <a:prstGeom prst="rect">
            <a:avLst/>
          </a:prstGeom>
          <a:noFill/>
          <a:ln/>
        </p:spPr>
        <p:txBody>
          <a:bodyPr wrap="square" lIns="0" tIns="0" rIns="0" bIns="0" rtlCol="0" anchor="ctr"/>
          <a:lstStyle/>
          <a:p>
            <a:pPr indent="0" marL="0">
              <a:lnSpc>
                <a:spcPct val="150000"/>
              </a:lnSpc>
              <a:buNone/>
            </a:pPr>
            <a:r>
              <a:rPr lang="en-US" sz="1100" dirty="0">
                <a:solidFill>
                  <a:srgbClr val="3D4F63"/>
                </a:solidFill>
                <a:latin typeface="Calibri" pitchFamily="34" charset="0"/>
                <a:ea typeface="Calibri" pitchFamily="34" charset="-122"/>
                <a:cs typeface="Calibri" pitchFamily="34" charset="-120"/>
              </a:rPr>
              <a:t>Every morning, Lupe's AI agents analyze your campaigns across every channel and flag where budget is being wasted. You get a prioritized breakdown: which campaigns to pause, which to scale, and where your next dollar works hardest.</a:t>
            </a:r>
            <a:endParaRPr lang="en-US" sz="1100" dirty="0"/>
          </a:p>
        </p:txBody>
      </p:sp>
      <p:pic>
        <p:nvPicPr>
          <p:cNvPr id="5" name="Image 0" descr="preencoded.png">    </p:cNvPr>
          <p:cNvPicPr>
            <a:picLocks noChangeAspect="1"/>
          </p:cNvPicPr>
          <p:nvPr/>
        </p:nvPicPr>
        <p:blipFill>
          <a:blip r:embed="rId1"/>
          <a:stretch>
            <a:fillRect/>
          </a:stretch>
        </p:blipFill>
        <p:spPr>
          <a:xfrm>
            <a:off x="731520" y="2880360"/>
            <a:ext cx="228600" cy="228600"/>
          </a:xfrm>
          <a:prstGeom prst="rect">
            <a:avLst/>
          </a:prstGeom>
        </p:spPr>
      </p:pic>
      <p:sp>
        <p:nvSpPr>
          <p:cNvPr id="6" name="Text 3"/>
          <p:cNvSpPr/>
          <p:nvPr/>
        </p:nvSpPr>
        <p:spPr>
          <a:xfrm>
            <a:off x="1097280" y="2880360"/>
            <a:ext cx="3200400" cy="228600"/>
          </a:xfrm>
          <a:prstGeom prst="rect">
            <a:avLst/>
          </a:prstGeom>
          <a:noFill/>
          <a:ln/>
        </p:spPr>
        <p:txBody>
          <a:bodyPr wrap="square" lIns="0" tIns="0" rIns="0" bIns="0" rtlCol="0" anchor="ctr"/>
          <a:lstStyle/>
          <a:p>
            <a:pPr indent="0" marL="0">
              <a:buNone/>
            </a:pPr>
            <a:r>
              <a:rPr lang="en-US" sz="1100" dirty="0">
                <a:solidFill>
                  <a:srgbClr val="3D4F63"/>
                </a:solidFill>
                <a:latin typeface="Calibri" pitchFamily="34" charset="0"/>
                <a:ea typeface="Calibri" pitchFamily="34" charset="-122"/>
                <a:cs typeface="Calibri" pitchFamily="34" charset="-120"/>
              </a:rPr>
              <a:t>Delivered to Slack every morning</a:t>
            </a:r>
            <a:endParaRPr lang="en-US" sz="1100" dirty="0"/>
          </a:p>
        </p:txBody>
      </p:sp>
      <p:pic>
        <p:nvPicPr>
          <p:cNvPr id="7" name="Image 1" descr="preencoded.png">    </p:cNvPr>
          <p:cNvPicPr>
            <a:picLocks noChangeAspect="1"/>
          </p:cNvPicPr>
          <p:nvPr/>
        </p:nvPicPr>
        <p:blipFill>
          <a:blip r:embed="rId2"/>
          <a:stretch>
            <a:fillRect/>
          </a:stretch>
        </p:blipFill>
        <p:spPr>
          <a:xfrm>
            <a:off x="731520" y="3337560"/>
            <a:ext cx="228600" cy="228600"/>
          </a:xfrm>
          <a:prstGeom prst="rect">
            <a:avLst/>
          </a:prstGeom>
        </p:spPr>
      </p:pic>
      <p:sp>
        <p:nvSpPr>
          <p:cNvPr id="8" name="Text 4"/>
          <p:cNvSpPr/>
          <p:nvPr/>
        </p:nvSpPr>
        <p:spPr>
          <a:xfrm>
            <a:off x="1097280" y="3337560"/>
            <a:ext cx="3200400" cy="228600"/>
          </a:xfrm>
          <a:prstGeom prst="rect">
            <a:avLst/>
          </a:prstGeom>
          <a:noFill/>
          <a:ln/>
        </p:spPr>
        <p:txBody>
          <a:bodyPr wrap="square" lIns="0" tIns="0" rIns="0" bIns="0" rtlCol="0" anchor="ctr"/>
          <a:lstStyle/>
          <a:p>
            <a:pPr indent="0" marL="0">
              <a:buNone/>
            </a:pPr>
            <a:r>
              <a:rPr lang="en-US" sz="1100" dirty="0">
                <a:solidFill>
                  <a:srgbClr val="3D4F63"/>
                </a:solidFill>
                <a:latin typeface="Calibri" pitchFamily="34" charset="0"/>
                <a:ea typeface="Calibri" pitchFamily="34" charset="-122"/>
                <a:cs typeface="Calibri" pitchFamily="34" charset="-120"/>
              </a:rPr>
              <a:t>Full dashboard with drill-down</a:t>
            </a:r>
            <a:endParaRPr lang="en-US" sz="1100" dirty="0"/>
          </a:p>
        </p:txBody>
      </p:sp>
      <p:sp>
        <p:nvSpPr>
          <p:cNvPr id="9" name="Shape 5"/>
          <p:cNvSpPr/>
          <p:nvPr/>
        </p:nvSpPr>
        <p:spPr>
          <a:xfrm>
            <a:off x="4754880" y="320040"/>
            <a:ext cx="4114800" cy="44805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10" name="Image 2" descr="/sessions/zen-pensive-lovelace/mnt/presentation/slack_feature.png">    </p:cNvPr>
          <p:cNvPicPr>
            <a:picLocks noChangeAspect="1"/>
          </p:cNvPicPr>
          <p:nvPr/>
        </p:nvPicPr>
        <p:blipFill>
          <a:blip r:embed="rId3"/>
          <a:srcRect l="0" r="0" t="0" b="0"/>
          <a:stretch/>
        </p:blipFill>
        <p:spPr>
          <a:xfrm>
            <a:off x="4892040" y="457200"/>
            <a:ext cx="3840480" cy="4206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731520" y="411480"/>
            <a:ext cx="3657600" cy="274320"/>
          </a:xfrm>
          <a:prstGeom prst="rect">
            <a:avLst/>
          </a:prstGeom>
          <a:noFill/>
          <a:ln/>
        </p:spPr>
        <p:txBody>
          <a:bodyPr wrap="square" lIns="0" tIns="0" rIns="0" bIns="0" rtlCol="0" anchor="ctr"/>
          <a:lstStyle/>
          <a:p>
            <a:pPr indent="0" marL="0">
              <a:buNone/>
            </a:pPr>
            <a:r>
              <a:rPr lang="en-US" sz="1000" b="1" spc="300" kern="0" dirty="0">
                <a:solidFill>
                  <a:srgbClr val="2A8A8A"/>
                </a:solidFill>
                <a:latin typeface="Calibri" pitchFamily="34" charset="0"/>
                <a:ea typeface="Calibri" pitchFamily="34" charset="-122"/>
                <a:cs typeface="Calibri" pitchFamily="34" charset="-120"/>
              </a:rPr>
              <a:t>WEEKLY EXECUTIVE SUMMARY</a:t>
            </a:r>
            <a:endParaRPr lang="en-US" sz="1000" dirty="0"/>
          </a:p>
        </p:txBody>
      </p:sp>
      <p:sp>
        <p:nvSpPr>
          <p:cNvPr id="3" name="Text 1"/>
          <p:cNvSpPr/>
          <p:nvPr/>
        </p:nvSpPr>
        <p:spPr>
          <a:xfrm>
            <a:off x="731520" y="777240"/>
            <a:ext cx="3657600" cy="685800"/>
          </a:xfrm>
          <a:prstGeom prst="rect">
            <a:avLst/>
          </a:prstGeom>
          <a:noFill/>
          <a:ln/>
        </p:spPr>
        <p:txBody>
          <a:bodyPr wrap="square" lIns="0" tIns="0" rIns="0" bIns="0" rtlCol="0" anchor="ctr"/>
          <a:lstStyle/>
          <a:p>
            <a:pPr indent="0" marL="0">
              <a:lnSpc>
                <a:spcPct val="115000"/>
              </a:lnSpc>
              <a:buNone/>
            </a:pPr>
            <a:r>
              <a:rPr lang="en-US" sz="2000" b="1" dirty="0">
                <a:solidFill>
                  <a:srgbClr val="1A2332"/>
                </a:solidFill>
                <a:latin typeface="Georgia" pitchFamily="34" charset="0"/>
                <a:ea typeface="Georgia" pitchFamily="34" charset="-122"/>
                <a:cs typeface="Georgia" pitchFamily="34" charset="-120"/>
              </a:rPr>
              <a:t>Strategic performance</a:t>
            </a:r>
            <a:endParaRPr lang="en-US" sz="2000" dirty="0"/>
          </a:p>
          <a:p>
            <a:pPr indent="0" marL="0">
              <a:lnSpc>
                <a:spcPct val="115000"/>
              </a:lnSpc>
              <a:buNone/>
            </a:pPr>
            <a:r>
              <a:rPr lang="en-US" sz="2000" b="1" dirty="0">
                <a:solidFill>
                  <a:srgbClr val="1A2332"/>
                </a:solidFill>
                <a:latin typeface="Georgia" pitchFamily="34" charset="0"/>
                <a:ea typeface="Georgia" pitchFamily="34" charset="-122"/>
                <a:cs typeface="Georgia" pitchFamily="34" charset="-120"/>
              </a:rPr>
              <a:t>overview, every week.</a:t>
            </a:r>
            <a:endParaRPr lang="en-US" sz="2000" dirty="0"/>
          </a:p>
        </p:txBody>
      </p:sp>
      <p:sp>
        <p:nvSpPr>
          <p:cNvPr id="4" name="Text 2"/>
          <p:cNvSpPr/>
          <p:nvPr/>
        </p:nvSpPr>
        <p:spPr>
          <a:xfrm>
            <a:off x="731520" y="1600200"/>
            <a:ext cx="3657600" cy="1097280"/>
          </a:xfrm>
          <a:prstGeom prst="rect">
            <a:avLst/>
          </a:prstGeom>
          <a:noFill/>
          <a:ln/>
        </p:spPr>
        <p:txBody>
          <a:bodyPr wrap="square" lIns="0" tIns="0" rIns="0" bIns="0" rtlCol="0" anchor="ctr"/>
          <a:lstStyle/>
          <a:p>
            <a:pPr indent="0" marL="0">
              <a:lnSpc>
                <a:spcPct val="150000"/>
              </a:lnSpc>
              <a:buNone/>
            </a:pPr>
            <a:r>
              <a:rPr lang="en-US" sz="1100" dirty="0">
                <a:solidFill>
                  <a:srgbClr val="3D4F63"/>
                </a:solidFill>
                <a:latin typeface="Calibri" pitchFamily="34" charset="0"/>
                <a:ea typeface="Calibri" pitchFamily="34" charset="-122"/>
                <a:cs typeface="Calibri" pitchFamily="34" charset="-120"/>
              </a:rPr>
              <a:t>Revenue, Spend, Installs, ROAS, DAU at a glance. AI-generated insights classify findings as risks or opportunities with confidence scoring. Each summary includes a prioritized action plan with urgency levels.</a:t>
            </a:r>
            <a:endParaRPr lang="en-US" sz="1100" dirty="0"/>
          </a:p>
        </p:txBody>
      </p:sp>
      <p:pic>
        <p:nvPicPr>
          <p:cNvPr id="5" name="Image 0" descr="preencoded.png">    </p:cNvPr>
          <p:cNvPicPr>
            <a:picLocks noChangeAspect="1"/>
          </p:cNvPicPr>
          <p:nvPr/>
        </p:nvPicPr>
        <p:blipFill>
          <a:blip r:embed="rId1"/>
          <a:stretch>
            <a:fillRect/>
          </a:stretch>
        </p:blipFill>
        <p:spPr>
          <a:xfrm>
            <a:off x="731520" y="2880360"/>
            <a:ext cx="228600" cy="228600"/>
          </a:xfrm>
          <a:prstGeom prst="rect">
            <a:avLst/>
          </a:prstGeom>
        </p:spPr>
      </p:pic>
      <p:sp>
        <p:nvSpPr>
          <p:cNvPr id="6" name="Text 3"/>
          <p:cNvSpPr/>
          <p:nvPr/>
        </p:nvSpPr>
        <p:spPr>
          <a:xfrm>
            <a:off x="1097280" y="2880360"/>
            <a:ext cx="3200400" cy="228600"/>
          </a:xfrm>
          <a:prstGeom prst="rect">
            <a:avLst/>
          </a:prstGeom>
          <a:noFill/>
          <a:ln/>
        </p:spPr>
        <p:txBody>
          <a:bodyPr wrap="square" lIns="0" tIns="0" rIns="0" bIns="0" rtlCol="0" anchor="ctr"/>
          <a:lstStyle/>
          <a:p>
            <a:pPr indent="0" marL="0">
              <a:buNone/>
            </a:pPr>
            <a:r>
              <a:rPr lang="en-US" sz="1100" dirty="0">
                <a:solidFill>
                  <a:srgbClr val="3D4F63"/>
                </a:solidFill>
                <a:latin typeface="Calibri" pitchFamily="34" charset="0"/>
                <a:ea typeface="Calibri" pitchFamily="34" charset="-122"/>
                <a:cs typeface="Calibri" pitchFamily="34" charset="-120"/>
              </a:rPr>
              <a:t>Delivered to Slack weekly</a:t>
            </a:r>
            <a:endParaRPr lang="en-US" sz="1100" dirty="0"/>
          </a:p>
        </p:txBody>
      </p:sp>
      <p:pic>
        <p:nvPicPr>
          <p:cNvPr id="7" name="Image 1" descr="preencoded.png">    </p:cNvPr>
          <p:cNvPicPr>
            <a:picLocks noChangeAspect="1"/>
          </p:cNvPicPr>
          <p:nvPr/>
        </p:nvPicPr>
        <p:blipFill>
          <a:blip r:embed="rId2"/>
          <a:stretch>
            <a:fillRect/>
          </a:stretch>
        </p:blipFill>
        <p:spPr>
          <a:xfrm>
            <a:off x="731520" y="3337560"/>
            <a:ext cx="228600" cy="228600"/>
          </a:xfrm>
          <a:prstGeom prst="rect">
            <a:avLst/>
          </a:prstGeom>
        </p:spPr>
      </p:pic>
      <p:sp>
        <p:nvSpPr>
          <p:cNvPr id="8" name="Text 4"/>
          <p:cNvSpPr/>
          <p:nvPr/>
        </p:nvSpPr>
        <p:spPr>
          <a:xfrm>
            <a:off x="1097280" y="3337560"/>
            <a:ext cx="3200400" cy="228600"/>
          </a:xfrm>
          <a:prstGeom prst="rect">
            <a:avLst/>
          </a:prstGeom>
          <a:noFill/>
          <a:ln/>
        </p:spPr>
        <p:txBody>
          <a:bodyPr wrap="square" lIns="0" tIns="0" rIns="0" bIns="0" rtlCol="0" anchor="ctr"/>
          <a:lstStyle/>
          <a:p>
            <a:pPr indent="0" marL="0">
              <a:buNone/>
            </a:pPr>
            <a:r>
              <a:rPr lang="en-US" sz="1100" dirty="0">
                <a:solidFill>
                  <a:srgbClr val="3D4F63"/>
                </a:solidFill>
                <a:latin typeface="Calibri" pitchFamily="34" charset="0"/>
                <a:ea typeface="Calibri" pitchFamily="34" charset="-122"/>
                <a:cs typeface="Calibri" pitchFamily="34" charset="-120"/>
              </a:rPr>
              <a:t>KPI dashboard with trend lines</a:t>
            </a:r>
            <a:endParaRPr lang="en-US" sz="1100" dirty="0"/>
          </a:p>
        </p:txBody>
      </p:sp>
      <p:sp>
        <p:nvSpPr>
          <p:cNvPr id="9" name="Shape 5"/>
          <p:cNvSpPr/>
          <p:nvPr/>
        </p:nvSpPr>
        <p:spPr>
          <a:xfrm>
            <a:off x="4754880" y="320040"/>
            <a:ext cx="4114800" cy="44805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10" name="Image 2" descr="/sessions/zen-pensive-lovelace/mnt/presentation/weekly_report_feature.png">    </p:cNvPr>
          <p:cNvPicPr>
            <a:picLocks noChangeAspect="1"/>
          </p:cNvPicPr>
          <p:nvPr/>
        </p:nvPicPr>
        <p:blipFill>
          <a:blip r:embed="rId3"/>
          <a:srcRect l="0" r="0" t="0" b="0"/>
          <a:stretch/>
        </p:blipFill>
        <p:spPr>
          <a:xfrm>
            <a:off x="4892040" y="457200"/>
            <a:ext cx="3840480" cy="4206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731520" y="411480"/>
            <a:ext cx="3657600" cy="274320"/>
          </a:xfrm>
          <a:prstGeom prst="rect">
            <a:avLst/>
          </a:prstGeom>
          <a:noFill/>
          <a:ln/>
        </p:spPr>
        <p:txBody>
          <a:bodyPr wrap="square" lIns="0" tIns="0" rIns="0" bIns="0" rtlCol="0" anchor="ctr"/>
          <a:lstStyle/>
          <a:p>
            <a:pPr indent="0" marL="0">
              <a:buNone/>
            </a:pPr>
            <a:r>
              <a:rPr lang="en-US" sz="1000" b="1" spc="300" kern="0" dirty="0">
                <a:solidFill>
                  <a:srgbClr val="2A8A8A"/>
                </a:solidFill>
                <a:latin typeface="Calibri" pitchFamily="34" charset="0"/>
                <a:ea typeface="Calibri" pitchFamily="34" charset="-122"/>
                <a:cs typeface="Calibri" pitchFamily="34" charset="-120"/>
              </a:rPr>
              <a:t>EXPLAIN FEATURE</a:t>
            </a:r>
            <a:endParaRPr lang="en-US" sz="1000" dirty="0"/>
          </a:p>
        </p:txBody>
      </p:sp>
      <p:sp>
        <p:nvSpPr>
          <p:cNvPr id="3" name="Text 1"/>
          <p:cNvSpPr/>
          <p:nvPr/>
        </p:nvSpPr>
        <p:spPr>
          <a:xfrm>
            <a:off x="731520" y="777240"/>
            <a:ext cx="3657600" cy="685800"/>
          </a:xfrm>
          <a:prstGeom prst="rect">
            <a:avLst/>
          </a:prstGeom>
          <a:noFill/>
          <a:ln/>
        </p:spPr>
        <p:txBody>
          <a:bodyPr wrap="square" lIns="0" tIns="0" rIns="0" bIns="0" rtlCol="0" anchor="ctr"/>
          <a:lstStyle/>
          <a:p>
            <a:pPr indent="0" marL="0">
              <a:lnSpc>
                <a:spcPct val="115000"/>
              </a:lnSpc>
              <a:buNone/>
            </a:pPr>
            <a:r>
              <a:rPr lang="en-US" sz="2000" b="1" dirty="0">
                <a:solidFill>
                  <a:srgbClr val="1A2332"/>
                </a:solidFill>
                <a:latin typeface="Georgia" pitchFamily="34" charset="0"/>
                <a:ea typeface="Georgia" pitchFamily="34" charset="-122"/>
                <a:cs typeface="Georgia" pitchFamily="34" charset="-120"/>
              </a:rPr>
              <a:t>Understand why your</a:t>
            </a:r>
            <a:endParaRPr lang="en-US" sz="2000" dirty="0"/>
          </a:p>
          <a:p>
            <a:pPr indent="0" marL="0">
              <a:lnSpc>
                <a:spcPct val="115000"/>
              </a:lnSpc>
              <a:buNone/>
            </a:pPr>
            <a:r>
              <a:rPr lang="en-US" sz="2000" b="1" dirty="0">
                <a:solidFill>
                  <a:srgbClr val="1A2332"/>
                </a:solidFill>
                <a:latin typeface="Georgia" pitchFamily="34" charset="0"/>
                <a:ea typeface="Georgia" pitchFamily="34" charset="-122"/>
                <a:cs typeface="Georgia" pitchFamily="34" charset="-120"/>
              </a:rPr>
              <a:t>metrics changed.</a:t>
            </a:r>
            <a:endParaRPr lang="en-US" sz="2000" dirty="0"/>
          </a:p>
        </p:txBody>
      </p:sp>
      <p:sp>
        <p:nvSpPr>
          <p:cNvPr id="4" name="Text 2"/>
          <p:cNvSpPr/>
          <p:nvPr/>
        </p:nvSpPr>
        <p:spPr>
          <a:xfrm>
            <a:off x="731520" y="1600200"/>
            <a:ext cx="3657600" cy="1097280"/>
          </a:xfrm>
          <a:prstGeom prst="rect">
            <a:avLst/>
          </a:prstGeom>
          <a:noFill/>
          <a:ln/>
        </p:spPr>
        <p:txBody>
          <a:bodyPr wrap="square" lIns="0" tIns="0" rIns="0" bIns="0" rtlCol="0" anchor="ctr"/>
          <a:lstStyle/>
          <a:p>
            <a:pPr indent="0" marL="0">
              <a:lnSpc>
                <a:spcPct val="150000"/>
              </a:lnSpc>
              <a:buNone/>
            </a:pPr>
            <a:r>
              <a:rPr lang="en-US" sz="1100" dirty="0">
                <a:solidFill>
                  <a:srgbClr val="3D4F63"/>
                </a:solidFill>
                <a:latin typeface="Calibri" pitchFamily="34" charset="0"/>
                <a:ea typeface="Calibri" pitchFamily="34" charset="-122"/>
                <a:cs typeface="Calibri" pitchFamily="34" charset="-120"/>
              </a:rPr>
              <a:t>Ask "why did spend change?" and get a driver breakdown by channel. Evidence-scored analysis shows exactly which channels drove the shift, with magnitude and direction. Suggested next steps let you investigate further or take action immediately.</a:t>
            </a:r>
            <a:endParaRPr lang="en-US" sz="1100" dirty="0"/>
          </a:p>
        </p:txBody>
      </p:sp>
      <p:pic>
        <p:nvPicPr>
          <p:cNvPr id="5" name="Image 0" descr="preencoded.png">    </p:cNvPr>
          <p:cNvPicPr>
            <a:picLocks noChangeAspect="1"/>
          </p:cNvPicPr>
          <p:nvPr/>
        </p:nvPicPr>
        <p:blipFill>
          <a:blip r:embed="rId1"/>
          <a:stretch>
            <a:fillRect/>
          </a:stretch>
        </p:blipFill>
        <p:spPr>
          <a:xfrm>
            <a:off x="731520" y="2880360"/>
            <a:ext cx="228600" cy="228600"/>
          </a:xfrm>
          <a:prstGeom prst="rect">
            <a:avLst/>
          </a:prstGeom>
        </p:spPr>
      </p:pic>
      <p:sp>
        <p:nvSpPr>
          <p:cNvPr id="6" name="Text 3"/>
          <p:cNvSpPr/>
          <p:nvPr/>
        </p:nvSpPr>
        <p:spPr>
          <a:xfrm>
            <a:off x="1097280" y="2880360"/>
            <a:ext cx="3200400" cy="228600"/>
          </a:xfrm>
          <a:prstGeom prst="rect">
            <a:avLst/>
          </a:prstGeom>
          <a:noFill/>
          <a:ln/>
        </p:spPr>
        <p:txBody>
          <a:bodyPr wrap="square" lIns="0" tIns="0" rIns="0" bIns="0" rtlCol="0" anchor="ctr"/>
          <a:lstStyle/>
          <a:p>
            <a:pPr indent="0" marL="0">
              <a:buNone/>
            </a:pPr>
            <a:r>
              <a:rPr lang="en-US" sz="1100" dirty="0">
                <a:solidFill>
                  <a:srgbClr val="3D4F63"/>
                </a:solidFill>
                <a:latin typeface="Calibri" pitchFamily="34" charset="0"/>
                <a:ea typeface="Calibri" pitchFamily="34" charset="-122"/>
                <a:cs typeface="Calibri" pitchFamily="34" charset="-120"/>
              </a:rPr>
              <a:t>Driver analysis with evidence scoring</a:t>
            </a:r>
            <a:endParaRPr lang="en-US" sz="1100" dirty="0"/>
          </a:p>
        </p:txBody>
      </p:sp>
      <p:pic>
        <p:nvPicPr>
          <p:cNvPr id="7" name="Image 1" descr="preencoded.png">    </p:cNvPr>
          <p:cNvPicPr>
            <a:picLocks noChangeAspect="1"/>
          </p:cNvPicPr>
          <p:nvPr/>
        </p:nvPicPr>
        <p:blipFill>
          <a:blip r:embed="rId2"/>
          <a:stretch>
            <a:fillRect/>
          </a:stretch>
        </p:blipFill>
        <p:spPr>
          <a:xfrm>
            <a:off x="731520" y="3337560"/>
            <a:ext cx="228600" cy="228600"/>
          </a:xfrm>
          <a:prstGeom prst="rect">
            <a:avLst/>
          </a:prstGeom>
        </p:spPr>
      </p:pic>
      <p:sp>
        <p:nvSpPr>
          <p:cNvPr id="8" name="Text 4"/>
          <p:cNvSpPr/>
          <p:nvPr/>
        </p:nvSpPr>
        <p:spPr>
          <a:xfrm>
            <a:off x="1097280" y="3337560"/>
            <a:ext cx="3200400" cy="228600"/>
          </a:xfrm>
          <a:prstGeom prst="rect">
            <a:avLst/>
          </a:prstGeom>
          <a:noFill/>
          <a:ln/>
        </p:spPr>
        <p:txBody>
          <a:bodyPr wrap="square" lIns="0" tIns="0" rIns="0" bIns="0" rtlCol="0" anchor="ctr"/>
          <a:lstStyle/>
          <a:p>
            <a:pPr indent="0" marL="0">
              <a:buNone/>
            </a:pPr>
            <a:r>
              <a:rPr lang="en-US" sz="1100" dirty="0">
                <a:solidFill>
                  <a:srgbClr val="3D4F63"/>
                </a:solidFill>
                <a:latin typeface="Calibri" pitchFamily="34" charset="0"/>
                <a:ea typeface="Calibri" pitchFamily="34" charset="-122"/>
                <a:cs typeface="Calibri" pitchFamily="34" charset="-120"/>
              </a:rPr>
              <a:t>Available in Slack and Dashboard</a:t>
            </a:r>
            <a:endParaRPr lang="en-US" sz="1100" dirty="0"/>
          </a:p>
        </p:txBody>
      </p:sp>
      <p:sp>
        <p:nvSpPr>
          <p:cNvPr id="9" name="Shape 5"/>
          <p:cNvSpPr/>
          <p:nvPr/>
        </p:nvSpPr>
        <p:spPr>
          <a:xfrm>
            <a:off x="4754880" y="320040"/>
            <a:ext cx="4114800" cy="44805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10" name="Image 2" descr="/sessions/zen-pensive-lovelace/mnt/presentation/explain_feature.png">    </p:cNvPr>
          <p:cNvPicPr>
            <a:picLocks noChangeAspect="1"/>
          </p:cNvPicPr>
          <p:nvPr/>
        </p:nvPicPr>
        <p:blipFill>
          <a:blip r:embed="rId3"/>
          <a:srcRect l="0" r="0" t="0" b="0"/>
          <a:stretch/>
        </p:blipFill>
        <p:spPr>
          <a:xfrm>
            <a:off x="4892040" y="457200"/>
            <a:ext cx="3840480" cy="4206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731520" y="411480"/>
            <a:ext cx="3657600" cy="274320"/>
          </a:xfrm>
          <a:prstGeom prst="rect">
            <a:avLst/>
          </a:prstGeom>
          <a:noFill/>
          <a:ln/>
        </p:spPr>
        <p:txBody>
          <a:bodyPr wrap="square" lIns="0" tIns="0" rIns="0" bIns="0" rtlCol="0" anchor="ctr"/>
          <a:lstStyle/>
          <a:p>
            <a:pPr indent="0" marL="0">
              <a:buNone/>
            </a:pPr>
            <a:r>
              <a:rPr lang="en-US" sz="1000" b="1" spc="300" kern="0" dirty="0">
                <a:solidFill>
                  <a:srgbClr val="2A8A8A"/>
                </a:solidFill>
                <a:latin typeface="Calibri" pitchFamily="34" charset="0"/>
                <a:ea typeface="Calibri" pitchFamily="34" charset="-122"/>
                <a:cs typeface="Calibri" pitchFamily="34" charset="-120"/>
              </a:rPr>
              <a:t>NATURAL LANGUAGE QUERYING</a:t>
            </a:r>
            <a:endParaRPr lang="en-US" sz="1000" dirty="0"/>
          </a:p>
        </p:txBody>
      </p:sp>
      <p:sp>
        <p:nvSpPr>
          <p:cNvPr id="3" name="Text 1"/>
          <p:cNvSpPr/>
          <p:nvPr/>
        </p:nvSpPr>
        <p:spPr>
          <a:xfrm>
            <a:off x="731520" y="777240"/>
            <a:ext cx="3657600" cy="685800"/>
          </a:xfrm>
          <a:prstGeom prst="rect">
            <a:avLst/>
          </a:prstGeom>
          <a:noFill/>
          <a:ln/>
        </p:spPr>
        <p:txBody>
          <a:bodyPr wrap="square" lIns="0" tIns="0" rIns="0" bIns="0" rtlCol="0" anchor="ctr"/>
          <a:lstStyle/>
          <a:p>
            <a:pPr indent="0" marL="0">
              <a:lnSpc>
                <a:spcPct val="115000"/>
              </a:lnSpc>
              <a:buNone/>
            </a:pPr>
            <a:r>
              <a:rPr lang="en-US" sz="2000" b="1" dirty="0">
                <a:solidFill>
                  <a:srgbClr val="1A2332"/>
                </a:solidFill>
                <a:latin typeface="Georgia" pitchFamily="34" charset="0"/>
                <a:ea typeface="Georgia" pitchFamily="34" charset="-122"/>
                <a:cs typeface="Georgia" pitchFamily="34" charset="-120"/>
              </a:rPr>
              <a:t>From question to answer</a:t>
            </a:r>
            <a:endParaRPr lang="en-US" sz="2000" dirty="0"/>
          </a:p>
          <a:p>
            <a:pPr indent="0" marL="0">
              <a:lnSpc>
                <a:spcPct val="115000"/>
              </a:lnSpc>
              <a:buNone/>
            </a:pPr>
            <a:r>
              <a:rPr lang="en-US" sz="2000" b="1" dirty="0">
                <a:solidFill>
                  <a:srgbClr val="1A2332"/>
                </a:solidFill>
                <a:latin typeface="Georgia" pitchFamily="34" charset="0"/>
                <a:ea typeface="Georgia" pitchFamily="34" charset="-122"/>
                <a:cs typeface="Georgia" pitchFamily="34" charset="-120"/>
              </a:rPr>
              <a:t>in seconds, not days.</a:t>
            </a:r>
            <a:endParaRPr lang="en-US" sz="2000" dirty="0"/>
          </a:p>
        </p:txBody>
      </p:sp>
      <p:sp>
        <p:nvSpPr>
          <p:cNvPr id="4" name="Text 2"/>
          <p:cNvSpPr/>
          <p:nvPr/>
        </p:nvSpPr>
        <p:spPr>
          <a:xfrm>
            <a:off x="731520" y="1600200"/>
            <a:ext cx="3657600" cy="1188720"/>
          </a:xfrm>
          <a:prstGeom prst="rect">
            <a:avLst/>
          </a:prstGeom>
          <a:noFill/>
          <a:ln/>
        </p:spPr>
        <p:txBody>
          <a:bodyPr wrap="square" lIns="0" tIns="0" rIns="0" bIns="0" rtlCol="0" anchor="ctr"/>
          <a:lstStyle/>
          <a:p>
            <a:pPr indent="0" marL="0">
              <a:lnSpc>
                <a:spcPct val="150000"/>
              </a:lnSpc>
              <a:buNone/>
            </a:pPr>
            <a:r>
              <a:rPr lang="en-US" sz="1100" dirty="0">
                <a:solidFill>
                  <a:srgbClr val="3D4F63"/>
                </a:solidFill>
                <a:latin typeface="Calibri" pitchFamily="34" charset="0"/>
                <a:ea typeface="Calibri" pitchFamily="34" charset="-122"/>
                <a:cs typeface="Calibri" pitchFamily="34" charset="-120"/>
              </a:rPr>
              <a:t>Ask questions in plain English. "Show me spend for Applovin per country tier for last 14 days." Lupe queries your unified data, builds the table, runs the analysis, and explains key observations. No SQL. No analyst bottleneck. Follow-up suggestions keep the conversation going.</a:t>
            </a:r>
            <a:endParaRPr lang="en-US" sz="1100" dirty="0"/>
          </a:p>
        </p:txBody>
      </p:sp>
      <p:pic>
        <p:nvPicPr>
          <p:cNvPr id="5" name="Image 0" descr="preencoded.png">    </p:cNvPr>
          <p:cNvPicPr>
            <a:picLocks noChangeAspect="1"/>
          </p:cNvPicPr>
          <p:nvPr/>
        </p:nvPicPr>
        <p:blipFill>
          <a:blip r:embed="rId1"/>
          <a:stretch>
            <a:fillRect/>
          </a:stretch>
        </p:blipFill>
        <p:spPr>
          <a:xfrm>
            <a:off x="731520" y="2971800"/>
            <a:ext cx="228600" cy="228600"/>
          </a:xfrm>
          <a:prstGeom prst="rect">
            <a:avLst/>
          </a:prstGeom>
        </p:spPr>
      </p:pic>
      <p:sp>
        <p:nvSpPr>
          <p:cNvPr id="6" name="Text 3"/>
          <p:cNvSpPr/>
          <p:nvPr/>
        </p:nvSpPr>
        <p:spPr>
          <a:xfrm>
            <a:off x="1097280" y="2971800"/>
            <a:ext cx="3200400" cy="228600"/>
          </a:xfrm>
          <a:prstGeom prst="rect">
            <a:avLst/>
          </a:prstGeom>
          <a:noFill/>
          <a:ln/>
        </p:spPr>
        <p:txBody>
          <a:bodyPr wrap="square" lIns="0" tIns="0" rIns="0" bIns="0" rtlCol="0" anchor="ctr"/>
          <a:lstStyle/>
          <a:p>
            <a:pPr indent="0" marL="0">
              <a:buNone/>
            </a:pPr>
            <a:r>
              <a:rPr lang="en-US" sz="1100" dirty="0">
                <a:solidFill>
                  <a:srgbClr val="3D4F63"/>
                </a:solidFill>
                <a:latin typeface="Calibri" pitchFamily="34" charset="0"/>
                <a:ea typeface="Calibri" pitchFamily="34" charset="-122"/>
                <a:cs typeface="Calibri" pitchFamily="34" charset="-120"/>
              </a:rPr>
              <a:t>Chat interface with context-aware follow-ups</a:t>
            </a:r>
            <a:endParaRPr lang="en-US" sz="1100" dirty="0"/>
          </a:p>
        </p:txBody>
      </p:sp>
      <p:pic>
        <p:nvPicPr>
          <p:cNvPr id="7" name="Image 1" descr="preencoded.png">    </p:cNvPr>
          <p:cNvPicPr>
            <a:picLocks noChangeAspect="1"/>
          </p:cNvPicPr>
          <p:nvPr/>
        </p:nvPicPr>
        <p:blipFill>
          <a:blip r:embed="rId2"/>
          <a:stretch>
            <a:fillRect/>
          </a:stretch>
        </p:blipFill>
        <p:spPr>
          <a:xfrm>
            <a:off x="731520" y="3429000"/>
            <a:ext cx="228600" cy="228600"/>
          </a:xfrm>
          <a:prstGeom prst="rect">
            <a:avLst/>
          </a:prstGeom>
        </p:spPr>
      </p:pic>
      <p:sp>
        <p:nvSpPr>
          <p:cNvPr id="8" name="Text 4"/>
          <p:cNvSpPr/>
          <p:nvPr/>
        </p:nvSpPr>
        <p:spPr>
          <a:xfrm>
            <a:off x="1097280" y="3429000"/>
            <a:ext cx="3200400" cy="228600"/>
          </a:xfrm>
          <a:prstGeom prst="rect">
            <a:avLst/>
          </a:prstGeom>
          <a:noFill/>
          <a:ln/>
        </p:spPr>
        <p:txBody>
          <a:bodyPr wrap="square" lIns="0" tIns="0" rIns="0" bIns="0" rtlCol="0" anchor="ctr"/>
          <a:lstStyle/>
          <a:p>
            <a:pPr indent="0" marL="0">
              <a:buNone/>
            </a:pPr>
            <a:r>
              <a:rPr lang="en-US" sz="1100" dirty="0">
                <a:solidFill>
                  <a:srgbClr val="3D4F63"/>
                </a:solidFill>
                <a:latin typeface="Calibri" pitchFamily="34" charset="0"/>
                <a:ea typeface="Calibri" pitchFamily="34" charset="-122"/>
                <a:cs typeface="Calibri" pitchFamily="34" charset="-120"/>
              </a:rPr>
              <a:t>Available in Slack and Dashboard</a:t>
            </a:r>
            <a:endParaRPr lang="en-US" sz="1100" dirty="0"/>
          </a:p>
        </p:txBody>
      </p:sp>
      <p:sp>
        <p:nvSpPr>
          <p:cNvPr id="9" name="Shape 5"/>
          <p:cNvSpPr/>
          <p:nvPr/>
        </p:nvSpPr>
        <p:spPr>
          <a:xfrm>
            <a:off x="4754880" y="320040"/>
            <a:ext cx="4114800" cy="4480560"/>
          </a:xfrm>
          <a:prstGeom prst="rect">
            <a:avLst/>
          </a:prstGeom>
          <a:solidFill>
            <a:srgbClr val="FFFFFF"/>
          </a:solidFill>
          <a:ln/>
          <a:effectLst>
            <a:outerShdw sx="100000" sy="100000" kx="0" ky="0" algn="bl" rotWithShape="0" blurRad="101600" dist="38100" dir="8100000">
              <a:srgbClr val="000000">
                <a:alpha val="10000"/>
              </a:srgbClr>
            </a:outerShdw>
          </a:effectLst>
        </p:spPr>
      </p:sp>
      <p:pic>
        <p:nvPicPr>
          <p:cNvPr id="10" name="Image 2" descr="/sessions/zen-pensive-lovelace/mnt/presentation/chat_feature.png">    </p:cNvPr>
          <p:cNvPicPr>
            <a:picLocks noChangeAspect="1"/>
          </p:cNvPicPr>
          <p:nvPr/>
        </p:nvPicPr>
        <p:blipFill>
          <a:blip r:embed="rId3"/>
          <a:srcRect l="0" r="0" t="0" b="0"/>
          <a:stretch/>
        </p:blipFill>
        <p:spPr>
          <a:xfrm>
            <a:off x="4892040" y="457200"/>
            <a:ext cx="3840480" cy="4206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731520" y="365760"/>
            <a:ext cx="4572000" cy="320040"/>
          </a:xfrm>
          <a:prstGeom prst="rect">
            <a:avLst/>
          </a:prstGeom>
          <a:noFill/>
          <a:ln/>
        </p:spPr>
        <p:txBody>
          <a:bodyPr wrap="square" lIns="0" tIns="0" rIns="0" bIns="0" rtlCol="0" anchor="ctr"/>
          <a:lstStyle/>
          <a:p>
            <a:pPr indent="0" marL="0">
              <a:buNone/>
            </a:pPr>
            <a:r>
              <a:rPr lang="en-US" sz="1100" b="1" spc="300" kern="0" dirty="0">
                <a:solidFill>
                  <a:srgbClr val="3AADAD"/>
                </a:solidFill>
                <a:latin typeface="Calibri" pitchFamily="34" charset="0"/>
                <a:ea typeface="Calibri" pitchFamily="34" charset="-122"/>
                <a:cs typeface="Calibri" pitchFamily="34" charset="-120"/>
              </a:rPr>
              <a:t>WHAT MAKES IT WORK</a:t>
            </a:r>
            <a:endParaRPr lang="en-US" sz="1100" dirty="0"/>
          </a:p>
        </p:txBody>
      </p:sp>
      <p:sp>
        <p:nvSpPr>
          <p:cNvPr id="3" name="Text 1"/>
          <p:cNvSpPr/>
          <p:nvPr/>
        </p:nvSpPr>
        <p:spPr>
          <a:xfrm>
            <a:off x="731520" y="777240"/>
            <a:ext cx="7680960" cy="822960"/>
          </a:xfrm>
          <a:prstGeom prst="rect">
            <a:avLst/>
          </a:prstGeom>
          <a:noFill/>
          <a:ln/>
        </p:spPr>
        <p:txBody>
          <a:bodyPr wrap="square" lIns="0" tIns="0" rIns="0" bIns="0" rtlCol="0" anchor="ctr"/>
          <a:lstStyle/>
          <a:p>
            <a:pPr indent="0" marL="0">
              <a:lnSpc>
                <a:spcPct val="115000"/>
              </a:lnSpc>
              <a:buNone/>
            </a:pPr>
            <a:r>
              <a:rPr lang="en-US" sz="2800" b="1" dirty="0">
                <a:solidFill>
                  <a:srgbClr val="FFFFFF"/>
                </a:solidFill>
                <a:latin typeface="Georgia" pitchFamily="34" charset="0"/>
                <a:ea typeface="Georgia" pitchFamily="34" charset="-122"/>
                <a:cs typeface="Georgia" pitchFamily="34" charset="-120"/>
              </a:rPr>
              <a:t>Every feature is powered by one</a:t>
            </a:r>
            <a:endParaRPr lang="en-US" sz="2800" dirty="0"/>
          </a:p>
          <a:p>
            <a:pPr indent="0" marL="0">
              <a:lnSpc>
                <a:spcPct val="115000"/>
              </a:lnSpc>
              <a:buNone/>
            </a:pPr>
            <a:r>
              <a:rPr lang="en-US" sz="2800" b="1" dirty="0">
                <a:solidFill>
                  <a:srgbClr val="FFFFFF"/>
                </a:solidFill>
                <a:latin typeface="Georgia" pitchFamily="34" charset="0"/>
                <a:ea typeface="Georgia" pitchFamily="34" charset="-122"/>
                <a:cs typeface="Georgia" pitchFamily="34" charset="-120"/>
              </a:rPr>
              <a:t>unified data model.</a:t>
            </a:r>
            <a:endParaRPr lang="en-US" sz="2800" dirty="0"/>
          </a:p>
        </p:txBody>
      </p:sp>
      <p:sp>
        <p:nvSpPr>
          <p:cNvPr id="4" name="Text 2"/>
          <p:cNvSpPr/>
          <p:nvPr/>
        </p:nvSpPr>
        <p:spPr>
          <a:xfrm>
            <a:off x="731520" y="1737360"/>
            <a:ext cx="7680960" cy="640080"/>
          </a:xfrm>
          <a:prstGeom prst="rect">
            <a:avLst/>
          </a:prstGeom>
          <a:noFill/>
          <a:ln/>
        </p:spPr>
        <p:txBody>
          <a:bodyPr wrap="square" lIns="0" tIns="0" rIns="0" bIns="0" rtlCol="0" anchor="ctr"/>
          <a:lstStyle/>
          <a:p>
            <a:pPr indent="0" marL="0">
              <a:lnSpc>
                <a:spcPct val="150000"/>
              </a:lnSpc>
              <a:buNone/>
            </a:pPr>
            <a:r>
              <a:rPr lang="en-US" sz="1300" dirty="0">
                <a:solidFill>
                  <a:srgbClr val="8895A7"/>
                </a:solidFill>
                <a:latin typeface="Calibri" pitchFamily="34" charset="0"/>
                <a:ea typeface="Calibri" pitchFamily="34" charset="-122"/>
                <a:cs typeface="Calibri" pitchFamily="34" charset="-120"/>
              </a:rPr>
              <a:t>The Single Source of Truth (SSOT) is the foundation. Our Context Agent builds, manages, and continuously validates this layer so every report, every query, and every insight draws from the same trusted data.</a:t>
            </a:r>
            <a:endParaRPr lang="en-US" sz="1300" dirty="0"/>
          </a:p>
        </p:txBody>
      </p:sp>
      <p:sp>
        <p:nvSpPr>
          <p:cNvPr id="5" name="Shape 3"/>
          <p:cNvSpPr/>
          <p:nvPr/>
        </p:nvSpPr>
        <p:spPr>
          <a:xfrm>
            <a:off x="457200" y="2651760"/>
            <a:ext cx="2606040" cy="2103120"/>
          </a:xfrm>
          <a:prstGeom prst="rect">
            <a:avLst/>
          </a:prstGeom>
          <a:solidFill>
            <a:srgbClr val="1F2D40"/>
          </a:solidFill>
          <a:ln/>
        </p:spPr>
      </p:sp>
      <p:pic>
        <p:nvPicPr>
          <p:cNvPr id="6" name="Image 0" descr="preencoded.png">    </p:cNvPr>
          <p:cNvPicPr>
            <a:picLocks noChangeAspect="1"/>
          </p:cNvPicPr>
          <p:nvPr/>
        </p:nvPicPr>
        <p:blipFill>
          <a:blip r:embed="rId1"/>
          <a:stretch>
            <a:fillRect/>
          </a:stretch>
        </p:blipFill>
        <p:spPr>
          <a:xfrm>
            <a:off x="685800" y="2834640"/>
            <a:ext cx="365760" cy="365760"/>
          </a:xfrm>
          <a:prstGeom prst="rect">
            <a:avLst/>
          </a:prstGeom>
        </p:spPr>
      </p:pic>
      <p:sp>
        <p:nvSpPr>
          <p:cNvPr id="7" name="Text 4"/>
          <p:cNvSpPr/>
          <p:nvPr/>
        </p:nvSpPr>
        <p:spPr>
          <a:xfrm>
            <a:off x="685800" y="3291840"/>
            <a:ext cx="2148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Single Source of Truth</a:t>
            </a:r>
            <a:endParaRPr lang="en-US" sz="1400" dirty="0"/>
          </a:p>
        </p:txBody>
      </p:sp>
      <p:sp>
        <p:nvSpPr>
          <p:cNvPr id="8" name="Text 5"/>
          <p:cNvSpPr/>
          <p:nvPr/>
        </p:nvSpPr>
        <p:spPr>
          <a:xfrm>
            <a:off x="685800" y="3611880"/>
            <a:ext cx="2148840" cy="914400"/>
          </a:xfrm>
          <a:prstGeom prst="rect">
            <a:avLst/>
          </a:prstGeom>
          <a:noFill/>
          <a:ln/>
        </p:spPr>
        <p:txBody>
          <a:bodyPr wrap="square" lIns="0" tIns="0" rIns="0" bIns="0" rtlCol="0" anchor="ctr"/>
          <a:lstStyle/>
          <a:p>
            <a:pPr indent="0" marL="0">
              <a:lnSpc>
                <a:spcPct val="140000"/>
              </a:lnSpc>
              <a:buNone/>
            </a:pPr>
            <a:r>
              <a:rPr lang="en-US" sz="1100" dirty="0">
                <a:solidFill>
                  <a:srgbClr val="8895A7"/>
                </a:solidFill>
                <a:latin typeface="Calibri" pitchFamily="34" charset="0"/>
                <a:ea typeface="Calibri" pitchFamily="34" charset="-122"/>
                <a:cs typeface="Calibri" pitchFamily="34" charset="-120"/>
              </a:rPr>
              <a:t>Attribution, spend, and revenue unified at device level. One data model, one definition of every metric.</a:t>
            </a:r>
            <a:endParaRPr lang="en-US" sz="1100" dirty="0"/>
          </a:p>
        </p:txBody>
      </p:sp>
      <p:sp>
        <p:nvSpPr>
          <p:cNvPr id="9" name="Shape 6"/>
          <p:cNvSpPr/>
          <p:nvPr/>
        </p:nvSpPr>
        <p:spPr>
          <a:xfrm>
            <a:off x="3337560" y="2651760"/>
            <a:ext cx="2606040" cy="2103120"/>
          </a:xfrm>
          <a:prstGeom prst="rect">
            <a:avLst/>
          </a:prstGeom>
          <a:solidFill>
            <a:srgbClr val="1F2D40"/>
          </a:solidFill>
          <a:ln/>
        </p:spPr>
      </p:sp>
      <p:pic>
        <p:nvPicPr>
          <p:cNvPr id="10" name="Image 1" descr="preencoded.png">    </p:cNvPr>
          <p:cNvPicPr>
            <a:picLocks noChangeAspect="1"/>
          </p:cNvPicPr>
          <p:nvPr/>
        </p:nvPicPr>
        <p:blipFill>
          <a:blip r:embed="rId2"/>
          <a:stretch>
            <a:fillRect/>
          </a:stretch>
        </p:blipFill>
        <p:spPr>
          <a:xfrm>
            <a:off x="3566160" y="2834640"/>
            <a:ext cx="365760" cy="365760"/>
          </a:xfrm>
          <a:prstGeom prst="rect">
            <a:avLst/>
          </a:prstGeom>
        </p:spPr>
      </p:pic>
      <p:sp>
        <p:nvSpPr>
          <p:cNvPr id="11" name="Text 7"/>
          <p:cNvSpPr/>
          <p:nvPr/>
        </p:nvSpPr>
        <p:spPr>
          <a:xfrm>
            <a:off x="3566160" y="3291840"/>
            <a:ext cx="2148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Context Agent</a:t>
            </a:r>
            <a:endParaRPr lang="en-US" sz="1400" dirty="0"/>
          </a:p>
        </p:txBody>
      </p:sp>
      <p:sp>
        <p:nvSpPr>
          <p:cNvPr id="12" name="Text 8"/>
          <p:cNvSpPr/>
          <p:nvPr/>
        </p:nvSpPr>
        <p:spPr>
          <a:xfrm>
            <a:off x="3566160" y="3611880"/>
            <a:ext cx="2148840" cy="914400"/>
          </a:xfrm>
          <a:prstGeom prst="rect">
            <a:avLst/>
          </a:prstGeom>
          <a:noFill/>
          <a:ln/>
        </p:spPr>
        <p:txBody>
          <a:bodyPr wrap="square" lIns="0" tIns="0" rIns="0" bIns="0" rtlCol="0" anchor="ctr"/>
          <a:lstStyle/>
          <a:p>
            <a:pPr indent="0" marL="0">
              <a:lnSpc>
                <a:spcPct val="140000"/>
              </a:lnSpc>
              <a:buNone/>
            </a:pPr>
            <a:r>
              <a:rPr lang="en-US" sz="1100" dirty="0">
                <a:solidFill>
                  <a:srgbClr val="8895A7"/>
                </a:solidFill>
                <a:latin typeface="Calibri" pitchFamily="34" charset="0"/>
                <a:ea typeface="Calibri" pitchFamily="34" charset="-122"/>
                <a:cs typeface="Calibri" pitchFamily="34" charset="-120"/>
              </a:rPr>
              <a:t>Manages the semantic layer. Runs data quality checks, validates business logic, and keeps the SSOT accurate.</a:t>
            </a:r>
            <a:endParaRPr lang="en-US" sz="1100" dirty="0"/>
          </a:p>
        </p:txBody>
      </p:sp>
      <p:sp>
        <p:nvSpPr>
          <p:cNvPr id="13" name="Shape 9"/>
          <p:cNvSpPr/>
          <p:nvPr/>
        </p:nvSpPr>
        <p:spPr>
          <a:xfrm>
            <a:off x="6217920" y="2651760"/>
            <a:ext cx="2606040" cy="2103120"/>
          </a:xfrm>
          <a:prstGeom prst="rect">
            <a:avLst/>
          </a:prstGeom>
          <a:solidFill>
            <a:srgbClr val="1F2D40"/>
          </a:solidFill>
          <a:ln/>
        </p:spPr>
      </p:sp>
      <p:pic>
        <p:nvPicPr>
          <p:cNvPr id="14" name="Image 2" descr="preencoded.png">    </p:cNvPr>
          <p:cNvPicPr>
            <a:picLocks noChangeAspect="1"/>
          </p:cNvPicPr>
          <p:nvPr/>
        </p:nvPicPr>
        <p:blipFill>
          <a:blip r:embed="rId3"/>
          <a:stretch>
            <a:fillRect/>
          </a:stretch>
        </p:blipFill>
        <p:spPr>
          <a:xfrm>
            <a:off x="6446520" y="2834640"/>
            <a:ext cx="365760" cy="365760"/>
          </a:xfrm>
          <a:prstGeom prst="rect">
            <a:avLst/>
          </a:prstGeom>
        </p:spPr>
      </p:pic>
      <p:sp>
        <p:nvSpPr>
          <p:cNvPr id="15" name="Text 10"/>
          <p:cNvSpPr/>
          <p:nvPr/>
        </p:nvSpPr>
        <p:spPr>
          <a:xfrm>
            <a:off x="6446520" y="3291840"/>
            <a:ext cx="2148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Semantic Layer</a:t>
            </a:r>
            <a:endParaRPr lang="en-US" sz="1400" dirty="0"/>
          </a:p>
        </p:txBody>
      </p:sp>
      <p:sp>
        <p:nvSpPr>
          <p:cNvPr id="16" name="Text 11"/>
          <p:cNvSpPr/>
          <p:nvPr/>
        </p:nvSpPr>
        <p:spPr>
          <a:xfrm>
            <a:off x="6446520" y="3611880"/>
            <a:ext cx="2148840" cy="914400"/>
          </a:xfrm>
          <a:prstGeom prst="rect">
            <a:avLst/>
          </a:prstGeom>
          <a:noFill/>
          <a:ln/>
        </p:spPr>
        <p:txBody>
          <a:bodyPr wrap="square" lIns="0" tIns="0" rIns="0" bIns="0" rtlCol="0" anchor="ctr"/>
          <a:lstStyle/>
          <a:p>
            <a:pPr indent="0" marL="0">
              <a:lnSpc>
                <a:spcPct val="140000"/>
              </a:lnSpc>
              <a:buNone/>
            </a:pPr>
            <a:r>
              <a:rPr lang="en-US" sz="1100" dirty="0">
                <a:solidFill>
                  <a:srgbClr val="8895A7"/>
                </a:solidFill>
                <a:latin typeface="Calibri" pitchFamily="34" charset="0"/>
                <a:ea typeface="Calibri" pitchFamily="34" charset="-122"/>
                <a:cs typeface="Calibri" pitchFamily="34" charset="-120"/>
              </a:rPr>
              <a:t>Custom business logic configuration on top of the SSOT. Powers all AI features with domain-specific context.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731520" y="320040"/>
            <a:ext cx="4572000" cy="274320"/>
          </a:xfrm>
          <a:prstGeom prst="rect">
            <a:avLst/>
          </a:prstGeom>
          <a:noFill/>
          <a:ln/>
        </p:spPr>
        <p:txBody>
          <a:bodyPr wrap="square" lIns="0" tIns="0" rIns="0" bIns="0" rtlCol="0" anchor="ctr"/>
          <a:lstStyle/>
          <a:p>
            <a:pPr indent="0" marL="0">
              <a:buNone/>
            </a:pPr>
            <a:r>
              <a:rPr lang="en-US" sz="1100" b="1" spc="300" kern="0" dirty="0">
                <a:solidFill>
                  <a:srgbClr val="2A8A8A"/>
                </a:solidFill>
                <a:latin typeface="Calibri" pitchFamily="34" charset="0"/>
                <a:ea typeface="Calibri" pitchFamily="34" charset="-122"/>
                <a:cs typeface="Calibri" pitchFamily="34" charset="-120"/>
              </a:rPr>
              <a:t>ONBOARDING</a:t>
            </a:r>
            <a:endParaRPr lang="en-US" sz="1100" dirty="0"/>
          </a:p>
        </p:txBody>
      </p:sp>
      <p:sp>
        <p:nvSpPr>
          <p:cNvPr id="3" name="Text 1"/>
          <p:cNvSpPr/>
          <p:nvPr/>
        </p:nvSpPr>
        <p:spPr>
          <a:xfrm>
            <a:off x="731520" y="658368"/>
            <a:ext cx="7680960" cy="731520"/>
          </a:xfrm>
          <a:prstGeom prst="rect">
            <a:avLst/>
          </a:prstGeom>
          <a:noFill/>
          <a:ln/>
        </p:spPr>
        <p:txBody>
          <a:bodyPr wrap="square" lIns="0" tIns="0" rIns="0" bIns="0" rtlCol="0" anchor="ctr"/>
          <a:lstStyle/>
          <a:p>
            <a:pPr indent="0" marL="0">
              <a:lnSpc>
                <a:spcPct val="115000"/>
              </a:lnSpc>
              <a:buNone/>
            </a:pPr>
            <a:r>
              <a:rPr lang="en-US" sz="2600" b="1" dirty="0">
                <a:solidFill>
                  <a:srgbClr val="1A2332"/>
                </a:solidFill>
                <a:latin typeface="Georgia" pitchFamily="34" charset="0"/>
                <a:ea typeface="Georgia" pitchFamily="34" charset="-122"/>
                <a:cs typeface="Georgia" pitchFamily="34" charset="-120"/>
              </a:rPr>
              <a:t>From plug-in to full visibility.</a:t>
            </a:r>
            <a:endParaRPr lang="en-US" sz="2600" dirty="0"/>
          </a:p>
          <a:p>
            <a:pPr indent="0" marL="0">
              <a:lnSpc>
                <a:spcPct val="115000"/>
              </a:lnSpc>
              <a:buNone/>
            </a:pPr>
            <a:r>
              <a:rPr lang="en-US" sz="2600" b="1" dirty="0">
                <a:solidFill>
                  <a:srgbClr val="1A2332"/>
                </a:solidFill>
                <a:latin typeface="Georgia" pitchFamily="34" charset="0"/>
                <a:ea typeface="Georgia" pitchFamily="34" charset="-122"/>
                <a:cs typeface="Georgia" pitchFamily="34" charset="-120"/>
              </a:rPr>
              <a:t>Nothing breaks.</a:t>
            </a:r>
            <a:endParaRPr lang="en-US" sz="2600" dirty="0"/>
          </a:p>
        </p:txBody>
      </p:sp>
      <p:sp>
        <p:nvSpPr>
          <p:cNvPr id="4" name="Shape 2"/>
          <p:cNvSpPr/>
          <p:nvPr/>
        </p:nvSpPr>
        <p:spPr>
          <a:xfrm>
            <a:off x="457200" y="1600200"/>
            <a:ext cx="260604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594360" y="1737360"/>
            <a:ext cx="365760" cy="320040"/>
          </a:xfrm>
          <a:prstGeom prst="rect">
            <a:avLst/>
          </a:prstGeom>
          <a:solidFill>
            <a:srgbClr val="2A8A8A"/>
          </a:solidFill>
          <a:ln/>
        </p:spPr>
      </p:sp>
      <p:sp>
        <p:nvSpPr>
          <p:cNvPr id="6" name="Text 4"/>
          <p:cNvSpPr/>
          <p:nvPr/>
        </p:nvSpPr>
        <p:spPr>
          <a:xfrm>
            <a:off x="594360" y="1737360"/>
            <a:ext cx="365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051560" y="1737360"/>
            <a:ext cx="1828800" cy="3200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Connect Warehouse</a:t>
            </a:r>
            <a:endParaRPr lang="en-US" sz="1200" dirty="0"/>
          </a:p>
        </p:txBody>
      </p:sp>
      <p:sp>
        <p:nvSpPr>
          <p:cNvPr id="8" name="Text 6"/>
          <p:cNvSpPr/>
          <p:nvPr/>
        </p:nvSpPr>
        <p:spPr>
          <a:xfrm>
            <a:off x="594360" y="2148840"/>
            <a:ext cx="2331720" cy="731520"/>
          </a:xfrm>
          <a:prstGeom prst="rect">
            <a:avLst/>
          </a:prstGeom>
          <a:noFill/>
          <a:ln/>
        </p:spPr>
        <p:txBody>
          <a:bodyPr wrap="square" lIns="0" tIns="0" rIns="0" bIns="0" rtlCol="0" anchor="ctr"/>
          <a:lstStyle/>
          <a:p>
            <a:pPr indent="0" marL="0">
              <a:lnSpc>
                <a:spcPct val="140000"/>
              </a:lnSpc>
              <a:buNone/>
            </a:pPr>
            <a:r>
              <a:rPr lang="en-US" sz="1050" dirty="0">
                <a:solidFill>
                  <a:srgbClr val="3D4F63"/>
                </a:solidFill>
                <a:latin typeface="Calibri" pitchFamily="34" charset="0"/>
                <a:ea typeface="Calibri" pitchFamily="34" charset="-122"/>
                <a:cs typeface="Calibri" pitchFamily="34" charset="-120"/>
              </a:rPr>
              <a:t>Access to your warehouse + clean git repository &amp; dbt Cloud account.</a:t>
            </a:r>
            <a:endParaRPr lang="en-US" sz="1050" dirty="0"/>
          </a:p>
        </p:txBody>
      </p:sp>
      <p:sp>
        <p:nvSpPr>
          <p:cNvPr id="9" name="Shape 7"/>
          <p:cNvSpPr/>
          <p:nvPr/>
        </p:nvSpPr>
        <p:spPr>
          <a:xfrm>
            <a:off x="3337560" y="1600200"/>
            <a:ext cx="260604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3474720" y="1737360"/>
            <a:ext cx="365760" cy="320040"/>
          </a:xfrm>
          <a:prstGeom prst="rect">
            <a:avLst/>
          </a:prstGeom>
          <a:solidFill>
            <a:srgbClr val="2A8A8A"/>
          </a:solidFill>
          <a:ln/>
        </p:spPr>
      </p:sp>
      <p:sp>
        <p:nvSpPr>
          <p:cNvPr id="11" name="Text 9"/>
          <p:cNvSpPr/>
          <p:nvPr/>
        </p:nvSpPr>
        <p:spPr>
          <a:xfrm>
            <a:off x="3474720" y="1737360"/>
            <a:ext cx="365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p:nvPr/>
        </p:nvSpPr>
        <p:spPr>
          <a:xfrm>
            <a:off x="3931920" y="1737360"/>
            <a:ext cx="1828800" cy="3200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Agentic Data Quality Audit</a:t>
            </a:r>
            <a:endParaRPr lang="en-US" sz="1200" dirty="0"/>
          </a:p>
        </p:txBody>
      </p:sp>
      <p:sp>
        <p:nvSpPr>
          <p:cNvPr id="13" name="Text 11"/>
          <p:cNvSpPr/>
          <p:nvPr/>
        </p:nvSpPr>
        <p:spPr>
          <a:xfrm>
            <a:off x="3474720" y="2148840"/>
            <a:ext cx="2331720" cy="731520"/>
          </a:xfrm>
          <a:prstGeom prst="rect">
            <a:avLst/>
          </a:prstGeom>
          <a:noFill/>
          <a:ln/>
        </p:spPr>
        <p:txBody>
          <a:bodyPr wrap="square" lIns="0" tIns="0" rIns="0" bIns="0" rtlCol="0" anchor="ctr"/>
          <a:lstStyle/>
          <a:p>
            <a:pPr indent="0" marL="0">
              <a:lnSpc>
                <a:spcPct val="140000"/>
              </a:lnSpc>
              <a:buNone/>
            </a:pPr>
            <a:r>
              <a:rPr lang="en-US" sz="1050" dirty="0">
                <a:solidFill>
                  <a:srgbClr val="3D4F63"/>
                </a:solidFill>
                <a:latin typeface="Calibri" pitchFamily="34" charset="0"/>
                <a:ea typeface="Calibri" pitchFamily="34" charset="-122"/>
                <a:cs typeface="Calibri" pitchFamily="34" charset="-120"/>
              </a:rPr>
              <a:t>Automated audit of revenue, spend, and installs data integrity.</a:t>
            </a:r>
            <a:endParaRPr lang="en-US" sz="1050" dirty="0"/>
          </a:p>
        </p:txBody>
      </p:sp>
      <p:sp>
        <p:nvSpPr>
          <p:cNvPr id="14" name="Shape 12"/>
          <p:cNvSpPr/>
          <p:nvPr/>
        </p:nvSpPr>
        <p:spPr>
          <a:xfrm>
            <a:off x="6217920" y="1600200"/>
            <a:ext cx="260604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6355080" y="1737360"/>
            <a:ext cx="365760" cy="320040"/>
          </a:xfrm>
          <a:prstGeom prst="rect">
            <a:avLst/>
          </a:prstGeom>
          <a:solidFill>
            <a:srgbClr val="2A8A8A"/>
          </a:solidFill>
          <a:ln/>
        </p:spPr>
      </p:sp>
      <p:sp>
        <p:nvSpPr>
          <p:cNvPr id="16" name="Text 14"/>
          <p:cNvSpPr/>
          <p:nvPr/>
        </p:nvSpPr>
        <p:spPr>
          <a:xfrm>
            <a:off x="6355080" y="1737360"/>
            <a:ext cx="365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p:nvPr/>
        </p:nvSpPr>
        <p:spPr>
          <a:xfrm>
            <a:off x="6812280" y="1737360"/>
            <a:ext cx="1828800" cy="3200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Configure ID Logic</a:t>
            </a:r>
            <a:endParaRPr lang="en-US" sz="1200" dirty="0"/>
          </a:p>
        </p:txBody>
      </p:sp>
      <p:sp>
        <p:nvSpPr>
          <p:cNvPr id="18" name="Text 16"/>
          <p:cNvSpPr/>
          <p:nvPr/>
        </p:nvSpPr>
        <p:spPr>
          <a:xfrm>
            <a:off x="6355080" y="2148840"/>
            <a:ext cx="2331720" cy="731520"/>
          </a:xfrm>
          <a:prstGeom prst="rect">
            <a:avLst/>
          </a:prstGeom>
          <a:noFill/>
          <a:ln/>
        </p:spPr>
        <p:txBody>
          <a:bodyPr wrap="square" lIns="0" tIns="0" rIns="0" bIns="0" rtlCol="0" anchor="ctr"/>
          <a:lstStyle/>
          <a:p>
            <a:pPr indent="0" marL="0">
              <a:lnSpc>
                <a:spcPct val="140000"/>
              </a:lnSpc>
              <a:buNone/>
            </a:pPr>
            <a:r>
              <a:rPr lang="en-US" sz="1050" dirty="0">
                <a:solidFill>
                  <a:srgbClr val="3D4F63"/>
                </a:solidFill>
                <a:latin typeface="Calibri" pitchFamily="34" charset="0"/>
                <a:ea typeface="Calibri" pitchFamily="34" charset="-122"/>
                <a:cs typeface="Calibri" pitchFamily="34" charset="-120"/>
              </a:rPr>
              <a:t>Data blending configuration and device-level attribution for real organics.</a:t>
            </a:r>
            <a:endParaRPr lang="en-US" sz="1050" dirty="0"/>
          </a:p>
        </p:txBody>
      </p:sp>
      <p:sp>
        <p:nvSpPr>
          <p:cNvPr id="19" name="Shape 17"/>
          <p:cNvSpPr/>
          <p:nvPr/>
        </p:nvSpPr>
        <p:spPr>
          <a:xfrm>
            <a:off x="457200" y="3200400"/>
            <a:ext cx="260604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594360" y="3337560"/>
            <a:ext cx="365760" cy="320040"/>
          </a:xfrm>
          <a:prstGeom prst="rect">
            <a:avLst/>
          </a:prstGeom>
          <a:solidFill>
            <a:srgbClr val="2A8A8A"/>
          </a:solidFill>
          <a:ln/>
        </p:spPr>
      </p:sp>
      <p:sp>
        <p:nvSpPr>
          <p:cNvPr id="21" name="Text 19"/>
          <p:cNvSpPr/>
          <p:nvPr/>
        </p:nvSpPr>
        <p:spPr>
          <a:xfrm>
            <a:off x="594360" y="3337560"/>
            <a:ext cx="365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2" name="Text 20"/>
          <p:cNvSpPr/>
          <p:nvPr/>
        </p:nvSpPr>
        <p:spPr>
          <a:xfrm>
            <a:off x="1051560" y="3337560"/>
            <a:ext cx="1828800" cy="3200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Generate Semantic Layer</a:t>
            </a:r>
            <a:endParaRPr lang="en-US" sz="1200" dirty="0"/>
          </a:p>
        </p:txBody>
      </p:sp>
      <p:sp>
        <p:nvSpPr>
          <p:cNvPr id="23" name="Text 21"/>
          <p:cNvSpPr/>
          <p:nvPr/>
        </p:nvSpPr>
        <p:spPr>
          <a:xfrm>
            <a:off x="594360" y="3749040"/>
            <a:ext cx="2331720" cy="731520"/>
          </a:xfrm>
          <a:prstGeom prst="rect">
            <a:avLst/>
          </a:prstGeom>
          <a:noFill/>
          <a:ln/>
        </p:spPr>
        <p:txBody>
          <a:bodyPr wrap="square" lIns="0" tIns="0" rIns="0" bIns="0" rtlCol="0" anchor="ctr"/>
          <a:lstStyle/>
          <a:p>
            <a:pPr indent="0" marL="0">
              <a:lnSpc>
                <a:spcPct val="140000"/>
              </a:lnSpc>
              <a:buNone/>
            </a:pPr>
            <a:r>
              <a:rPr lang="en-US" sz="1050" dirty="0">
                <a:solidFill>
                  <a:srgbClr val="3D4F63"/>
                </a:solidFill>
                <a:latin typeface="Calibri" pitchFamily="34" charset="0"/>
                <a:ea typeface="Calibri" pitchFamily="34" charset="-122"/>
                <a:cs typeface="Calibri" pitchFamily="34" charset="-120"/>
              </a:rPr>
              <a:t>Custom business logic configuration on top of your data model.</a:t>
            </a:r>
            <a:endParaRPr lang="en-US" sz="1050" dirty="0"/>
          </a:p>
        </p:txBody>
      </p:sp>
      <p:sp>
        <p:nvSpPr>
          <p:cNvPr id="24" name="Shape 22"/>
          <p:cNvSpPr/>
          <p:nvPr/>
        </p:nvSpPr>
        <p:spPr>
          <a:xfrm>
            <a:off x="3337560" y="3200400"/>
            <a:ext cx="260604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5" name="Shape 23"/>
          <p:cNvSpPr/>
          <p:nvPr/>
        </p:nvSpPr>
        <p:spPr>
          <a:xfrm>
            <a:off x="3474720" y="3337560"/>
            <a:ext cx="365760" cy="320040"/>
          </a:xfrm>
          <a:prstGeom prst="rect">
            <a:avLst/>
          </a:prstGeom>
          <a:solidFill>
            <a:srgbClr val="2A8A8A"/>
          </a:solidFill>
          <a:ln/>
        </p:spPr>
      </p:sp>
      <p:sp>
        <p:nvSpPr>
          <p:cNvPr id="26" name="Text 24"/>
          <p:cNvSpPr/>
          <p:nvPr/>
        </p:nvSpPr>
        <p:spPr>
          <a:xfrm>
            <a:off x="3474720" y="3337560"/>
            <a:ext cx="365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7" name="Text 25"/>
          <p:cNvSpPr/>
          <p:nvPr/>
        </p:nvSpPr>
        <p:spPr>
          <a:xfrm>
            <a:off x="3931920" y="3337560"/>
            <a:ext cx="1828800" cy="3200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Product Data (On Demand)</a:t>
            </a:r>
            <a:endParaRPr lang="en-US" sz="1200" dirty="0"/>
          </a:p>
        </p:txBody>
      </p:sp>
      <p:sp>
        <p:nvSpPr>
          <p:cNvPr id="28" name="Text 26"/>
          <p:cNvSpPr/>
          <p:nvPr/>
        </p:nvSpPr>
        <p:spPr>
          <a:xfrm>
            <a:off x="3474720" y="3749040"/>
            <a:ext cx="2331720" cy="731520"/>
          </a:xfrm>
          <a:prstGeom prst="rect">
            <a:avLst/>
          </a:prstGeom>
          <a:noFill/>
          <a:ln/>
        </p:spPr>
        <p:txBody>
          <a:bodyPr wrap="square" lIns="0" tIns="0" rIns="0" bIns="0" rtlCol="0" anchor="ctr"/>
          <a:lstStyle/>
          <a:p>
            <a:pPr indent="0" marL="0">
              <a:lnSpc>
                <a:spcPct val="140000"/>
              </a:lnSpc>
              <a:buNone/>
            </a:pPr>
            <a:r>
              <a:rPr lang="en-US" sz="1050" dirty="0">
                <a:solidFill>
                  <a:srgbClr val="3D4F63"/>
                </a:solidFill>
                <a:latin typeface="Calibri" pitchFamily="34" charset="0"/>
                <a:ea typeface="Calibri" pitchFamily="34" charset="-122"/>
                <a:cs typeface="Calibri" pitchFamily="34" charset="-120"/>
              </a:rPr>
              <a:t>Optional integration of product analytics data into the unified model.</a:t>
            </a:r>
            <a:endParaRPr lang="en-US" sz="1050" dirty="0"/>
          </a:p>
        </p:txBody>
      </p:sp>
      <p:sp>
        <p:nvSpPr>
          <p:cNvPr id="29" name="Shape 27"/>
          <p:cNvSpPr/>
          <p:nvPr/>
        </p:nvSpPr>
        <p:spPr>
          <a:xfrm>
            <a:off x="6217920" y="3200400"/>
            <a:ext cx="2606040" cy="14173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Shape 28"/>
          <p:cNvSpPr/>
          <p:nvPr/>
        </p:nvSpPr>
        <p:spPr>
          <a:xfrm>
            <a:off x="6355080" y="3337560"/>
            <a:ext cx="365760" cy="320040"/>
          </a:xfrm>
          <a:prstGeom prst="rect">
            <a:avLst/>
          </a:prstGeom>
          <a:solidFill>
            <a:srgbClr val="2A8A8A"/>
          </a:solidFill>
          <a:ln/>
        </p:spPr>
      </p:sp>
      <p:sp>
        <p:nvSpPr>
          <p:cNvPr id="31" name="Text 29"/>
          <p:cNvSpPr/>
          <p:nvPr/>
        </p:nvSpPr>
        <p:spPr>
          <a:xfrm>
            <a:off x="6355080" y="3337560"/>
            <a:ext cx="365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2" name="Text 30"/>
          <p:cNvSpPr/>
          <p:nvPr/>
        </p:nvSpPr>
        <p:spPr>
          <a:xfrm>
            <a:off x="6812280" y="3337560"/>
            <a:ext cx="1828800" cy="32004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Go Live</a:t>
            </a:r>
            <a:endParaRPr lang="en-US" sz="1200" dirty="0"/>
          </a:p>
        </p:txBody>
      </p:sp>
      <p:sp>
        <p:nvSpPr>
          <p:cNvPr id="33" name="Text 31"/>
          <p:cNvSpPr/>
          <p:nvPr/>
        </p:nvSpPr>
        <p:spPr>
          <a:xfrm>
            <a:off x="6355080" y="3749040"/>
            <a:ext cx="2331720" cy="731520"/>
          </a:xfrm>
          <a:prstGeom prst="rect">
            <a:avLst/>
          </a:prstGeom>
          <a:noFill/>
          <a:ln/>
        </p:spPr>
        <p:txBody>
          <a:bodyPr wrap="square" lIns="0" tIns="0" rIns="0" bIns="0" rtlCol="0" anchor="ctr"/>
          <a:lstStyle/>
          <a:p>
            <a:pPr indent="0" marL="0">
              <a:lnSpc>
                <a:spcPct val="140000"/>
              </a:lnSpc>
              <a:buNone/>
            </a:pPr>
            <a:r>
              <a:rPr lang="en-US" sz="1050" dirty="0">
                <a:solidFill>
                  <a:srgbClr val="3D4F63"/>
                </a:solidFill>
                <a:latin typeface="Calibri" pitchFamily="34" charset="0"/>
                <a:ea typeface="Calibri" pitchFamily="34" charset="-122"/>
                <a:cs typeface="Calibri" pitchFamily="34" charset="-120"/>
              </a:rPr>
              <a:t>Raw data accessible in your warehouse. Parallel setup, minimal incremental costs.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731520" y="365760"/>
            <a:ext cx="4572000" cy="320040"/>
          </a:xfrm>
          <a:prstGeom prst="rect">
            <a:avLst/>
          </a:prstGeom>
          <a:noFill/>
          <a:ln/>
        </p:spPr>
        <p:txBody>
          <a:bodyPr wrap="square" lIns="0" tIns="0" rIns="0" bIns="0" rtlCol="0" anchor="ctr"/>
          <a:lstStyle/>
          <a:p>
            <a:pPr indent="0" marL="0">
              <a:buNone/>
            </a:pPr>
            <a:r>
              <a:rPr lang="en-US" sz="1100" b="1" spc="300" kern="0" dirty="0">
                <a:solidFill>
                  <a:srgbClr val="3AADAD"/>
                </a:solidFill>
                <a:latin typeface="Calibri" pitchFamily="34" charset="0"/>
                <a:ea typeface="Calibri" pitchFamily="34" charset="-122"/>
                <a:cs typeface="Calibri" pitchFamily="34" charset="-120"/>
              </a:rPr>
              <a:t>WHERE WE ARE</a:t>
            </a:r>
            <a:endParaRPr lang="en-US" sz="1100" dirty="0"/>
          </a:p>
        </p:txBody>
      </p:sp>
      <p:sp>
        <p:nvSpPr>
          <p:cNvPr id="3" name="Text 1"/>
          <p:cNvSpPr/>
          <p:nvPr/>
        </p:nvSpPr>
        <p:spPr>
          <a:xfrm>
            <a:off x="731520" y="777240"/>
            <a:ext cx="7680960" cy="822960"/>
          </a:xfrm>
          <a:prstGeom prst="rect">
            <a:avLst/>
          </a:prstGeom>
          <a:noFill/>
          <a:ln/>
        </p:spPr>
        <p:txBody>
          <a:bodyPr wrap="square" lIns="0" tIns="0" rIns="0" bIns="0" rtlCol="0" anchor="ctr"/>
          <a:lstStyle/>
          <a:p>
            <a:pPr indent="0" marL="0">
              <a:lnSpc>
                <a:spcPct val="115000"/>
              </a:lnSpc>
              <a:buNone/>
            </a:pPr>
            <a:r>
              <a:rPr lang="en-US" sz="2800" b="1" dirty="0">
                <a:solidFill>
                  <a:srgbClr val="FFFFFF"/>
                </a:solidFill>
                <a:latin typeface="Georgia" pitchFamily="34" charset="0"/>
                <a:ea typeface="Georgia" pitchFamily="34" charset="-122"/>
                <a:cs typeface="Georgia" pitchFamily="34" charset="-120"/>
              </a:rPr>
              <a:t>Built from real problems.</a:t>
            </a:r>
            <a:endParaRPr lang="en-US" sz="2800" dirty="0"/>
          </a:p>
          <a:p>
            <a:pPr indent="0" marL="0">
              <a:lnSpc>
                <a:spcPct val="115000"/>
              </a:lnSpc>
              <a:buNone/>
            </a:pPr>
            <a:r>
              <a:rPr lang="en-US" sz="2800" b="1" dirty="0">
                <a:solidFill>
                  <a:srgbClr val="FFFFFF"/>
                </a:solidFill>
                <a:latin typeface="Georgia" pitchFamily="34" charset="0"/>
                <a:ea typeface="Georgia" pitchFamily="34" charset="-122"/>
                <a:cs typeface="Georgia" pitchFamily="34" charset="-120"/>
              </a:rPr>
              <a:t>Shipping a real product.</a:t>
            </a:r>
            <a:endParaRPr lang="en-US" sz="2800" dirty="0"/>
          </a:p>
        </p:txBody>
      </p:sp>
      <p:sp>
        <p:nvSpPr>
          <p:cNvPr id="4" name="Text 2"/>
          <p:cNvSpPr/>
          <p:nvPr/>
        </p:nvSpPr>
        <p:spPr>
          <a:xfrm>
            <a:off x="731520" y="1828800"/>
            <a:ext cx="7680960" cy="822960"/>
          </a:xfrm>
          <a:prstGeom prst="rect">
            <a:avLst/>
          </a:prstGeom>
          <a:noFill/>
          <a:ln/>
        </p:spPr>
        <p:txBody>
          <a:bodyPr wrap="square" lIns="0" tIns="0" rIns="0" bIns="0" rtlCol="0" anchor="ctr"/>
          <a:lstStyle/>
          <a:p>
            <a:pPr indent="0" marL="0">
              <a:lnSpc>
                <a:spcPct val="150000"/>
              </a:lnSpc>
              <a:buNone/>
            </a:pPr>
            <a:r>
              <a:rPr lang="en-US" sz="1300" dirty="0">
                <a:solidFill>
                  <a:srgbClr val="8895A7"/>
                </a:solidFill>
                <a:latin typeface="Calibri" pitchFamily="34" charset="0"/>
                <a:ea typeface="Calibri" pitchFamily="34" charset="-122"/>
                <a:cs typeface="Calibri" pitchFamily="34" charset="-120"/>
              </a:rPr>
              <a:t>We built custom SSOT solutions for three mobile app companies. That hands-on work exposed the same patterns every time: fragmented data, duplicate definitions, slow reporting, and marketing teams flying blind on budget allocation. It led to our product: a context layer for mobile marketing teams.</a:t>
            </a:r>
            <a:endParaRPr lang="en-US" sz="1300" dirty="0"/>
          </a:p>
        </p:txBody>
      </p:sp>
      <p:sp>
        <p:nvSpPr>
          <p:cNvPr id="5" name="Shape 3"/>
          <p:cNvSpPr/>
          <p:nvPr/>
        </p:nvSpPr>
        <p:spPr>
          <a:xfrm>
            <a:off x="457200" y="2926080"/>
            <a:ext cx="2606040" cy="1828800"/>
          </a:xfrm>
          <a:prstGeom prst="rect">
            <a:avLst/>
          </a:prstGeom>
          <a:solidFill>
            <a:srgbClr val="1F2D40"/>
          </a:solidFill>
          <a:ln/>
        </p:spPr>
      </p:sp>
      <p:sp>
        <p:nvSpPr>
          <p:cNvPr id="6" name="Text 4"/>
          <p:cNvSpPr/>
          <p:nvPr/>
        </p:nvSpPr>
        <p:spPr>
          <a:xfrm>
            <a:off x="457200" y="3063240"/>
            <a:ext cx="2606040" cy="594360"/>
          </a:xfrm>
          <a:prstGeom prst="rect">
            <a:avLst/>
          </a:prstGeom>
          <a:noFill/>
          <a:ln/>
        </p:spPr>
        <p:txBody>
          <a:bodyPr wrap="square" lIns="0" tIns="0" rIns="0" bIns="0" rtlCol="0" anchor="ctr"/>
          <a:lstStyle/>
          <a:p>
            <a:pPr algn="ctr" indent="0" marL="0">
              <a:buNone/>
            </a:pPr>
            <a:r>
              <a:rPr lang="en-US" sz="4200" b="1" dirty="0">
                <a:solidFill>
                  <a:srgbClr val="2A8A8A"/>
                </a:solidFill>
                <a:latin typeface="Georgia" pitchFamily="34" charset="0"/>
                <a:ea typeface="Georgia" pitchFamily="34" charset="-122"/>
                <a:cs typeface="Georgia" pitchFamily="34" charset="-120"/>
              </a:rPr>
              <a:t>3</a:t>
            </a:r>
            <a:endParaRPr lang="en-US" sz="4200" dirty="0"/>
          </a:p>
        </p:txBody>
      </p:sp>
      <p:sp>
        <p:nvSpPr>
          <p:cNvPr id="7" name="Text 5"/>
          <p:cNvSpPr/>
          <p:nvPr/>
        </p:nvSpPr>
        <p:spPr>
          <a:xfrm>
            <a:off x="640080" y="3657600"/>
            <a:ext cx="2240280" cy="548640"/>
          </a:xfrm>
          <a:prstGeom prst="rect">
            <a:avLst/>
          </a:prstGeom>
          <a:noFill/>
          <a:ln/>
        </p:spPr>
        <p:txBody>
          <a:bodyPr wrap="square" lIns="0" tIns="0" rIns="0" bIns="0" rtlCol="0" anchor="ctr"/>
          <a:lstStyle/>
          <a:p>
            <a:pPr algn="ctr" indent="0" marL="0">
              <a:lnSpc>
                <a:spcPct val="130000"/>
              </a:lnSpc>
              <a:buNone/>
            </a:pPr>
            <a:r>
              <a:rPr lang="en-US" sz="1200" dirty="0">
                <a:solidFill>
                  <a:srgbClr val="FFFFFF"/>
                </a:solidFill>
                <a:latin typeface="Calibri" pitchFamily="34" charset="0"/>
                <a:ea typeface="Calibri" pitchFamily="34" charset="-122"/>
                <a:cs typeface="Calibri" pitchFamily="34" charset="-120"/>
              </a:rPr>
              <a:t>Custom SSOT builds</a:t>
            </a:r>
            <a:endParaRPr lang="en-US" sz="1200" dirty="0"/>
          </a:p>
          <a:p>
            <a:pPr algn="ctr" indent="0" marL="0">
              <a:lnSpc>
                <a:spcPct val="130000"/>
              </a:lnSpc>
              <a:buNone/>
            </a:pPr>
            <a:r>
              <a:rPr lang="en-US" sz="1200" dirty="0">
                <a:solidFill>
                  <a:srgbClr val="FFFFFF"/>
                </a:solidFill>
                <a:latin typeface="Calibri" pitchFamily="34" charset="0"/>
                <a:ea typeface="Calibri" pitchFamily="34" charset="-122"/>
                <a:cs typeface="Calibri" pitchFamily="34" charset="-120"/>
              </a:rPr>
              <a:t>for mobile app companies</a:t>
            </a:r>
            <a:endParaRPr lang="en-US" sz="1200" dirty="0"/>
          </a:p>
        </p:txBody>
      </p:sp>
      <p:sp>
        <p:nvSpPr>
          <p:cNvPr id="8" name="Text 6"/>
          <p:cNvSpPr/>
          <p:nvPr/>
        </p:nvSpPr>
        <p:spPr>
          <a:xfrm>
            <a:off x="640080" y="4206240"/>
            <a:ext cx="2240280" cy="274320"/>
          </a:xfrm>
          <a:prstGeom prst="rect">
            <a:avLst/>
          </a:prstGeom>
          <a:noFill/>
          <a:ln/>
        </p:spPr>
        <p:txBody>
          <a:bodyPr wrap="square" lIns="0" tIns="0" rIns="0" bIns="0" rtlCol="0" anchor="ctr"/>
          <a:lstStyle/>
          <a:p>
            <a:pPr algn="ctr" indent="0" marL="0">
              <a:buNone/>
            </a:pPr>
            <a:r>
              <a:rPr lang="en-US" sz="1000" i="1" dirty="0">
                <a:solidFill>
                  <a:srgbClr val="8895A7"/>
                </a:solidFill>
                <a:latin typeface="Calibri" pitchFamily="34" charset="0"/>
                <a:ea typeface="Calibri" pitchFamily="34" charset="-122"/>
                <a:cs typeface="Calibri" pitchFamily="34" charset="-120"/>
              </a:rPr>
              <a:t>Foundation of the product</a:t>
            </a:r>
            <a:endParaRPr lang="en-US" sz="1000" dirty="0"/>
          </a:p>
        </p:txBody>
      </p:sp>
      <p:sp>
        <p:nvSpPr>
          <p:cNvPr id="9" name="Shape 7"/>
          <p:cNvSpPr/>
          <p:nvPr/>
        </p:nvSpPr>
        <p:spPr>
          <a:xfrm>
            <a:off x="3337560" y="2926080"/>
            <a:ext cx="2606040" cy="1828800"/>
          </a:xfrm>
          <a:prstGeom prst="rect">
            <a:avLst/>
          </a:prstGeom>
          <a:solidFill>
            <a:srgbClr val="1F2D40"/>
          </a:solidFill>
          <a:ln/>
        </p:spPr>
      </p:sp>
      <p:sp>
        <p:nvSpPr>
          <p:cNvPr id="10" name="Text 8"/>
          <p:cNvSpPr/>
          <p:nvPr/>
        </p:nvSpPr>
        <p:spPr>
          <a:xfrm>
            <a:off x="3337560" y="3063240"/>
            <a:ext cx="2606040" cy="594360"/>
          </a:xfrm>
          <a:prstGeom prst="rect">
            <a:avLst/>
          </a:prstGeom>
          <a:noFill/>
          <a:ln/>
        </p:spPr>
        <p:txBody>
          <a:bodyPr wrap="square" lIns="0" tIns="0" rIns="0" bIns="0" rtlCol="0" anchor="ctr"/>
          <a:lstStyle/>
          <a:p>
            <a:pPr algn="ctr" indent="0" marL="0">
              <a:buNone/>
            </a:pPr>
            <a:r>
              <a:rPr lang="en-US" sz="4200" b="1" dirty="0">
                <a:solidFill>
                  <a:srgbClr val="2A8A8A"/>
                </a:solidFill>
                <a:latin typeface="Georgia" pitchFamily="34" charset="0"/>
                <a:ea typeface="Georgia" pitchFamily="34" charset="-122"/>
                <a:cs typeface="Georgia" pitchFamily="34" charset="-120"/>
              </a:rPr>
              <a:t>1</a:t>
            </a:r>
            <a:endParaRPr lang="en-US" sz="4200" dirty="0"/>
          </a:p>
        </p:txBody>
      </p:sp>
      <p:sp>
        <p:nvSpPr>
          <p:cNvPr id="11" name="Text 9"/>
          <p:cNvSpPr/>
          <p:nvPr/>
        </p:nvSpPr>
        <p:spPr>
          <a:xfrm>
            <a:off x="3520440" y="3657600"/>
            <a:ext cx="2240280" cy="548640"/>
          </a:xfrm>
          <a:prstGeom prst="rect">
            <a:avLst/>
          </a:prstGeom>
          <a:noFill/>
          <a:ln/>
        </p:spPr>
        <p:txBody>
          <a:bodyPr wrap="square" lIns="0" tIns="0" rIns="0" bIns="0" rtlCol="0" anchor="ctr"/>
          <a:lstStyle/>
          <a:p>
            <a:pPr algn="ctr" indent="0" marL="0">
              <a:lnSpc>
                <a:spcPct val="130000"/>
              </a:lnSpc>
              <a:buNone/>
            </a:pPr>
            <a:r>
              <a:rPr lang="en-US" sz="1200" dirty="0">
                <a:solidFill>
                  <a:srgbClr val="FFFFFF"/>
                </a:solidFill>
                <a:latin typeface="Calibri" pitchFamily="34" charset="0"/>
                <a:ea typeface="Calibri" pitchFamily="34" charset="-122"/>
                <a:cs typeface="Calibri" pitchFamily="34" charset="-120"/>
              </a:rPr>
              <a:t>Pilot customer</a:t>
            </a:r>
            <a:endParaRPr lang="en-US" sz="1200" dirty="0"/>
          </a:p>
          <a:p>
            <a:pPr algn="ctr" indent="0" marL="0">
              <a:lnSpc>
                <a:spcPct val="130000"/>
              </a:lnSpc>
              <a:buNone/>
            </a:pPr>
            <a:r>
              <a:rPr lang="en-US" sz="1200" dirty="0">
                <a:solidFill>
                  <a:srgbClr val="FFFFFF"/>
                </a:solidFill>
                <a:latin typeface="Calibri" pitchFamily="34" charset="0"/>
                <a:ea typeface="Calibri" pitchFamily="34" charset="-122"/>
                <a:cs typeface="Calibri" pitchFamily="34" charset="-120"/>
              </a:rPr>
              <a:t>in onboarding phase</a:t>
            </a:r>
            <a:endParaRPr lang="en-US" sz="1200" dirty="0"/>
          </a:p>
        </p:txBody>
      </p:sp>
      <p:sp>
        <p:nvSpPr>
          <p:cNvPr id="12" name="Text 10"/>
          <p:cNvSpPr/>
          <p:nvPr/>
        </p:nvSpPr>
        <p:spPr>
          <a:xfrm>
            <a:off x="3520440" y="4206240"/>
            <a:ext cx="2240280" cy="274320"/>
          </a:xfrm>
          <a:prstGeom prst="rect">
            <a:avLst/>
          </a:prstGeom>
          <a:noFill/>
          <a:ln/>
        </p:spPr>
        <p:txBody>
          <a:bodyPr wrap="square" lIns="0" tIns="0" rIns="0" bIns="0" rtlCol="0" anchor="ctr"/>
          <a:lstStyle/>
          <a:p>
            <a:pPr algn="ctr" indent="0" marL="0">
              <a:buNone/>
            </a:pPr>
            <a:r>
              <a:rPr lang="en-US" sz="1000" i="1" dirty="0">
                <a:solidFill>
                  <a:srgbClr val="8895A7"/>
                </a:solidFill>
                <a:latin typeface="Calibri" pitchFamily="34" charset="0"/>
                <a:ea typeface="Calibri" pitchFamily="34" charset="-122"/>
                <a:cs typeface="Calibri" pitchFamily="34" charset="-120"/>
              </a:rPr>
              <a:t>Active implementation</a:t>
            </a:r>
            <a:endParaRPr lang="en-US" sz="1000" dirty="0"/>
          </a:p>
        </p:txBody>
      </p:sp>
      <p:sp>
        <p:nvSpPr>
          <p:cNvPr id="13" name="Shape 11"/>
          <p:cNvSpPr/>
          <p:nvPr/>
        </p:nvSpPr>
        <p:spPr>
          <a:xfrm>
            <a:off x="6217920" y="2926080"/>
            <a:ext cx="2606040" cy="1828800"/>
          </a:xfrm>
          <a:prstGeom prst="rect">
            <a:avLst/>
          </a:prstGeom>
          <a:solidFill>
            <a:srgbClr val="1F2D40"/>
          </a:solidFill>
          <a:ln/>
        </p:spPr>
      </p:sp>
      <p:sp>
        <p:nvSpPr>
          <p:cNvPr id="14" name="Text 12"/>
          <p:cNvSpPr/>
          <p:nvPr/>
        </p:nvSpPr>
        <p:spPr>
          <a:xfrm>
            <a:off x="6217920" y="3063240"/>
            <a:ext cx="2606040" cy="594360"/>
          </a:xfrm>
          <a:prstGeom prst="rect">
            <a:avLst/>
          </a:prstGeom>
          <a:noFill/>
          <a:ln/>
        </p:spPr>
        <p:txBody>
          <a:bodyPr wrap="square" lIns="0" tIns="0" rIns="0" bIns="0" rtlCol="0" anchor="ctr"/>
          <a:lstStyle/>
          <a:p>
            <a:pPr algn="ctr" indent="0" marL="0">
              <a:buNone/>
            </a:pPr>
            <a:r>
              <a:rPr lang="en-US" sz="4200" b="1" dirty="0">
                <a:solidFill>
                  <a:srgbClr val="2A8A8A"/>
                </a:solidFill>
                <a:latin typeface="Georgia" pitchFamily="34" charset="0"/>
                <a:ea typeface="Georgia" pitchFamily="34" charset="-122"/>
                <a:cs typeface="Georgia" pitchFamily="34" charset="-120"/>
              </a:rPr>
              <a:t>1</a:t>
            </a:r>
            <a:endParaRPr lang="en-US" sz="4200" dirty="0"/>
          </a:p>
        </p:txBody>
      </p:sp>
      <p:sp>
        <p:nvSpPr>
          <p:cNvPr id="15" name="Text 13"/>
          <p:cNvSpPr/>
          <p:nvPr/>
        </p:nvSpPr>
        <p:spPr>
          <a:xfrm>
            <a:off x="6400800" y="3657600"/>
            <a:ext cx="2240280" cy="548640"/>
          </a:xfrm>
          <a:prstGeom prst="rect">
            <a:avLst/>
          </a:prstGeom>
          <a:noFill/>
          <a:ln/>
        </p:spPr>
        <p:txBody>
          <a:bodyPr wrap="square" lIns="0" tIns="0" rIns="0" bIns="0" rtlCol="0" anchor="ctr"/>
          <a:lstStyle/>
          <a:p>
            <a:pPr algn="ctr" indent="0" marL="0">
              <a:lnSpc>
                <a:spcPct val="130000"/>
              </a:lnSpc>
              <a:buNone/>
            </a:pPr>
            <a:r>
              <a:rPr lang="en-US" sz="1200" dirty="0">
                <a:solidFill>
                  <a:srgbClr val="FFFFFF"/>
                </a:solidFill>
                <a:latin typeface="Calibri" pitchFamily="34" charset="0"/>
                <a:ea typeface="Calibri" pitchFamily="34" charset="-122"/>
                <a:cs typeface="Calibri" pitchFamily="34" charset="-120"/>
              </a:rPr>
              <a:t>Pilot customer</a:t>
            </a:r>
            <a:endParaRPr lang="en-US" sz="1200" dirty="0"/>
          </a:p>
          <a:p>
            <a:pPr algn="ctr" indent="0" marL="0">
              <a:lnSpc>
                <a:spcPct val="130000"/>
              </a:lnSpc>
              <a:buNone/>
            </a:pPr>
            <a:r>
              <a:rPr lang="en-US" sz="1200" dirty="0">
                <a:solidFill>
                  <a:srgbClr val="FFFFFF"/>
                </a:solidFill>
                <a:latin typeface="Calibri" pitchFamily="34" charset="0"/>
                <a:ea typeface="Calibri" pitchFamily="34" charset="-122"/>
                <a:cs typeface="Calibri" pitchFamily="34" charset="-120"/>
              </a:rPr>
              <a:t>in signature phase</a:t>
            </a:r>
            <a:endParaRPr lang="en-US" sz="1200" dirty="0"/>
          </a:p>
        </p:txBody>
      </p:sp>
      <p:sp>
        <p:nvSpPr>
          <p:cNvPr id="16" name="Text 14"/>
          <p:cNvSpPr/>
          <p:nvPr/>
        </p:nvSpPr>
        <p:spPr>
          <a:xfrm>
            <a:off x="6400800" y="4206240"/>
            <a:ext cx="2240280" cy="274320"/>
          </a:xfrm>
          <a:prstGeom prst="rect">
            <a:avLst/>
          </a:prstGeom>
          <a:noFill/>
          <a:ln/>
        </p:spPr>
        <p:txBody>
          <a:bodyPr wrap="square" lIns="0" tIns="0" rIns="0" bIns="0" rtlCol="0" anchor="ctr"/>
          <a:lstStyle/>
          <a:p>
            <a:pPr algn="ctr" indent="0" marL="0">
              <a:buNone/>
            </a:pPr>
            <a:r>
              <a:rPr lang="en-US" sz="1000" i="1" dirty="0">
                <a:solidFill>
                  <a:srgbClr val="8895A7"/>
                </a:solidFill>
                <a:latin typeface="Calibri" pitchFamily="34" charset="0"/>
                <a:ea typeface="Calibri" pitchFamily="34" charset="-122"/>
                <a:cs typeface="Calibri" pitchFamily="34" charset="-120"/>
              </a:rPr>
              <a:t>Pipeline</a:t>
            </a:r>
            <a:endParaRPr lang="en-US" sz="1000" dirty="0"/>
          </a:p>
        </p:txBody>
      </p:sp>
      <p:sp>
        <p:nvSpPr>
          <p:cNvPr id="17" name="Shape 15"/>
          <p:cNvSpPr/>
          <p:nvPr/>
        </p:nvSpPr>
        <p:spPr>
          <a:xfrm>
            <a:off x="0" y="4892040"/>
            <a:ext cx="9144000" cy="251460"/>
          </a:xfrm>
          <a:prstGeom prst="rect">
            <a:avLst/>
          </a:prstGeom>
          <a:solidFill>
            <a:srgbClr val="2A8A8A"/>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8A8A"/>
        </a:solidFill>
      </p:bgPr>
    </p:bg>
    <p:spTree>
      <p:nvGrpSpPr>
        <p:cNvPr id="1" name=""/>
        <p:cNvGrpSpPr/>
        <p:nvPr/>
      </p:nvGrpSpPr>
      <p:grpSpPr>
        <a:xfrm>
          <a:off x="0" y="0"/>
          <a:ext cx="0" cy="0"/>
          <a:chOff x="0" y="0"/>
          <a:chExt cx="0" cy="0"/>
        </a:xfrm>
      </p:grpSpPr>
      <p:pic>
        <p:nvPicPr>
          <p:cNvPr id="2" name="Image 0" descr="/sessions/zen-pensive-lovelace/mnt/presentation/Lupe_analytics.png">    </p:cNvPr>
          <p:cNvPicPr>
            <a:picLocks noChangeAspect="1"/>
          </p:cNvPicPr>
          <p:nvPr/>
        </p:nvPicPr>
        <p:blipFill>
          <a:blip r:embed="rId1"/>
          <a:stretch>
            <a:fillRect/>
          </a:stretch>
        </p:blipFill>
        <p:spPr>
          <a:xfrm>
            <a:off x="3886200" y="548640"/>
            <a:ext cx="1371600" cy="1371600"/>
          </a:xfrm>
          <a:prstGeom prst="rect">
            <a:avLst/>
          </a:prstGeom>
        </p:spPr>
      </p:pic>
      <p:sp>
        <p:nvSpPr>
          <p:cNvPr id="3" name="Text 0"/>
          <p:cNvSpPr/>
          <p:nvPr/>
        </p:nvSpPr>
        <p:spPr>
          <a:xfrm>
            <a:off x="914400" y="2011680"/>
            <a:ext cx="7315200" cy="1097280"/>
          </a:xfrm>
          <a:prstGeom prst="rect">
            <a:avLst/>
          </a:prstGeom>
          <a:noFill/>
          <a:ln/>
        </p:spPr>
        <p:txBody>
          <a:bodyPr wrap="square" lIns="0" tIns="0" rIns="0" bIns="0" rtlCol="0" anchor="ctr"/>
          <a:lstStyle/>
          <a:p>
            <a:pPr algn="ctr" indent="0" marL="0">
              <a:lnSpc>
                <a:spcPct val="115000"/>
              </a:lnSpc>
              <a:buNone/>
            </a:pPr>
            <a:r>
              <a:rPr lang="en-US" sz="3400" b="1" dirty="0">
                <a:solidFill>
                  <a:srgbClr val="FFFFFF"/>
                </a:solidFill>
                <a:latin typeface="Georgia" pitchFamily="34" charset="0"/>
                <a:ea typeface="Georgia" pitchFamily="34" charset="-122"/>
                <a:cs typeface="Georgia" pitchFamily="34" charset="-120"/>
              </a:rPr>
              <a:t>Ready to protect your</a:t>
            </a:r>
            <a:endParaRPr lang="en-US" sz="3400" dirty="0"/>
          </a:p>
          <a:p>
            <a:pPr algn="ctr" indent="0" marL="0">
              <a:lnSpc>
                <a:spcPct val="115000"/>
              </a:lnSpc>
              <a:buNone/>
            </a:pPr>
            <a:r>
              <a:rPr lang="en-US" sz="3400" b="1" dirty="0">
                <a:solidFill>
                  <a:srgbClr val="FFFFFF"/>
                </a:solidFill>
                <a:latin typeface="Georgia" pitchFamily="34" charset="0"/>
                <a:ea typeface="Georgia" pitchFamily="34" charset="-122"/>
                <a:cs typeface="Georgia" pitchFamily="34" charset="-120"/>
              </a:rPr>
              <a:t>return on ad spend?</a:t>
            </a:r>
            <a:endParaRPr lang="en-US" sz="3400" dirty="0"/>
          </a:p>
        </p:txBody>
      </p:sp>
      <p:sp>
        <p:nvSpPr>
          <p:cNvPr id="4" name="Text 1"/>
          <p:cNvSpPr/>
          <p:nvPr/>
        </p:nvSpPr>
        <p:spPr>
          <a:xfrm>
            <a:off x="1371600" y="3200400"/>
            <a:ext cx="64008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See where you're wasting budget. Get full visibility in 90 days.</a:t>
            </a:r>
            <a:endParaRPr lang="en-US" sz="1500" dirty="0"/>
          </a:p>
        </p:txBody>
      </p:sp>
      <p:sp>
        <p:nvSpPr>
          <p:cNvPr id="5" name="Shape 2"/>
          <p:cNvSpPr/>
          <p:nvPr/>
        </p:nvSpPr>
        <p:spPr>
          <a:xfrm>
            <a:off x="3200400" y="3840480"/>
            <a:ext cx="2743200" cy="502920"/>
          </a:xfrm>
          <a:prstGeom prst="rect">
            <a:avLst/>
          </a:prstGeom>
          <a:solidFill>
            <a:srgbClr val="FFFFFF"/>
          </a:solidFill>
          <a:ln/>
        </p:spPr>
      </p:sp>
      <p:sp>
        <p:nvSpPr>
          <p:cNvPr id="6" name="Text 3"/>
          <p:cNvSpPr/>
          <p:nvPr/>
        </p:nvSpPr>
        <p:spPr>
          <a:xfrm>
            <a:off x="3200400" y="3840480"/>
            <a:ext cx="2743200" cy="502920"/>
          </a:xfrm>
          <a:prstGeom prst="rect">
            <a:avLst/>
          </a:prstGeom>
          <a:noFill/>
          <a:ln/>
        </p:spPr>
        <p:txBody>
          <a:bodyPr wrap="square" lIns="0" tIns="0" rIns="0" bIns="0" rtlCol="0" anchor="ctr"/>
          <a:lstStyle/>
          <a:p>
            <a:pPr algn="ctr" indent="0" marL="0">
              <a:buNone/>
            </a:pPr>
            <a:r>
              <a:rPr lang="en-US" sz="1600" b="1" dirty="0">
                <a:solidFill>
                  <a:srgbClr val="2A8A8A"/>
                </a:solidFill>
                <a:latin typeface="Calibri" pitchFamily="34" charset="0"/>
                <a:ea typeface="Calibri" pitchFamily="34" charset="-122"/>
                <a:cs typeface="Calibri" pitchFamily="34" charset="-120"/>
              </a:rPr>
              <a:t>Book a Demo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Lupe Analytics - Product Overview</dc:title>
  <dc:subject>PptxGenJS Presentation</dc:subject>
  <dc:creator>Lupe Analytics</dc:creator>
  <cp:lastModifiedBy>Lupe Analytics</cp:lastModifiedBy>
  <cp:revision>1</cp:revision>
  <dcterms:created xsi:type="dcterms:W3CDTF">2026-03-18T15:50:31Z</dcterms:created>
  <dcterms:modified xsi:type="dcterms:W3CDTF">2026-03-18T15:50:31Z</dcterms:modified>
</cp:coreProperties>
</file>