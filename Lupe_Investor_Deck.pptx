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2"/>
  </p:normalViewPr>
  <p:slideViewPr>
    <p:cSldViewPr snapToGrid="0" snapToObjects="1">
      <p:cViewPr varScale="1">
        <p:scale>
          <a:sx n="103" d="100"/>
          <a:sy n="103" d="100"/>
        </p:scale>
        <p:origin x="200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LUPE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7AFF"/>
                </a:solidFill>
                <a:latin typeface="Calibri"/>
              </a:defRPr>
            </a:pPr>
            <a:r>
              <a:t>AI Agents That Replace Your Data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3794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€100K ARR  |  Inbound Clients  |  AI Pilot Live  |  35-Lead Pipeline  |  DACH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Clients came for our attribution models. Now we're automating</a:t>
            </a:r>
            <a:br/>
            <a:r>
              <a:t>the entire analytics stack with AI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Investor Overview  |  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Clients Found Us. We Didn't Find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56032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7AFF"/>
                </a:solidFill>
                <a:latin typeface="Calibri"/>
              </a:defRPr>
            </a:pPr>
            <a:r>
              <a:t>€100K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Paying clients. Real revenue.</a:t>
            </a:r>
            <a:br/>
            <a:r>
              <a:t>Not projections.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56032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7AFF"/>
                </a:solidFill>
                <a:latin typeface="Calibri"/>
              </a:defRPr>
            </a:pPr>
            <a:r>
              <a:t>Inbound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Clients reached out for our</a:t>
            </a:r>
            <a:br/>
            <a:r>
              <a:t>attribution models specifically.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56032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7AFF"/>
                </a:solidFill>
                <a:latin typeface="Calibri"/>
              </a:defRPr>
            </a:pPr>
            <a:r>
              <a:t>AI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QA &amp; Reporting agents deployed.</a:t>
            </a:r>
            <a:br/>
            <a:r>
              <a:t>Expansion revenue in motion.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11680"/>
            <a:ext cx="2560320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1945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7A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Researched 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Named companies. Real spend</a:t>
            </a:r>
            <a:br/>
            <a:r>
              <a:t>estimates. DACH pipeline ready.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212"/>
                </a:solidFill>
                <a:latin typeface="Calibri"/>
              </a:defRPr>
            </a:pPr>
            <a:r>
              <a:t>The story: Studios came to us because they couldn't solve attribution in-house. We built custom data models — dbt, Snowflake, semantic layer — that gave them clarity on ROAS, LTV, and spend allocation. Now we're layering AI agents on top: automated reporting, natural-language analytics, and soon autonomous data engineering. The wedge is attribution expertise. The platform is AI-powered analytics-as-a-service.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Studios Are Bleeding Money on Data They Can't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Talent Shortage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212"/>
                </a:solidFill>
                <a:latin typeface="Calibri"/>
              </a:defRPr>
            </a:pPr>
            <a:r>
              <a:t>6-12 months to hire a data engineer in DACH.</a:t>
            </a:r>
            <a:br/>
            <a:r>
              <a:t>€80-120K/yr salary before they write a single query.</a:t>
            </a:r>
            <a:br/>
            <a:r>
              <a:t>Most studios can't compete with Big Tech for talent.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Slow Time-to-Insight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212"/>
                </a:solidFill>
                <a:latin typeface="Calibri"/>
              </a:defRPr>
            </a:pPr>
            <a:r>
              <a:t>New hire takes 3-6 months to understand the business.</a:t>
            </a:r>
            <a:br/>
            <a:r>
              <a:t>Pipelines break. Reports are 2 weeks late.</a:t>
            </a:r>
            <a:br/>
            <a:r>
              <a:t>By the time you see the data, the campaign is 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29184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Wrong Spend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2608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212"/>
                </a:solidFill>
                <a:latin typeface="Calibri"/>
              </a:defRPr>
            </a:pPr>
            <a:r>
              <a:t>Every month without proper attribution,</a:t>
            </a:r>
            <a:br/>
            <a:r>
              <a:t>studios misallocate 15-30% of ad spend.</a:t>
            </a:r>
            <a:br/>
            <a:r>
              <a:t>At €500K/mo, that's €75-150K wasted monthly.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 Forces Converging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LLM Costs Dropped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GPT-4 class models cost $60/M tokens in 2023.</a:t>
            </a:r>
            <a:br/>
            <a:r>
              <a:t>Today: $2-5/M tokens. Agent orchestration is</a:t>
            </a:r>
            <a:br/>
            <a:r>
              <a:t>now economically viable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Post-ATT Margin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Apple's privacy changes broke easy attribution.</a:t>
            </a:r>
            <a:br/>
            <a:r>
              <a:t>Studios need sophisticated analytics just to</a:t>
            </a:r>
            <a:br/>
            <a:r>
              <a:t>maintain ROAS. Most can't afford the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DACH Data Talent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8346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Germany's data engineering gap is 40K+ roles.</a:t>
            </a:r>
            <a:br/>
            <a:r>
              <a:t>Average time-to-hire: 6+ months.</a:t>
            </a:r>
            <a:br/>
            <a:r>
              <a:t>Studios are stuck, not by choice but by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An AI Agent for Every Role You'd Hire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QA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LIVE —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Multi-turn analytics queries against</a:t>
            </a:r>
            <a:br/>
            <a:r>
              <a:t>a semantic layer. Handles metric lookups,</a:t>
            </a:r>
            <a:br/>
            <a:r>
              <a:t>filtering, comparisons, trend analysis.</a:t>
            </a:r>
            <a:br/>
            <a:r>
              <a:t>Answers in seconds, not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Replaces: Marketing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Reporting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LIVE —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Automated daily &amp; weekly marketing</a:t>
            </a:r>
            <a:br/>
            <a:r>
              <a:t>reports. Executive summaries, action</a:t>
            </a:r>
            <a:br/>
            <a:r>
              <a:t>plans, anomaly detection. Ad Tech</a:t>
            </a:r>
            <a:br/>
            <a:r>
              <a:t>expert (part-time) training agents.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Replaces: Analytics + UA 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Calibri"/>
              </a:defRPr>
            </a:pPr>
            <a:r>
              <a:t>Coding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In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Autonomous data engineering:</a:t>
            </a:r>
            <a:br/>
            <a:r>
              <a:t>ingestion, validation, dbt model changes,</a:t>
            </a:r>
            <a:br/>
            <a:r>
              <a:t>CI/CD deployment. Eliminates our</a:t>
            </a:r>
            <a:br/>
            <a:r>
              <a:t>current bottleneck of manual model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303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Replaces: Data Engineer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Client Makes Every Other Client Smarter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Cross-Client Intelligence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Each client's campaign data trains the underlying agents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Ad network performance patterns shared across verticals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Attribution model improvements propagate to all clients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Benchmarking: "Studios your size in gaming spend X on network Y"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The more clients we onboard, the smarter every agent gets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Expansion path: A/B testing, product analytics, full data team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Ad Tech Domain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Ad Tech expert currently part-time — first full-time hire if funded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Building network suggestion system (where to shift spend)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Campaign scale intelligence fed back into agent prompts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Not generic AI — deep mobile UA + ad network knowledge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Agents learn which networks perform for which genres</a:t>
            </a:r>
          </a:p>
          <a:p>
            <a:pPr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Goal: autonomous UA optimization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FF"/>
                </a:solidFill>
                <a:latin typeface="Calibri"/>
              </a:defRPr>
            </a:pPr>
            <a:r>
              <a:t>This is not a tool. It's a network-effect platform. Each new studio compounds the value for everyone.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  <a:latin typeface="Calibri"/>
              </a:defRPr>
            </a:pPr>
            <a:r>
              <a:t>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212"/>
                </a:solidFill>
                <a:latin typeface="Calibri"/>
              </a:defRPr>
            </a:pPr>
            <a:r>
              <a:t>Why We Need the Coding Agent — And Why Funding Accelerates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Calibri"/>
              </a:defRPr>
            </a:pPr>
            <a:r>
              <a:t>TODAY: Semi-Manual,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Custom dbt models for each client — half manual process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Internal coding agents assist but can't fully automate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Each new client = weeks of model customization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Feature development competes with client onboarding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Founders split between product and delivery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Scales linearly with our time, not exponentially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029200" cy="41148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alibri"/>
              </a:defRPr>
            </a:pPr>
            <a:r>
              <a:t>WITH CODING AGENT: Autonomous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New client onboarding: days, not weeks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dbt model generation from schema detection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Ingestion pipelines auto-configured per source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Validation + testing via CI/CD — no human in the loop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Founders focus on sales + product, not delivery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Scales with compute, not headcount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What Lupe Replaces vs. Hiring In-House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502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 Replaced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Hiring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Lupe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 Saves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Analytics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€80-120K/yr + 6mo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Included in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€70K+ /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Marketing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€60-80K/yr +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Included in monthly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€55K+ /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UA Manager (partial)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€60-80K/yr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Included in monthly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931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€55K+ /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26279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7199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Industry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7199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12-18mo ramp for new hire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57199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Built-in from Day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57199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Time to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6-12 months team +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212"/>
                </a:solidFill>
                <a:latin typeface="Calibri"/>
              </a:defRPr>
            </a:pPr>
            <a:r>
              <a:t>4-6 weeks to live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Faster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Total Year-1 saving for a Greenfield client: €102K+ (Starter) to €180K+ (Growth)  —  ROI: 2-3x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Two Tracks, Two Client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A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Data-mature studios  |  €300K+ monthly ad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€1,500/mo base + % of managed ad spend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Tier 1 (≤€1M): 1.0%  |  Tier 2 (≤€3M): 0.75%  |  Tier 3 (&gt;€3M): 0.5%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Revenue cap: €31,500/mo per client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No setup fee — zero barrier to trial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30-day free pilot on real data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12-month minimum commitment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7B"/>
                </a:solidFill>
                <a:latin typeface="Calibri"/>
              </a:defRPr>
            </a:pPr>
            <a:r>
              <a:t>GREENFIELD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No data team  |  Full replacement in one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Flat monthly fee: €2,500 – €5,000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One-time setup: €5K – €8K (Data Foundation)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Starter (&lt;€500K spend): €2,500/mo + €8K setup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Growth (€500K–2M): €3,500/mo + €5K setup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Scale (&gt;€2M): €5,000/mo, no setup fee</a:t>
            </a:r>
          </a:p>
          <a:p>
            <a:pPr>
              <a:spcBef>
                <a:spcPts val="400"/>
              </a:spcBef>
              <a:defRPr sz="1400" b="0">
                <a:solidFill>
                  <a:srgbClr val="121212"/>
                </a:solidFill>
                <a:latin typeface="Calibri"/>
              </a:defRPr>
            </a:pPr>
            <a:r>
              <a:t>14-day scoped proof-of-value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21212"/>
                </a:solidFill>
                <a:latin typeface="Calibri"/>
              </a:defRPr>
            </a:pPr>
            <a:r>
              <a:t>Why Not Just Use Looker + ChatGPT?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502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They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Why Lupe Wins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  <a:latin typeface="Calibri"/>
              </a:defRPr>
            </a:pPr>
            <a:r>
              <a:t>Traditional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3288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Looker, Tableau,</a:t>
            </a:r>
            <a:br/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3288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Visualize data someone</a:t>
            </a:r>
            <a:br/>
            <a:r>
              <a:t>else prepared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328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They show charts. They don't think.</a:t>
            </a:r>
            <a:br/>
            <a:r>
              <a:t>Still need a full data team.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  <a:latin typeface="Calibri"/>
              </a:defRPr>
            </a:pPr>
            <a:r>
              <a:t>Modern Data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5584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dbt + Metabase</a:t>
            </a:r>
            <a:br/>
            <a:r>
              <a:t>/ Lightdash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35584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Great tools for teams</a:t>
            </a:r>
            <a:br/>
            <a:r>
              <a:t>that exist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3558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Greenfield studios can't use them</a:t>
            </a:r>
            <a:br/>
            <a:r>
              <a:t>without an engineer to hire first.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105156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788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  <a:latin typeface="Calibri"/>
              </a:defRPr>
            </a:pPr>
            <a:r>
              <a:t>MMPs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7880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Adjust, Singular,</a:t>
            </a:r>
            <a:br/>
            <a:r>
              <a:t>Kochava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17880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Attribution layer +</a:t>
            </a:r>
            <a:br/>
            <a:r>
              <a:t>basic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17880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No warehouse modeling, no "why"</a:t>
            </a:r>
            <a:br/>
            <a:r>
              <a:t>analysis, no automated insights.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8348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00176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  <a:latin typeface="Calibri"/>
              </a:defRPr>
            </a:pPr>
            <a:r>
              <a:t>Generic AI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0176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Ask-your-data</a:t>
            </a:r>
            <a:br/>
            <a:r>
              <a:t>startups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00176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SQL wrappers with</a:t>
            </a:r>
            <a:br/>
            <a:r>
              <a:t>natural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00176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No domain depth. They don't know</a:t>
            </a:r>
            <a:br/>
            <a:r>
              <a:t>ROAS, LTV, or D7 retention.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806440"/>
            <a:ext cx="1051560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824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  <a:latin typeface="Calibri"/>
              </a:defRPr>
            </a:pPr>
            <a:r>
              <a:t>Hiring In-House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824728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The real</a:t>
            </a:r>
            <a:br/>
            <a:r>
              <a:t>competitor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82472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21212"/>
                </a:solidFill>
                <a:latin typeface="Calibri"/>
              </a:defRPr>
            </a:pPr>
            <a:r>
              <a:t>€180-280K/yr,</a:t>
            </a:r>
            <a:br/>
            <a:r>
              <a:t>6-12mo ramp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824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alibri"/>
              </a:defRPr>
            </a:pPr>
            <a:r>
              <a:t>Lupe delivers in 4 weeks</a:t>
            </a:r>
            <a:br/>
            <a:r>
              <a:t>for €30-60K/yr.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819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rPr dirty="0"/>
              <a:t>Our moat: We own the semantic layer + attribution models in the client's warehouse. Switching means rebuilding months of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€100K ARR Today — Phased Ramp from 35 Researched Leads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  <a:latin typeface="Calibri"/>
              </a:defRPr>
            </a:pPr>
            <a:r>
              <a:t>Starting point: €100K ARR from existing clients (attribution models + AI pilot)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13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313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13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Platform 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134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ARR Run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8529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Quick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529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M1-M3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8529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529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€16.5K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8529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€198K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3401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Early 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01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M4-M6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01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01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€38K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401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€456K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Growth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M7-M9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€101K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9502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€1.2M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30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Scale Phase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M10-M12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€157.5K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4988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€1.9M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63040" y="5047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047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M13-M18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047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047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€237K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047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  <a:latin typeface="Calibri"/>
              </a:defRPr>
            </a:pPr>
            <a:r>
              <a:t>€2.8M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Pipeline:  Conservative (15% win) = €54K MRR  |  Base (25%) = €117K  |  High-priority only = €268.5K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Note: All MRR figures are additive to existing €100K ARR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212"/>
                </a:solidFill>
                <a:latin typeface="Calibri"/>
              </a:defRPr>
            </a:pPr>
            <a:r>
              <a:t>35 Researched Leads — Named Companies, Real Spend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Enterprise Large (€31.5K/mo)  —  7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Delivery Hero, Bolt, Stilfront, N26, FlixBus, Zalando, GetYourGuide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Enterprise Growth (€16.5K/mo)  —  7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rPr dirty="0" err="1"/>
              <a:t>InnoGames</a:t>
            </a:r>
            <a:r>
              <a:rPr dirty="0"/>
              <a:t>, Kolibri, Trivago, </a:t>
            </a:r>
            <a:r>
              <a:rPr dirty="0" err="1"/>
              <a:t>Storytel</a:t>
            </a:r>
            <a:r>
              <a:rPr dirty="0"/>
              <a:t>, Goodgame, Trade Republic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FF"/>
                </a:solidFill>
                <a:latin typeface="Calibri"/>
              </a:defRPr>
            </a:pPr>
            <a:r>
              <a:t>Enterprise Mid &amp; Small  —  5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Scalable Capital, Taxfix, Parship, SOFTGAMES, Blinkist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Greenfield Growth (€3.5K/mo)  —  8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LOVOO, Sunday.gg, Deca Games, Lotum, Sunday Natural, Gameforge, Immowelt, Rebuy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Greenfield Starter (€2.5K/mo)  —  7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Clue, Freeletics, Starberry, Zasta, Tangelo, Crimson Pine, Vivid Money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FF"/>
                </a:solidFill>
                <a:latin typeface="Calibri"/>
              </a:defRPr>
            </a:pPr>
            <a:r>
              <a:t>Total addressable pipeline: €429.5K MRR  |  €5.15M ARR if all won  |  18 high-priority leads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212"/>
                </a:solidFill>
                <a:latin typeface="Calibri"/>
              </a:defRPr>
            </a:pPr>
            <a:r>
              <a:t>We're Building This Either Way. Capital Compresses the Timeline.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02920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7B8D"/>
                </a:solidFill>
                <a:latin typeface="Calibri"/>
              </a:defRPr>
            </a:pPr>
            <a:r>
              <a:t>ORGANIC (No Funding)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Current 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€100K (proven)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Timeline to 10 new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18-24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Coding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12+ months, founder-built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Client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Weeks per client (manual models)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Sales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Founder-led, DACH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MRR at M18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€76.5K new + existing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1212"/>
                </a:solidFill>
                <a:latin typeface="Calibri"/>
              </a:defRPr>
            </a:pPr>
            <a:r>
              <a:t>Ad Tech 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Part-time / contractor basis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5029200" cy="43891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FUNDED (€500K-1M)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Current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€100K (proven)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Timeline to 10 new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8-12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Coding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4-6 months, accelerated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Days (automated models)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Sales 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SDR + founder, expand to Nordics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MRR at M18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€237K new + existing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First hire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FF"/>
                </a:solidFill>
                <a:latin typeface="Calibri"/>
              </a:defRPr>
            </a:pPr>
            <a:r>
              <a:t>Ad Tech expert — full-time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212"/>
                </a:solidFill>
                <a:latin typeface="Calibri"/>
              </a:defRPr>
            </a:pPr>
            <a:r>
              <a:t>From Attribution Wedge to Autonomous Data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Phase 1: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Attribution models — the wedge that got us €100K ARR</a:t>
            </a:r>
            <a:br/>
            <a:r>
              <a:t>QA Agent — multi-turn analytics, live pilot</a:t>
            </a:r>
            <a:br/>
            <a:r>
              <a:t>Reporting Agent — daily/weekly, trained by Ad Tech expert</a:t>
            </a:r>
            <a:br/>
            <a:r>
              <a:t>Slack integration — insights where teams work</a:t>
            </a:r>
            <a:br/>
            <a:r>
              <a:t>Cloud Run production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Phase 2: 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Coding Agent v1 — dbt model automation</a:t>
            </a:r>
            <a:br/>
            <a:r>
              <a:t>Break the onboarding bottleneck (weeks → days)</a:t>
            </a:r>
            <a:br/>
            <a:r>
              <a:t>Network suggestion system — where to shift spend</a:t>
            </a:r>
            <a:br/>
            <a:r>
              <a:t>CI/CD pipeline for autonomous model changes</a:t>
            </a:r>
            <a:br/>
            <a:r>
              <a:t>Multi-source ingestion (APIs, warehouses)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329184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Phase 3: H2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212"/>
                </a:solidFill>
                <a:latin typeface="Calibri"/>
              </a:defRPr>
            </a:pPr>
            <a:r>
              <a:t>Cross-client intelligence ecosystem</a:t>
            </a:r>
            <a:br/>
            <a:r>
              <a:t>A/B testing agents — end-to-end experiment design &amp; analysis</a:t>
            </a:r>
            <a:br/>
            <a:r>
              <a:t>Product analytics — agents for retention, funnels, user behavior</a:t>
            </a:r>
            <a:br/>
            <a:r>
              <a:t>Predictive analytics (LTV forecasting)</a:t>
            </a:r>
            <a:br/>
            <a:r>
              <a:t>Self-healing data pipelines</a:t>
            </a:r>
            <a:br/>
            <a:r>
              <a:t>From marketing analytics to full product intelligence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Seed Round: €500K – €1M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FF"/>
                </a:solidFill>
                <a:latin typeface="Calibri"/>
              </a:defRPr>
            </a:pPr>
            <a:r>
              <a:t>Use of funds: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1. Ad Tech Expert (First Hire)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Full-time domain specialist. Currently assisting part-time — training reporting agents, building network suggestion system. With funding: dedicated hire to accelerate cross-client intelligence, deepen campaign optimization, and train agents on network-level strategy. This is the highest-leverage hire — domain knowledge is what makes our agents smarter than generic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2. Coding Agent 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Break the onboarding bottleneck. Today: custom dbt models take weeks, built semi-manually with internal coding agents. With funding: dedicated engineering sprint to ship Coding Agent v1 — automated model generation, CI/CD deployment, days-not-weeks per new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3. Sales &amp; Pipeline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Convert the 35-lead pipeline. Structured outreach, founder-led enterprise sales, expand from DACH into Nordics and UK. Every month we delay, competitors start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  <a:latin typeface="Calibri"/>
              </a:defRPr>
            </a:pPr>
            <a:r>
              <a:t>4. Infrastructure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Multi-tenant scaling, SOC2 compliance, enterprise security. Required to close Enterprise Large clients (Delivery Hero, Bolt, N26-class).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FF"/>
                </a:solidFill>
                <a:latin typeface="Calibri"/>
              </a:defRPr>
            </a:pPr>
            <a:r>
              <a:rPr dirty="0"/>
              <a:t>€100K ARR today. Inbound demand. Live AI pilot. Capital removes the bottleneck and compresses the timeline 3x.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LUPE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AFF"/>
                </a:solidFill>
                <a:latin typeface="Calibri"/>
              </a:defRPr>
            </a:pPr>
            <a:r>
              <a:t>The data team your studio never has to hire.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7B"/>
                </a:solidFill>
                <a:latin typeface="Calibri"/>
              </a:defRPr>
            </a:pPr>
            <a:r>
              <a:t>€100K ARR  |  Live AI Agents  |  Inbound Demand  |  35-Lead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Let's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2049</Words>
  <Application>Microsoft Macintosh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Kostas Papanikolaou</cp:lastModifiedBy>
  <cp:revision>3</cp:revision>
  <dcterms:created xsi:type="dcterms:W3CDTF">2013-01-27T09:14:16Z</dcterms:created>
  <dcterms:modified xsi:type="dcterms:W3CDTF">2026-03-04T16:33:28Z</dcterms:modified>
  <cp:category/>
</cp:coreProperties>
</file>